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Lst>
  <p:sldSz cy="6858000" cx="12192000"/>
  <p:notesSz cx="6858000" cy="9144000"/>
  <p:embeddedFontLst>
    <p:embeddedFont>
      <p:font typeface="Arial Black"/>
      <p:regular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9" roundtripDataSignature="AMtx7mibpvKf1N/oFgkYZIzjU2Qp9YOO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customschemas.google.com/relationships/presentationmetadata" Target="metadata"/><Relationship Id="rId34" Type="http://schemas.openxmlformats.org/officeDocument/2006/relationships/slide" Target="slides/slide30.xml"/><Relationship Id="rId78" Type="http://schemas.openxmlformats.org/officeDocument/2006/relationships/font" Target="fonts/ArialBlack-regular.fntdata"/><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PH"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PH"/>
              <a:t>• Sample of Mini Mental State Inpatient Consultation Form which is used to assess language and memory impairments</a:t>
            </a:r>
            <a:endParaRPr/>
          </a:p>
        </p:txBody>
      </p:sp>
      <p:sp>
        <p:nvSpPr>
          <p:cNvPr id="164" name="Google Shape;16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PH"/>
              <a:t>• psychological and biological stressors may interact with physiological processes</a:t>
            </a:r>
            <a:endParaRPr/>
          </a:p>
        </p:txBody>
      </p:sp>
      <p:sp>
        <p:nvSpPr>
          <p:cNvPr id="255" name="Google Shape;25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1"/>
              </a:buClr>
              <a:buSzPts val="1800"/>
              <a:buFont typeface="Noto Sans Symbols"/>
              <a:buNone/>
            </a:pPr>
            <a:r>
              <a:rPr lang="en-PH" sz="1800">
                <a:latin typeface="Arial"/>
                <a:ea typeface="Arial"/>
                <a:cs typeface="Arial"/>
                <a:sym typeface="Arial"/>
              </a:rPr>
              <a:t>4</a:t>
            </a:r>
            <a:r>
              <a:rPr baseline="30000" lang="en-PH" sz="1800">
                <a:latin typeface="Arial"/>
                <a:ea typeface="Arial"/>
                <a:cs typeface="Arial"/>
                <a:sym typeface="Arial"/>
              </a:rPr>
              <a:t>th</a:t>
            </a:r>
            <a:r>
              <a:rPr lang="en-PH" sz="1800">
                <a:latin typeface="Arial"/>
                <a:ea typeface="Arial"/>
                <a:cs typeface="Arial"/>
                <a:sym typeface="Arial"/>
              </a:rPr>
              <a:t> bullet: Michelle Bourgeois (2007) created “memory wallets” to help people with Alzheimer’s disease carry on conversations. On white index cards inserted into a plastic wallet are printed declarative statements such as, “My husband John and I have 3 children,” or “I was born on January 6, 1921, in Manila City.”</a:t>
            </a:r>
            <a:r>
              <a:rPr lang="en-PH" sz="1800">
                <a:latin typeface="Calibri"/>
                <a:ea typeface="Calibri"/>
                <a:cs typeface="Calibri"/>
                <a:sym typeface="Calibri"/>
              </a:rPr>
              <a:t> </a:t>
            </a:r>
            <a:r>
              <a:rPr lang="en-PH" sz="1800">
                <a:latin typeface="Arial"/>
                <a:ea typeface="Arial"/>
                <a:cs typeface="Arial"/>
                <a:sym typeface="Arial"/>
              </a:rPr>
              <a:t>Use this memory aid to improve their conversations with others</a:t>
            </a:r>
            <a:endParaRPr/>
          </a:p>
          <a:p>
            <a:pPr indent="0" lvl="0" marL="0" rtl="0" algn="l">
              <a:lnSpc>
                <a:spcPct val="107000"/>
              </a:lnSpc>
              <a:spcBef>
                <a:spcPts val="0"/>
              </a:spcBef>
              <a:spcAft>
                <a:spcPts val="0"/>
              </a:spcAft>
              <a:buClr>
                <a:schemeClr val="dk1"/>
              </a:buClr>
              <a:buSzPts val="1800"/>
              <a:buFont typeface="Noto Sans Symbols"/>
              <a:buNone/>
            </a:pPr>
            <a:r>
              <a:t/>
            </a:r>
            <a:endParaRPr sz="1800">
              <a:latin typeface="Calibri"/>
              <a:ea typeface="Calibri"/>
              <a:cs typeface="Calibri"/>
              <a:sym typeface="Calibri"/>
            </a:endParaRPr>
          </a:p>
          <a:p>
            <a:pPr indent="0" lvl="0" marL="0" rtl="0" algn="l">
              <a:lnSpc>
                <a:spcPct val="107000"/>
              </a:lnSpc>
              <a:spcBef>
                <a:spcPts val="0"/>
              </a:spcBef>
              <a:spcAft>
                <a:spcPts val="0"/>
              </a:spcAft>
              <a:buClr>
                <a:schemeClr val="dk1"/>
              </a:buClr>
              <a:buSzPts val="1800"/>
              <a:buFont typeface="Noto Sans Symbols"/>
              <a:buNone/>
            </a:pPr>
            <a:r>
              <a:rPr lang="en-PH" sz="1800">
                <a:latin typeface="Calibri"/>
                <a:ea typeface="Calibri"/>
                <a:cs typeface="Calibri"/>
                <a:sym typeface="Calibri"/>
              </a:rPr>
              <a:t>5</a:t>
            </a:r>
            <a:r>
              <a:rPr baseline="30000" lang="en-PH" sz="1800">
                <a:latin typeface="Calibri"/>
                <a:ea typeface="Calibri"/>
                <a:cs typeface="Calibri"/>
                <a:sym typeface="Calibri"/>
              </a:rPr>
              <a:t>th</a:t>
            </a:r>
            <a:r>
              <a:rPr lang="en-PH" sz="1800">
                <a:latin typeface="Calibri"/>
                <a:ea typeface="Calibri"/>
                <a:cs typeface="Calibri"/>
                <a:sym typeface="Calibri"/>
              </a:rPr>
              <a:t>  bullet: </a:t>
            </a:r>
            <a:r>
              <a:rPr lang="en-PH" sz="1800">
                <a:latin typeface="Arial"/>
                <a:ea typeface="Arial"/>
                <a:cs typeface="Arial"/>
                <a:sym typeface="Arial"/>
              </a:rPr>
              <a:t>Cognitive stimulation—encouraging people with neurocognitive disorder to practice learning and memory skills—seems to be an effective method for delaying the onset of the more severe cognitive effects of this disorder</a:t>
            </a:r>
            <a:r>
              <a:rPr lang="en-PH" sz="1800">
                <a:latin typeface="Calibri"/>
                <a:ea typeface="Calibri"/>
                <a:cs typeface="Calibri"/>
                <a:sym typeface="Calibri"/>
              </a:rPr>
              <a:t>. </a:t>
            </a:r>
            <a:r>
              <a:rPr lang="en-PH" sz="1800">
                <a:latin typeface="Arial"/>
                <a:ea typeface="Arial"/>
                <a:cs typeface="Arial"/>
                <a:sym typeface="Arial"/>
              </a:rPr>
              <a:t>These activities include word games, tests of memory of famous and familiar faces, and practice with numbers </a:t>
            </a:r>
            <a:endParaRPr/>
          </a:p>
        </p:txBody>
      </p:sp>
      <p:sp>
        <p:nvSpPr>
          <p:cNvPr id="262" name="Google Shape;262;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42900" lvl="0" marL="342900" rtl="0" algn="l">
              <a:lnSpc>
                <a:spcPct val="107000"/>
              </a:lnSpc>
              <a:spcBef>
                <a:spcPts val="0"/>
              </a:spcBef>
              <a:spcAft>
                <a:spcPts val="0"/>
              </a:spcAft>
              <a:buClr>
                <a:schemeClr val="dk1"/>
              </a:buClr>
              <a:buSzPts val="1800"/>
              <a:buFont typeface="Noto Sans Symbols"/>
              <a:buChar char="∙"/>
            </a:pPr>
            <a:r>
              <a:rPr lang="en-PH" sz="1800">
                <a:latin typeface="Arial"/>
                <a:ea typeface="Arial"/>
                <a:cs typeface="Arial"/>
                <a:sym typeface="Arial"/>
              </a:rPr>
              <a:t>Numerous studies have found that many people who commit such violent acts as murder, rape, and assault are intoxicated at the time of the crime.</a:t>
            </a:r>
            <a:endParaRPr sz="1800">
              <a:latin typeface="Calibri"/>
              <a:ea typeface="Calibri"/>
              <a:cs typeface="Calibri"/>
              <a:sym typeface="Calibri"/>
            </a:endParaRPr>
          </a:p>
          <a:p>
            <a:pPr indent="-342900" lvl="0" marL="342900" rtl="0" algn="l">
              <a:lnSpc>
                <a:spcPct val="107000"/>
              </a:lnSpc>
              <a:spcBef>
                <a:spcPts val="0"/>
              </a:spcBef>
              <a:spcAft>
                <a:spcPts val="0"/>
              </a:spcAft>
              <a:buClr>
                <a:schemeClr val="dk1"/>
              </a:buClr>
              <a:buSzPts val="1800"/>
              <a:buFont typeface="Noto Sans Symbols"/>
              <a:buChar char="∙"/>
            </a:pPr>
            <a:r>
              <a:rPr lang="en-PH" sz="1800">
                <a:latin typeface="Arial"/>
                <a:ea typeface="Arial"/>
                <a:cs typeface="Arial"/>
                <a:sym typeface="Arial"/>
              </a:rPr>
              <a:t>Alcohol does not cause aggression, but it may increase a person’s likelihood of engaging in impulsive acts and it may impair the ability to consider the consequences of acting impulsively </a:t>
            </a:r>
            <a:endParaRPr sz="1800">
              <a:latin typeface="Calibri"/>
              <a:ea typeface="Calibri"/>
              <a:cs typeface="Calibri"/>
              <a:sym typeface="Calibri"/>
            </a:endParaRPr>
          </a:p>
          <a:p>
            <a:pPr indent="0" lvl="0" marL="0" rtl="0" algn="l">
              <a:spcBef>
                <a:spcPts val="800"/>
              </a:spcBef>
              <a:spcAft>
                <a:spcPts val="0"/>
              </a:spcAft>
              <a:buNone/>
            </a:pPr>
            <a:r>
              <a:t/>
            </a:r>
            <a:endParaRPr/>
          </a:p>
        </p:txBody>
      </p:sp>
      <p:sp>
        <p:nvSpPr>
          <p:cNvPr id="300" name="Google Shape;30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42900" lvl="0" marL="342900" rtl="0" algn="l">
              <a:lnSpc>
                <a:spcPct val="107000"/>
              </a:lnSpc>
              <a:spcBef>
                <a:spcPts val="0"/>
              </a:spcBef>
              <a:spcAft>
                <a:spcPts val="0"/>
              </a:spcAft>
              <a:buClr>
                <a:schemeClr val="dk1"/>
              </a:buClr>
              <a:buSzPts val="1800"/>
              <a:buFont typeface="Noto Sans Symbols"/>
              <a:buChar char="∙"/>
            </a:pPr>
            <a:r>
              <a:rPr lang="en-PH" sz="1800">
                <a:latin typeface="Arial"/>
                <a:ea typeface="Arial"/>
                <a:cs typeface="Arial"/>
                <a:sym typeface="Arial"/>
              </a:rPr>
              <a:t>Positive reinforcement in the use and the situations surrounding the use of drugs contributes to whether or not people decide to try to continue using drugs</a:t>
            </a:r>
            <a:endParaRPr sz="1800">
              <a:latin typeface="Calibri"/>
              <a:ea typeface="Calibri"/>
              <a:cs typeface="Calibri"/>
              <a:sym typeface="Calibri"/>
            </a:endParaRPr>
          </a:p>
          <a:p>
            <a:pPr indent="-285750" lvl="0" marL="285750" rtl="0" algn="l">
              <a:spcBef>
                <a:spcPts val="800"/>
              </a:spcBef>
              <a:spcAft>
                <a:spcPts val="0"/>
              </a:spcAft>
              <a:buClr>
                <a:schemeClr val="dk1"/>
              </a:buClr>
              <a:buSzPts val="1800"/>
              <a:buFont typeface="Arial"/>
              <a:buChar char="•"/>
            </a:pPr>
            <a:r>
              <a:rPr lang="en-PH" sz="1800">
                <a:latin typeface="Arial"/>
                <a:ea typeface="Arial"/>
                <a:cs typeface="Arial"/>
                <a:sym typeface="Arial"/>
              </a:rPr>
              <a:t>Many people are likely to initiate and continue drug use to escape from unpleasantness in their lives. In addition to the initial euphoria, many drugs provide escape from physical pain (opiates), from stress (alcohol), or from panic and anxiety (benzodiazepines).</a:t>
            </a:r>
            <a:endParaRPr/>
          </a:p>
          <a:p>
            <a:pPr indent="-209550" lvl="0" marL="285750" rtl="0" algn="l">
              <a:spcBef>
                <a:spcPts val="0"/>
              </a:spcBef>
              <a:spcAft>
                <a:spcPts val="0"/>
              </a:spcAft>
              <a:buClr>
                <a:schemeClr val="dk1"/>
              </a:buClr>
              <a:buSzPts val="1200"/>
              <a:buFont typeface="Arial"/>
              <a:buNone/>
            </a:pPr>
            <a:r>
              <a:t/>
            </a:r>
            <a:endParaRPr/>
          </a:p>
        </p:txBody>
      </p:sp>
      <p:sp>
        <p:nvSpPr>
          <p:cNvPr id="366" name="Google Shape;366;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lang="en-PH" sz="1800">
                <a:latin typeface="Arial"/>
                <a:ea typeface="Arial"/>
                <a:cs typeface="Arial"/>
                <a:sym typeface="Arial"/>
              </a:rPr>
              <a:t>Positive</a:t>
            </a:r>
            <a:r>
              <a:rPr lang="en-PH" sz="1800">
                <a:latin typeface="Arial"/>
                <a:ea typeface="Arial"/>
                <a:cs typeface="Arial"/>
                <a:sym typeface="Arial"/>
              </a:rPr>
              <a:t> symptoms refer to symptoms around distorted reality</a:t>
            </a:r>
            <a:endParaRPr/>
          </a:p>
          <a:p>
            <a:pPr indent="0" lvl="0" marL="0" marR="0" rtl="0" algn="l">
              <a:lnSpc>
                <a:spcPct val="100000"/>
              </a:lnSpc>
              <a:spcBef>
                <a:spcPts val="0"/>
              </a:spcBef>
              <a:spcAft>
                <a:spcPts val="0"/>
              </a:spcAft>
              <a:buClr>
                <a:schemeClr val="dk1"/>
              </a:buClr>
              <a:buSzPts val="1800"/>
              <a:buFont typeface="Arial"/>
              <a:buNone/>
            </a:pPr>
            <a:r>
              <a:rPr lang="en-PH" sz="1800">
                <a:latin typeface="Arial"/>
                <a:ea typeface="Arial"/>
                <a:cs typeface="Arial"/>
                <a:sym typeface="Arial"/>
              </a:rPr>
              <a:t>Delusion - having beliefs that are unrealistic, bizarre, and not shared by others in the same culture.</a:t>
            </a:r>
            <a:endParaRPr sz="1800">
              <a:latin typeface="Calibri"/>
              <a:ea typeface="Calibri"/>
              <a:cs typeface="Calibri"/>
              <a:sym typeface="Calibri"/>
            </a:endParaRPr>
          </a:p>
          <a:p>
            <a:pPr indent="0" lvl="0" marL="0" rtl="0" algn="l">
              <a:spcBef>
                <a:spcPts val="0"/>
              </a:spcBef>
              <a:spcAft>
                <a:spcPts val="0"/>
              </a:spcAft>
              <a:buNone/>
            </a:pPr>
            <a:r>
              <a:t/>
            </a:r>
            <a:endParaRPr/>
          </a:p>
        </p:txBody>
      </p:sp>
      <p:sp>
        <p:nvSpPr>
          <p:cNvPr id="442" name="Google Shape;442;p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PH" sz="1800">
                <a:latin typeface="Arial"/>
                <a:ea typeface="Arial"/>
                <a:cs typeface="Arial"/>
                <a:sym typeface="Arial"/>
              </a:rPr>
              <a:t>Negative</a:t>
            </a:r>
            <a:r>
              <a:rPr lang="en-PH" sz="1800">
                <a:latin typeface="Arial"/>
                <a:ea typeface="Arial"/>
                <a:cs typeface="Arial"/>
                <a:sym typeface="Arial"/>
              </a:rPr>
              <a:t> symptoms involve deficits in normal behavior in such areas as speech, blunted affect (or lack of emotional reactivity), and motivation.</a:t>
            </a:r>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rPr lang="en-PH" sz="1800">
                <a:latin typeface="Arial"/>
                <a:ea typeface="Arial"/>
                <a:cs typeface="Arial"/>
                <a:sym typeface="Arial"/>
              </a:rPr>
              <a:t>2</a:t>
            </a:r>
            <a:r>
              <a:rPr baseline="30000" lang="en-PH" sz="1800">
                <a:latin typeface="Arial"/>
                <a:ea typeface="Arial"/>
                <a:cs typeface="Arial"/>
                <a:sym typeface="Arial"/>
              </a:rPr>
              <a:t>nd</a:t>
            </a:r>
            <a:r>
              <a:rPr lang="en-PH" sz="1800">
                <a:latin typeface="Arial"/>
                <a:ea typeface="Arial"/>
                <a:cs typeface="Arial"/>
                <a:sym typeface="Arial"/>
              </a:rPr>
              <a:t> bullet: A person with </a:t>
            </a:r>
            <a:r>
              <a:rPr b="1" lang="en-PH" sz="1800">
                <a:latin typeface="Arial"/>
                <a:ea typeface="Arial"/>
                <a:cs typeface="Arial"/>
                <a:sym typeface="Arial"/>
              </a:rPr>
              <a:t>alogia</a:t>
            </a:r>
            <a:r>
              <a:rPr lang="en-PH" sz="1800">
                <a:latin typeface="Arial"/>
                <a:ea typeface="Arial"/>
                <a:cs typeface="Arial"/>
                <a:sym typeface="Arial"/>
              </a:rPr>
              <a:t> may respond to questions with brief replies that have little content and may appear uninterested in the conversation; Some researchers, for example, suggest that people with alogia may have trouble finding the right words to formulate their thoughts; Sometimes alogia takes the form of delayed comments or slow responses to questions.</a:t>
            </a:r>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rPr lang="en-PH" sz="1800">
                <a:latin typeface="Arial"/>
                <a:ea typeface="Arial"/>
                <a:cs typeface="Arial"/>
                <a:sym typeface="Arial"/>
              </a:rPr>
              <a:t>5</a:t>
            </a:r>
            <a:r>
              <a:rPr baseline="30000" lang="en-PH" sz="1800">
                <a:latin typeface="Arial"/>
                <a:ea typeface="Arial"/>
                <a:cs typeface="Arial"/>
                <a:sym typeface="Arial"/>
              </a:rPr>
              <a:t>th</a:t>
            </a:r>
            <a:r>
              <a:rPr lang="en-PH" sz="1800">
                <a:latin typeface="Arial"/>
                <a:ea typeface="Arial"/>
                <a:cs typeface="Arial"/>
                <a:sym typeface="Arial"/>
              </a:rPr>
              <a:t> bullet: They may stare at you vacantly, speak in a flat and toneless manner, and seem unaffected by things going on around them; represent difficulty expressing emotion, not a lack of feeling.</a:t>
            </a:r>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t/>
            </a:r>
            <a:endParaRPr/>
          </a:p>
        </p:txBody>
      </p:sp>
      <p:sp>
        <p:nvSpPr>
          <p:cNvPr id="460" name="Google Shape;460;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PH"/>
              <a:t>4</a:t>
            </a:r>
            <a:r>
              <a:rPr baseline="30000" lang="en-PH"/>
              <a:t>th</a:t>
            </a:r>
            <a:r>
              <a:rPr lang="en-PH"/>
              <a:t> bullet: </a:t>
            </a:r>
            <a:r>
              <a:rPr lang="en-PH" sz="1800">
                <a:latin typeface="Arial"/>
                <a:ea typeface="Arial"/>
                <a:cs typeface="Arial"/>
                <a:sym typeface="Arial"/>
              </a:rPr>
              <a:t>they jump from topic to topic, and usually talk illogically.</a:t>
            </a:r>
            <a:endParaRPr/>
          </a:p>
          <a:p>
            <a:pPr indent="0" lvl="0" marL="0" rtl="0" algn="l">
              <a:spcBef>
                <a:spcPts val="0"/>
              </a:spcBef>
              <a:spcAft>
                <a:spcPts val="0"/>
              </a:spcAft>
              <a:buNone/>
            </a:pPr>
            <a:r>
              <a:t/>
            </a:r>
            <a:endParaRPr/>
          </a:p>
        </p:txBody>
      </p:sp>
      <p:sp>
        <p:nvSpPr>
          <p:cNvPr id="467" name="Google Shape;467;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PH"/>
              <a:t>4</a:t>
            </a:r>
            <a:r>
              <a:rPr baseline="30000" lang="en-PH"/>
              <a:t>th</a:t>
            </a:r>
            <a:r>
              <a:rPr lang="en-PH"/>
              <a:t> bullet: </a:t>
            </a:r>
            <a:r>
              <a:rPr lang="en-PH" sz="1200">
                <a:latin typeface="Arial"/>
                <a:ea typeface="Arial"/>
                <a:cs typeface="Arial"/>
                <a:sym typeface="Arial"/>
              </a:rPr>
              <a:t>Some individuals who stalk celebrities appear to have </a:t>
            </a:r>
            <a:r>
              <a:rPr b="1" lang="en-PH" sz="1200">
                <a:latin typeface="Arial"/>
                <a:ea typeface="Arial"/>
                <a:cs typeface="Arial"/>
                <a:sym typeface="Arial"/>
              </a:rPr>
              <a:t>erotomanic</a:t>
            </a:r>
            <a:r>
              <a:rPr lang="en-PH" sz="1200">
                <a:latin typeface="Arial"/>
                <a:ea typeface="Arial"/>
                <a:cs typeface="Arial"/>
                <a:sym typeface="Arial"/>
              </a:rPr>
              <a:t> delusional disorder</a:t>
            </a:r>
            <a:endParaRPr/>
          </a:p>
        </p:txBody>
      </p:sp>
      <p:sp>
        <p:nvSpPr>
          <p:cNvPr id="497" name="Google Shape;497;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lang="en-PH" sz="1800">
                <a:latin typeface="Arial"/>
                <a:ea typeface="Arial"/>
                <a:cs typeface="Arial"/>
                <a:sym typeface="Arial"/>
              </a:rPr>
              <a:t>Genetic influence: recent research confirms this observation and suggests that families that have a member with schizophrenia are at risk not just for schizophrenia alone or for all psychological disorders; instead, there appears to be some familial risk for a spectrum of psychotic disorders related to schizophrenia.</a:t>
            </a:r>
            <a:endParaRPr sz="1800">
              <a:latin typeface="Calibri"/>
              <a:ea typeface="Calibri"/>
              <a:cs typeface="Calibri"/>
              <a:sym typeface="Calibri"/>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PH"/>
              <a:t>Neurobiological influence: </a:t>
            </a:r>
            <a:r>
              <a:rPr lang="en-PH" sz="1800">
                <a:latin typeface="Arial"/>
                <a:ea typeface="Arial"/>
                <a:cs typeface="Arial"/>
                <a:sym typeface="Arial"/>
              </a:rPr>
              <a:t>Research suggests that deficient activity in a particular area of the frontal lobes, the dorsolateral prefrontal cortex (DLPFC), may be implicated in schizophrenia; When people with and without schizophrenia are given tasks that involve the DLPFC, less activity (measured by cerebral blood flow) is recorded in the brains of those with schizophrenia; DLPFC is “communicating” less with other brain regions</a:t>
            </a:r>
            <a:endParaRPr sz="1800">
              <a:latin typeface="Calibri"/>
              <a:ea typeface="Calibri"/>
              <a:cs typeface="Calibri"/>
              <a:sym typeface="Calibri"/>
            </a:endParaRPr>
          </a:p>
          <a:p>
            <a:pPr indent="0" lvl="0" marL="0" rtl="0" algn="l">
              <a:spcBef>
                <a:spcPts val="0"/>
              </a:spcBef>
              <a:spcAft>
                <a:spcPts val="0"/>
              </a:spcAft>
              <a:buNone/>
            </a:pPr>
            <a:r>
              <a:t/>
            </a:r>
            <a:endParaRPr/>
          </a:p>
        </p:txBody>
      </p:sp>
      <p:sp>
        <p:nvSpPr>
          <p:cNvPr id="521" name="Google Shape;521;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2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2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26"/>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26"/>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cxnSp>
        <p:nvCxnSpPr>
          <p:cNvPr id="26" name="Google Shape;26;p126"/>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transition spd="med">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12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3" name="Shape 33"/>
        <p:cNvGrpSpPr/>
        <p:nvPr/>
      </p:nvGrpSpPr>
      <p:grpSpPr>
        <a:xfrm>
          <a:off x="0" y="0"/>
          <a:ext cx="0" cy="0"/>
          <a:chOff x="0" y="0"/>
          <a:chExt cx="0" cy="0"/>
        </a:xfrm>
      </p:grpSpPr>
      <p:sp>
        <p:nvSpPr>
          <p:cNvPr id="34" name="Google Shape;34;p12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2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2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9" name="Shape 39"/>
        <p:cNvGrpSpPr/>
        <p:nvPr/>
      </p:nvGrpSpPr>
      <p:grpSpPr>
        <a:xfrm>
          <a:off x="0" y="0"/>
          <a:ext cx="0" cy="0"/>
          <a:chOff x="0" y="0"/>
          <a:chExt cx="0" cy="0"/>
        </a:xfrm>
      </p:grpSpPr>
      <p:sp>
        <p:nvSpPr>
          <p:cNvPr id="40" name="Google Shape;40;p129"/>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2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9"/>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29"/>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4" name="Google Shape;44;p12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2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cxnSp>
        <p:nvCxnSpPr>
          <p:cNvPr id="47" name="Google Shape;47;p129"/>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transition spd="med">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1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30"/>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130"/>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13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1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1"/>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131"/>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131"/>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131"/>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13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1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3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3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133"/>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3"/>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3"/>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33"/>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133"/>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133"/>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3"/>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34"/>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4"/>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4"/>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134"/>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83" name="Google Shape;83;p134"/>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1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35"/>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1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13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6"/>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36"/>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13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3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transition spd="med">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5"/>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25"/>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2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cxnSp>
        <p:nvCxnSpPr>
          <p:cNvPr id="17" name="Google Shape;17;p125"/>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7.png"/><Relationship Id="rId4" Type="http://schemas.openxmlformats.org/officeDocument/2006/relationships/image" Target="../media/image15.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199917" y="786944"/>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6600"/>
              <a:buFont typeface="Arial Black"/>
              <a:buNone/>
            </a:pPr>
            <a:r>
              <a:rPr b="1" lang="en-PH" sz="6600">
                <a:latin typeface="Arial Black"/>
                <a:ea typeface="Arial Black"/>
                <a:cs typeface="Arial Black"/>
                <a:sym typeface="Arial Black"/>
              </a:rPr>
              <a:t>Abnormal Psychology</a:t>
            </a:r>
            <a:br>
              <a:rPr b="1" lang="en-PH" sz="6600">
                <a:latin typeface="Arial Black"/>
                <a:ea typeface="Arial Black"/>
                <a:cs typeface="Arial Black"/>
                <a:sym typeface="Arial Black"/>
              </a:rPr>
            </a:br>
            <a:r>
              <a:rPr lang="en-PH" sz="2800">
                <a:latin typeface="Arial "/>
                <a:ea typeface="Arial "/>
                <a:cs typeface="Arial "/>
                <a:sym typeface="Arial "/>
              </a:rPr>
              <a:t>Cognitive, Substance-Related, Schizophrenia and Other Psychotic Disorders</a:t>
            </a:r>
            <a:endParaRPr sz="6600">
              <a:latin typeface="Arial "/>
              <a:ea typeface="Arial "/>
              <a:cs typeface="Arial "/>
              <a:sym typeface="Arial "/>
            </a:endParaRPr>
          </a:p>
        </p:txBody>
      </p:sp>
      <p:sp>
        <p:nvSpPr>
          <p:cNvPr id="106" name="Google Shape;106;p1"/>
          <p:cNvSpPr txBox="1"/>
          <p:nvPr>
            <p:ph idx="1" type="subTitle"/>
          </p:nvPr>
        </p:nvSpPr>
        <p:spPr>
          <a:xfrm>
            <a:off x="1199917" y="4436959"/>
            <a:ext cx="10058400" cy="11430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2000"/>
              <a:buNone/>
            </a:pPr>
            <a:r>
              <a:rPr lang="en-PH" sz="2000" cap="none">
                <a:latin typeface="Arial"/>
                <a:ea typeface="Arial"/>
                <a:cs typeface="Arial"/>
                <a:sym typeface="Arial"/>
              </a:rPr>
              <a:t>Lloyd Toni Enriquez, RPm, RPsy</a:t>
            </a:r>
            <a:endParaRPr sz="2000" cap="none">
              <a:latin typeface="Arial"/>
              <a:ea typeface="Arial"/>
              <a:cs typeface="Arial"/>
              <a:sym typeface="Arial"/>
            </a:endParaRP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COGNITIVE DISORDERS</a:t>
            </a:r>
            <a:endParaRPr/>
          </a:p>
        </p:txBody>
      </p:sp>
      <p:sp>
        <p:nvSpPr>
          <p:cNvPr id="112" name="Google Shape;112;p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342900" lvl="0" marL="342900" rtl="0" algn="l">
              <a:lnSpc>
                <a:spcPct val="107000"/>
              </a:lnSpc>
              <a:spcBef>
                <a:spcPts val="0"/>
              </a:spcBef>
              <a:spcAft>
                <a:spcPts val="0"/>
              </a:spcAft>
              <a:buSzPts val="1800"/>
              <a:buFont typeface="Noto Sans Symbols"/>
              <a:buChar char="∙"/>
            </a:pPr>
            <a:r>
              <a:rPr lang="en-PH" sz="1800">
                <a:latin typeface="Arial"/>
                <a:ea typeface="Arial"/>
                <a:cs typeface="Arial"/>
                <a:sym typeface="Arial"/>
              </a:rPr>
              <a:t>In early editions of the DSM, they were labeled “organic mental disorders,” along with mood, anxiety, personality, hallucinosis (an abnormal mental state involving hallucinations), and delusional disorders</a:t>
            </a:r>
            <a:endParaRPr/>
          </a:p>
          <a:p>
            <a:pPr indent="-342900" lvl="0" marL="342900" rtl="0" algn="l">
              <a:lnSpc>
                <a:spcPct val="107000"/>
              </a:lnSpc>
              <a:spcBef>
                <a:spcPts val="2000"/>
              </a:spcBef>
              <a:spcAft>
                <a:spcPts val="0"/>
              </a:spcAft>
              <a:buSzPts val="1800"/>
              <a:buFont typeface="Noto Sans Symbols"/>
              <a:buChar char="∙"/>
            </a:pPr>
            <a:r>
              <a:rPr lang="en-PH" sz="1800">
                <a:latin typeface="Arial"/>
                <a:ea typeface="Arial"/>
                <a:cs typeface="Arial"/>
                <a:sym typeface="Arial"/>
              </a:rPr>
              <a:t>The label “cognitive disorders” was used in DSM-IV to signify that their predominant feature is the impairment of such cognitive abilities as memory, attention, perception, and thinking</a:t>
            </a:r>
            <a:endParaRPr/>
          </a:p>
          <a:p>
            <a:pPr indent="-342900" lvl="0" marL="342900" rtl="0" algn="l">
              <a:lnSpc>
                <a:spcPct val="107000"/>
              </a:lnSpc>
              <a:spcBef>
                <a:spcPts val="2000"/>
              </a:spcBef>
              <a:spcAft>
                <a:spcPts val="0"/>
              </a:spcAft>
              <a:buSzPts val="1800"/>
              <a:buFont typeface="Noto Sans Symbols"/>
              <a:buChar char="∙"/>
            </a:pPr>
            <a:r>
              <a:rPr lang="en-PH" sz="1800">
                <a:latin typeface="Arial"/>
                <a:ea typeface="Arial"/>
                <a:cs typeface="Arial"/>
                <a:sym typeface="Arial"/>
              </a:rPr>
              <a:t>In DSM-5, neurocognitive disorders is the new category name for the various forms of dementia and amnestic disorders, with “major” or “mild” subtypes; DSM-5 retains the “delirium” label.</a:t>
            </a:r>
            <a:endParaRPr/>
          </a:p>
          <a:p>
            <a:pPr indent="-342900" lvl="0" marL="342900" rtl="0" algn="l">
              <a:lnSpc>
                <a:spcPct val="107000"/>
              </a:lnSpc>
              <a:spcBef>
                <a:spcPts val="2000"/>
              </a:spcBef>
              <a:spcAft>
                <a:spcPts val="0"/>
              </a:spcAft>
              <a:buSzPts val="1800"/>
              <a:buFont typeface="Noto Sans Symbols"/>
              <a:buChar char="∙"/>
            </a:pPr>
            <a:r>
              <a:rPr lang="en-PH" sz="1800">
                <a:latin typeface="Arial"/>
                <a:ea typeface="Arial"/>
                <a:cs typeface="Arial"/>
                <a:sym typeface="Arial"/>
              </a:rPr>
              <a:t>Two classes of cognitive disorders: </a:t>
            </a:r>
            <a:r>
              <a:rPr b="1" lang="en-PH" sz="1800">
                <a:latin typeface="Arial"/>
                <a:ea typeface="Arial"/>
                <a:cs typeface="Arial"/>
                <a:sym typeface="Arial"/>
              </a:rPr>
              <a:t>delirium</a:t>
            </a:r>
            <a:r>
              <a:rPr lang="en-PH" sz="1800">
                <a:latin typeface="Arial"/>
                <a:ea typeface="Arial"/>
                <a:cs typeface="Arial"/>
                <a:sym typeface="Arial"/>
              </a:rPr>
              <a:t> and </a:t>
            </a:r>
            <a:r>
              <a:rPr b="1" lang="en-PH" sz="1800">
                <a:latin typeface="Arial"/>
                <a:ea typeface="Arial"/>
                <a:cs typeface="Arial"/>
                <a:sym typeface="Arial"/>
              </a:rPr>
              <a:t>mild or major neurocognitive disorder.</a:t>
            </a:r>
            <a:endParaRPr/>
          </a:p>
          <a:p>
            <a:pPr indent="-228600" lvl="0" marL="342900" rtl="0" algn="l">
              <a:lnSpc>
                <a:spcPct val="107000"/>
              </a:lnSpc>
              <a:spcBef>
                <a:spcPts val="2000"/>
              </a:spcBef>
              <a:spcAft>
                <a:spcPts val="0"/>
              </a:spcAft>
              <a:buSzPts val="1800"/>
              <a:buFont typeface="Noto Sans Symbols"/>
              <a:buNone/>
            </a:pPr>
            <a:r>
              <a:t/>
            </a:r>
            <a:endParaRPr b="1" sz="1800"/>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DELIRIUM</a:t>
            </a:r>
            <a:endParaRPr/>
          </a:p>
        </p:txBody>
      </p:sp>
      <p:sp>
        <p:nvSpPr>
          <p:cNvPr id="118" name="Google Shape;118;p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Temporary state of confusion and disorientation that can be caused by brain trauma, intoxication by drugs or poisons, surgery, and a variety of other stressful conditions.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Cannot focus and sustain their attention on even the simplest tasks.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Marked impairments in memory and language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Acute onset</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50% of people with dementia suffer at least one episode of delirium</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Age itself is an important factor; older adults are more susceptible to developing delirium</a:t>
            </a:r>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0"/>
          <p:cNvPicPr preferRelativeResize="0"/>
          <p:nvPr/>
        </p:nvPicPr>
        <p:blipFill rotWithShape="1">
          <a:blip r:embed="rId3">
            <a:alphaModFix/>
          </a:blip>
          <a:srcRect b="0" l="0" r="0" t="0"/>
          <a:stretch/>
        </p:blipFill>
        <p:spPr>
          <a:xfrm>
            <a:off x="3505200" y="676403"/>
            <a:ext cx="5181599" cy="5139727"/>
          </a:xfrm>
          <a:prstGeom prst="rect">
            <a:avLst/>
          </a:prstGeom>
          <a:noFill/>
          <a:ln>
            <a:noFill/>
          </a:ln>
        </p:spPr>
      </p:pic>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TREATMENT</a:t>
            </a:r>
            <a:endParaRPr/>
          </a:p>
        </p:txBody>
      </p:sp>
      <p:sp>
        <p:nvSpPr>
          <p:cNvPr id="130" name="Google Shape;130;p1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Address underlying causes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Delirium brought on by withdrawal from alcohol or other drugs is usually treated with antipsychotic medications, which help calm the individual.</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Psychosocial intervention: to reassure the individual to help him or her deal with the agitation, anxiety, and hallucinations of delirium</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The presence of a family member and familiar personal belongings such as family photographs may also be an easy and comforting intervention.</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Managed care and patient counseling can play significant roles in preventing delirium.</a:t>
            </a:r>
            <a:endParaRPr/>
          </a:p>
          <a:p>
            <a:pPr indent="0" lvl="0" marL="0" rtl="0" algn="l">
              <a:lnSpc>
                <a:spcPct val="90000"/>
              </a:lnSpc>
              <a:spcBef>
                <a:spcPts val="14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MAJOR AND MILD NEUROCOGNITIVE DISORDERS</a:t>
            </a:r>
            <a:endParaRPr b="1">
              <a:latin typeface="Arial"/>
              <a:ea typeface="Arial"/>
              <a:cs typeface="Arial"/>
              <a:sym typeface="Arial"/>
            </a:endParaRPr>
          </a:p>
        </p:txBody>
      </p:sp>
      <p:sp>
        <p:nvSpPr>
          <p:cNvPr id="136" name="Google Shape;136;p1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fontScale="92500" lnSpcReduction="10000"/>
          </a:bodyPr>
          <a:lstStyle/>
          <a:p>
            <a:pPr indent="-117475" lvl="0" marL="91440" rtl="0" algn="l">
              <a:lnSpc>
                <a:spcPct val="90000"/>
              </a:lnSpc>
              <a:spcBef>
                <a:spcPts val="0"/>
              </a:spcBef>
              <a:spcAft>
                <a:spcPts val="0"/>
              </a:spcAft>
              <a:buSzPct val="100000"/>
              <a:buFont typeface="Arial"/>
              <a:buChar char="•"/>
            </a:pPr>
            <a:r>
              <a:rPr lang="en-PH">
                <a:latin typeface="Arial"/>
                <a:ea typeface="Arial"/>
                <a:cs typeface="Arial"/>
                <a:sym typeface="Arial"/>
              </a:rPr>
              <a:t> </a:t>
            </a:r>
            <a:r>
              <a:rPr b="1" lang="en-PH">
                <a:latin typeface="Arial"/>
                <a:ea typeface="Arial"/>
                <a:cs typeface="Arial"/>
                <a:sym typeface="Arial"/>
              </a:rPr>
              <a:t>Major neurocognitive disorder </a:t>
            </a:r>
            <a:r>
              <a:rPr lang="en-PH">
                <a:latin typeface="Arial"/>
                <a:ea typeface="Arial"/>
                <a:cs typeface="Arial"/>
                <a:sym typeface="Arial"/>
              </a:rPr>
              <a:t>(previously labeled </a:t>
            </a:r>
            <a:r>
              <a:rPr b="1" lang="en-PH" u="sng">
                <a:latin typeface="Arial"/>
                <a:ea typeface="Arial"/>
                <a:cs typeface="Arial"/>
                <a:sym typeface="Arial"/>
              </a:rPr>
              <a:t>dementia</a:t>
            </a:r>
            <a:r>
              <a:rPr lang="en-PH">
                <a:latin typeface="Arial"/>
                <a:ea typeface="Arial"/>
                <a:cs typeface="Arial"/>
                <a:sym typeface="Arial"/>
              </a:rPr>
              <a:t>) is a gradual deterioration of brain functioning that affects memory, judgment, language, and other advanced cognitive processes.</a:t>
            </a:r>
            <a:endParaRPr/>
          </a:p>
          <a:p>
            <a:pPr indent="-117475" lvl="0" marL="91440" rtl="0" algn="l">
              <a:lnSpc>
                <a:spcPct val="90000"/>
              </a:lnSpc>
              <a:spcBef>
                <a:spcPts val="1400"/>
              </a:spcBef>
              <a:spcAft>
                <a:spcPts val="0"/>
              </a:spcAft>
              <a:buSzPct val="100000"/>
              <a:buFont typeface="Arial"/>
              <a:buChar char="•"/>
            </a:pPr>
            <a:r>
              <a:rPr lang="en-PH">
                <a:latin typeface="Arial"/>
                <a:ea typeface="Arial"/>
                <a:cs typeface="Arial"/>
                <a:sym typeface="Arial"/>
              </a:rPr>
              <a:t> </a:t>
            </a:r>
            <a:r>
              <a:rPr b="1" lang="en-PH">
                <a:latin typeface="Arial"/>
                <a:ea typeface="Arial"/>
                <a:cs typeface="Arial"/>
                <a:sym typeface="Arial"/>
              </a:rPr>
              <a:t>Mild neurocognitive disorder </a:t>
            </a:r>
            <a:r>
              <a:rPr lang="en-PH">
                <a:latin typeface="Arial"/>
                <a:ea typeface="Arial"/>
                <a:cs typeface="Arial"/>
                <a:sym typeface="Arial"/>
              </a:rPr>
              <a:t>is a new DSM-5 disorder that was created to focus attention on the early stages of cognitive decline.</a:t>
            </a:r>
            <a:endParaRPr/>
          </a:p>
          <a:p>
            <a:pPr indent="-117475" lvl="0" marL="91440" rtl="0" algn="l">
              <a:lnSpc>
                <a:spcPct val="90000"/>
              </a:lnSpc>
              <a:spcBef>
                <a:spcPts val="1400"/>
              </a:spcBef>
              <a:spcAft>
                <a:spcPts val="0"/>
              </a:spcAft>
              <a:buSzPct val="100000"/>
              <a:buFont typeface="Arial"/>
              <a:buChar char="•"/>
            </a:pPr>
            <a:r>
              <a:rPr b="1" lang="en-PH">
                <a:latin typeface="Arial"/>
                <a:ea typeface="Arial"/>
                <a:cs typeface="Arial"/>
                <a:sym typeface="Arial"/>
              </a:rPr>
              <a:t> Agnosia -</a:t>
            </a:r>
            <a:r>
              <a:rPr lang="en-PH">
                <a:latin typeface="Arial"/>
                <a:ea typeface="Arial"/>
                <a:cs typeface="Arial"/>
                <a:sym typeface="Arial"/>
              </a:rPr>
              <a:t> the inability to recognize and name objects, is one of the most familiar symptoms. </a:t>
            </a:r>
            <a:endParaRPr/>
          </a:p>
          <a:p>
            <a:pPr indent="-117475" lvl="0" marL="91440" rtl="0" algn="l">
              <a:lnSpc>
                <a:spcPct val="90000"/>
              </a:lnSpc>
              <a:spcBef>
                <a:spcPts val="1400"/>
              </a:spcBef>
              <a:spcAft>
                <a:spcPts val="0"/>
              </a:spcAft>
              <a:buSzPct val="100000"/>
              <a:buFont typeface="Arial"/>
              <a:buChar char="•"/>
            </a:pPr>
            <a:r>
              <a:rPr b="1" lang="en-PH">
                <a:latin typeface="Arial"/>
                <a:ea typeface="Arial"/>
                <a:cs typeface="Arial"/>
                <a:sym typeface="Arial"/>
              </a:rPr>
              <a:t> Facial agnosia (prosopagnosia) -  </a:t>
            </a:r>
            <a:r>
              <a:rPr lang="en-PH">
                <a:latin typeface="Arial"/>
                <a:ea typeface="Arial"/>
                <a:cs typeface="Arial"/>
                <a:sym typeface="Arial"/>
              </a:rPr>
              <a:t>the inability to recognize even familiar faces</a:t>
            </a:r>
            <a:endParaRPr/>
          </a:p>
          <a:p>
            <a:pPr indent="-117475" lvl="0" marL="91440" rtl="0" algn="l">
              <a:lnSpc>
                <a:spcPct val="90000"/>
              </a:lnSpc>
              <a:spcBef>
                <a:spcPts val="1400"/>
              </a:spcBef>
              <a:spcAft>
                <a:spcPts val="0"/>
              </a:spcAft>
              <a:buSzPct val="100000"/>
              <a:buFont typeface="Arial"/>
              <a:buChar char="•"/>
            </a:pPr>
            <a:r>
              <a:rPr lang="en-PH">
                <a:latin typeface="Arial"/>
                <a:ea typeface="Arial"/>
                <a:cs typeface="Arial"/>
                <a:sym typeface="Arial"/>
              </a:rPr>
              <a:t> Gradual progression</a:t>
            </a:r>
            <a:endParaRPr/>
          </a:p>
          <a:p>
            <a:pPr indent="-117475" lvl="0" marL="91440" rtl="0" algn="l">
              <a:lnSpc>
                <a:spcPct val="90000"/>
              </a:lnSpc>
              <a:spcBef>
                <a:spcPts val="1400"/>
              </a:spcBef>
              <a:spcAft>
                <a:spcPts val="0"/>
              </a:spcAft>
              <a:buSzPct val="100000"/>
              <a:buFont typeface="Arial"/>
              <a:buChar char="•"/>
            </a:pPr>
            <a:r>
              <a:rPr lang="en-PH">
                <a:latin typeface="Arial"/>
                <a:ea typeface="Arial"/>
                <a:cs typeface="Arial"/>
                <a:sym typeface="Arial"/>
              </a:rPr>
              <a:t> Statistics: common among older adults; more than 5% in people older than 65 and 20% to 40% in those older than 85.</a:t>
            </a:r>
            <a:endParaRPr/>
          </a:p>
          <a:p>
            <a:pPr indent="-117475" lvl="0" marL="91440" rtl="0" algn="l">
              <a:lnSpc>
                <a:spcPct val="90000"/>
              </a:lnSpc>
              <a:spcBef>
                <a:spcPts val="1400"/>
              </a:spcBef>
              <a:spcAft>
                <a:spcPts val="0"/>
              </a:spcAft>
              <a:buSzPct val="100000"/>
              <a:buFont typeface="Arial"/>
              <a:buChar char="•"/>
            </a:pPr>
            <a:r>
              <a:rPr lang="en-PH">
                <a:latin typeface="Arial"/>
                <a:ea typeface="Arial"/>
                <a:cs typeface="Arial"/>
                <a:sym typeface="Arial"/>
              </a:rPr>
              <a:t> Prevalent among women </a:t>
            </a:r>
            <a:endParaRPr>
              <a:latin typeface="Arial"/>
              <a:ea typeface="Arial"/>
              <a:cs typeface="Arial"/>
              <a:sym typeface="Arial"/>
            </a:endParaRPr>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6"/>
          <p:cNvPicPr preferRelativeResize="0"/>
          <p:nvPr/>
        </p:nvPicPr>
        <p:blipFill rotWithShape="1">
          <a:blip r:embed="rId3">
            <a:alphaModFix/>
          </a:blip>
          <a:srcRect b="0" l="0" r="0" t="0"/>
          <a:stretch/>
        </p:blipFill>
        <p:spPr>
          <a:xfrm>
            <a:off x="1848466" y="493929"/>
            <a:ext cx="3159494" cy="5776971"/>
          </a:xfrm>
          <a:prstGeom prst="rect">
            <a:avLst/>
          </a:prstGeom>
          <a:noFill/>
          <a:ln>
            <a:noFill/>
          </a:ln>
        </p:spPr>
      </p:pic>
      <p:pic>
        <p:nvPicPr>
          <p:cNvPr id="142" name="Google Shape;142;p16"/>
          <p:cNvPicPr preferRelativeResize="0"/>
          <p:nvPr/>
        </p:nvPicPr>
        <p:blipFill rotWithShape="1">
          <a:blip r:embed="rId4">
            <a:alphaModFix/>
          </a:blip>
          <a:srcRect b="0" l="0" r="0" t="0"/>
          <a:stretch/>
        </p:blipFill>
        <p:spPr>
          <a:xfrm>
            <a:off x="6714791" y="484098"/>
            <a:ext cx="3294447" cy="5804287"/>
          </a:xfrm>
          <a:prstGeom prst="rect">
            <a:avLst/>
          </a:prstGeom>
          <a:noFill/>
          <a:ln>
            <a:noFill/>
          </a:ln>
        </p:spPr>
      </p:pic>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Classes of Neurocognitive Disorder based on etiology</a:t>
            </a:r>
            <a:endParaRPr b="1">
              <a:latin typeface="Arial"/>
              <a:ea typeface="Arial"/>
              <a:cs typeface="Arial"/>
              <a:sym typeface="Arial"/>
            </a:endParaRPr>
          </a:p>
        </p:txBody>
      </p:sp>
      <p:sp>
        <p:nvSpPr>
          <p:cNvPr id="148" name="Google Shape;148;p1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fontScale="62500" lnSpcReduction="20000"/>
          </a:bodyPr>
          <a:lstStyle/>
          <a:p>
            <a:pPr indent="-466725" lvl="0" marL="514350" rtl="0" algn="l">
              <a:lnSpc>
                <a:spcPct val="90000"/>
              </a:lnSpc>
              <a:spcBef>
                <a:spcPts val="0"/>
              </a:spcBef>
              <a:spcAft>
                <a:spcPts val="0"/>
              </a:spcAft>
              <a:buSzPct val="100000"/>
              <a:buFont typeface="Calibri"/>
              <a:buAutoNum type="romanUcPeriod"/>
            </a:pPr>
            <a:r>
              <a:rPr lang="en-PH"/>
              <a:t>Alzheimer’s Disease</a:t>
            </a:r>
            <a:endParaRPr/>
          </a:p>
          <a:p>
            <a:pPr indent="-466725" lvl="0" marL="514350" rtl="0" algn="l">
              <a:lnSpc>
                <a:spcPct val="90000"/>
              </a:lnSpc>
              <a:spcBef>
                <a:spcPts val="1400"/>
              </a:spcBef>
              <a:spcAft>
                <a:spcPts val="0"/>
              </a:spcAft>
              <a:buSzPct val="100000"/>
              <a:buFont typeface="Calibri"/>
              <a:buAutoNum type="romanUcPeriod"/>
            </a:pPr>
            <a:r>
              <a:rPr lang="en-PH"/>
              <a:t>Vascular Injury </a:t>
            </a:r>
            <a:endParaRPr/>
          </a:p>
          <a:p>
            <a:pPr indent="-466725" lvl="0" marL="514350" rtl="0" algn="l">
              <a:lnSpc>
                <a:spcPct val="90000"/>
              </a:lnSpc>
              <a:spcBef>
                <a:spcPts val="1400"/>
              </a:spcBef>
              <a:spcAft>
                <a:spcPts val="0"/>
              </a:spcAft>
              <a:buSzPct val="100000"/>
              <a:buFont typeface="Calibri"/>
              <a:buAutoNum type="romanUcPeriod"/>
            </a:pPr>
            <a:r>
              <a:rPr lang="en-PH"/>
              <a:t>Frontotemporal Degeneration</a:t>
            </a:r>
            <a:endParaRPr/>
          </a:p>
          <a:p>
            <a:pPr indent="-466725" lvl="0" marL="514350" rtl="0" algn="l">
              <a:lnSpc>
                <a:spcPct val="90000"/>
              </a:lnSpc>
              <a:spcBef>
                <a:spcPts val="1400"/>
              </a:spcBef>
              <a:spcAft>
                <a:spcPts val="0"/>
              </a:spcAft>
              <a:buSzPct val="100000"/>
              <a:buFont typeface="Calibri"/>
              <a:buAutoNum type="romanUcPeriod"/>
            </a:pPr>
            <a:r>
              <a:rPr lang="en-PH"/>
              <a:t>Traumatic Brain Injury </a:t>
            </a:r>
            <a:endParaRPr/>
          </a:p>
          <a:p>
            <a:pPr indent="-466725" lvl="0" marL="514350" rtl="0" algn="l">
              <a:lnSpc>
                <a:spcPct val="90000"/>
              </a:lnSpc>
              <a:spcBef>
                <a:spcPts val="1400"/>
              </a:spcBef>
              <a:spcAft>
                <a:spcPts val="0"/>
              </a:spcAft>
              <a:buSzPct val="100000"/>
              <a:buFont typeface="Calibri"/>
              <a:buAutoNum type="romanUcPeriod"/>
            </a:pPr>
            <a:r>
              <a:rPr lang="en-PH"/>
              <a:t>Lewy Body Disease </a:t>
            </a:r>
            <a:endParaRPr/>
          </a:p>
          <a:p>
            <a:pPr indent="-466725" lvl="0" marL="514350" rtl="0" algn="l">
              <a:lnSpc>
                <a:spcPct val="90000"/>
              </a:lnSpc>
              <a:spcBef>
                <a:spcPts val="1400"/>
              </a:spcBef>
              <a:spcAft>
                <a:spcPts val="0"/>
              </a:spcAft>
              <a:buSzPct val="100000"/>
              <a:buFont typeface="Calibri"/>
              <a:buAutoNum type="romanUcPeriod"/>
            </a:pPr>
            <a:r>
              <a:rPr lang="en-PH"/>
              <a:t>Parkinson’s Disease </a:t>
            </a:r>
            <a:endParaRPr/>
          </a:p>
          <a:p>
            <a:pPr indent="-387350" lvl="0" marL="514350" rtl="0" algn="l">
              <a:lnSpc>
                <a:spcPct val="90000"/>
              </a:lnSpc>
              <a:spcBef>
                <a:spcPts val="1400"/>
              </a:spcBef>
              <a:spcAft>
                <a:spcPts val="0"/>
              </a:spcAft>
              <a:buSzPct val="100000"/>
              <a:buFont typeface="Calibri"/>
              <a:buNone/>
            </a:pPr>
            <a:r>
              <a:t/>
            </a:r>
            <a:endParaRPr/>
          </a:p>
          <a:p>
            <a:pPr indent="0" lvl="0" marL="0" rtl="0" algn="l">
              <a:lnSpc>
                <a:spcPct val="90000"/>
              </a:lnSpc>
              <a:spcBef>
                <a:spcPts val="1400"/>
              </a:spcBef>
              <a:spcAft>
                <a:spcPts val="0"/>
              </a:spcAft>
              <a:buSzPct val="100000"/>
              <a:buFont typeface="Calibri"/>
              <a:buNone/>
            </a:pPr>
            <a:r>
              <a:t/>
            </a:r>
            <a:endParaRPr/>
          </a:p>
          <a:p>
            <a:pPr indent="-466725" lvl="0" marL="514350" rtl="0" algn="l">
              <a:lnSpc>
                <a:spcPct val="90000"/>
              </a:lnSpc>
              <a:spcBef>
                <a:spcPts val="1400"/>
              </a:spcBef>
              <a:spcAft>
                <a:spcPts val="0"/>
              </a:spcAft>
              <a:buSzPct val="100000"/>
              <a:buFont typeface="Calibri"/>
              <a:buAutoNum type="romanUcPeriod"/>
            </a:pPr>
            <a:r>
              <a:rPr lang="en-PH"/>
              <a:t>HIV Infection </a:t>
            </a:r>
            <a:endParaRPr/>
          </a:p>
          <a:p>
            <a:pPr indent="-466725" lvl="0" marL="514350" rtl="0" algn="l">
              <a:lnSpc>
                <a:spcPct val="90000"/>
              </a:lnSpc>
              <a:spcBef>
                <a:spcPts val="1400"/>
              </a:spcBef>
              <a:spcAft>
                <a:spcPts val="0"/>
              </a:spcAft>
              <a:buSzPct val="100000"/>
              <a:buFont typeface="Calibri"/>
              <a:buAutoNum type="romanUcPeriod"/>
            </a:pPr>
            <a:r>
              <a:rPr lang="en-PH"/>
              <a:t>Substance Use </a:t>
            </a:r>
            <a:endParaRPr/>
          </a:p>
          <a:p>
            <a:pPr indent="-466725" lvl="0" marL="514350" rtl="0" algn="l">
              <a:lnSpc>
                <a:spcPct val="90000"/>
              </a:lnSpc>
              <a:spcBef>
                <a:spcPts val="1400"/>
              </a:spcBef>
              <a:spcAft>
                <a:spcPts val="0"/>
              </a:spcAft>
              <a:buSzPct val="100000"/>
              <a:buFont typeface="Calibri"/>
              <a:buAutoNum type="romanUcPeriod"/>
            </a:pPr>
            <a:r>
              <a:rPr lang="en-PH"/>
              <a:t>Huntington’s Disease </a:t>
            </a:r>
            <a:endParaRPr/>
          </a:p>
          <a:p>
            <a:pPr indent="-466725" lvl="0" marL="514350" rtl="0" algn="l">
              <a:lnSpc>
                <a:spcPct val="90000"/>
              </a:lnSpc>
              <a:spcBef>
                <a:spcPts val="1400"/>
              </a:spcBef>
              <a:spcAft>
                <a:spcPts val="0"/>
              </a:spcAft>
              <a:buSzPct val="100000"/>
              <a:buFont typeface="Calibri"/>
              <a:buAutoNum type="romanUcPeriod"/>
            </a:pPr>
            <a:r>
              <a:rPr lang="en-PH"/>
              <a:t>Prion Disease </a:t>
            </a:r>
            <a:endParaRPr/>
          </a:p>
          <a:p>
            <a:pPr indent="-466725" lvl="0" marL="514350" rtl="0" algn="l">
              <a:lnSpc>
                <a:spcPct val="90000"/>
              </a:lnSpc>
              <a:spcBef>
                <a:spcPts val="1400"/>
              </a:spcBef>
              <a:spcAft>
                <a:spcPts val="0"/>
              </a:spcAft>
              <a:buSzPct val="100000"/>
              <a:buFont typeface="Calibri"/>
              <a:buAutoNum type="romanUcPeriod"/>
            </a:pPr>
            <a:r>
              <a:rPr lang="en-PH"/>
              <a:t>Another Medical Condition</a:t>
            </a:r>
            <a:endParaRP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Alzheimer’s Disease</a:t>
            </a:r>
            <a:endParaRPr/>
          </a:p>
        </p:txBody>
      </p:sp>
      <p:sp>
        <p:nvSpPr>
          <p:cNvPr id="154" name="Google Shape;154;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named after the German psychiatrist Alois Alzheimer</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first described as a “strange disease of the cerebral cortex”</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Symptoms includes impairment of memory, orientation, judgment, and reasoning. The inability to integrate new information results in failure to learn new associations; tend to lose interest in others and, as a result, become more socially isolated.</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As the disorder progresses, they can become agitated, confused, depressed, anxious, or even combative.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Aphasia</a:t>
            </a:r>
            <a:r>
              <a:rPr lang="en-PH">
                <a:latin typeface="Arial"/>
                <a:ea typeface="Arial"/>
                <a:cs typeface="Arial"/>
                <a:sym typeface="Arial"/>
              </a:rPr>
              <a:t> - difficulty with language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Apraxia</a:t>
            </a:r>
            <a:r>
              <a:rPr lang="en-PH">
                <a:latin typeface="Arial"/>
                <a:ea typeface="Arial"/>
                <a:cs typeface="Arial"/>
                <a:sym typeface="Arial"/>
              </a:rPr>
              <a:t> - impaired motor functioning</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Agnosia</a:t>
            </a:r>
            <a:r>
              <a:rPr lang="en-PH">
                <a:latin typeface="Arial"/>
                <a:ea typeface="Arial"/>
                <a:cs typeface="Arial"/>
                <a:sym typeface="Arial"/>
              </a:rPr>
              <a:t> - failure to recognize objects</a:t>
            </a:r>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Alzheimer’s Disease</a:t>
            </a:r>
            <a:endParaRPr/>
          </a:p>
        </p:txBody>
      </p:sp>
      <p:sp>
        <p:nvSpPr>
          <p:cNvPr id="160" name="Google Shape;160;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Cognitive impairments have a serious negative impact on social and occupational functioning.</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It is the leading cause of neurocognitive disorder.</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Common onset: ≈ 60s or 70s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Early onset: ≈ 40s or 50s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Approximately 50% of the cases of neurocognitive disorder are found to be the result of Alzheimer’s disease.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Prevalent among women</a:t>
            </a:r>
            <a:endParaRPr>
              <a:latin typeface="Arial"/>
              <a:ea typeface="Arial"/>
              <a:cs typeface="Arial"/>
              <a:sym typeface="Arial"/>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6"/>
          <p:cNvPicPr preferRelativeResize="0"/>
          <p:nvPr/>
        </p:nvPicPr>
        <p:blipFill rotWithShape="1">
          <a:blip r:embed="rId3">
            <a:alphaModFix/>
          </a:blip>
          <a:srcRect b="0" l="0" r="0" t="0"/>
          <a:stretch/>
        </p:blipFill>
        <p:spPr>
          <a:xfrm>
            <a:off x="944433" y="896344"/>
            <a:ext cx="10303133" cy="4808637"/>
          </a:xfrm>
          <a:prstGeom prst="rect">
            <a:avLst/>
          </a:prstGeom>
          <a:noFill/>
          <a:ln>
            <a:noFill/>
          </a:ln>
        </p:spPr>
      </p:pic>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7"/>
          <p:cNvPicPr preferRelativeResize="0"/>
          <p:nvPr/>
        </p:nvPicPr>
        <p:blipFill rotWithShape="1">
          <a:blip r:embed="rId3">
            <a:alphaModFix/>
          </a:blip>
          <a:srcRect b="0" l="0" r="0" t="0"/>
          <a:stretch/>
        </p:blipFill>
        <p:spPr>
          <a:xfrm>
            <a:off x="1310557" y="385911"/>
            <a:ext cx="9570886" cy="5794067"/>
          </a:xfrm>
          <a:prstGeom prst="rect">
            <a:avLst/>
          </a:prstGeom>
          <a:noFill/>
          <a:ln>
            <a:noFill/>
          </a:ln>
        </p:spPr>
      </p:pic>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Vascular Neurocognitive Disorder</a:t>
            </a:r>
            <a:endParaRPr/>
          </a:p>
        </p:txBody>
      </p:sp>
      <p:sp>
        <p:nvSpPr>
          <p:cNvPr id="177" name="Google Shape;177;p2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It is a progressive brain disorder that is one of the more common causes of neurocognitive deficits.</a:t>
            </a:r>
            <a:endParaRPr/>
          </a:p>
          <a:p>
            <a:pPr indent="-127000" lvl="0" marL="91440" rtl="0" algn="l">
              <a:lnSpc>
                <a:spcPct val="90000"/>
              </a:lnSpc>
              <a:spcBef>
                <a:spcPts val="1400"/>
              </a:spcBef>
              <a:spcAft>
                <a:spcPts val="0"/>
              </a:spcAft>
              <a:buSzPts val="2000"/>
              <a:buFont typeface="Arial"/>
              <a:buChar char="•"/>
            </a:pPr>
            <a:r>
              <a:rPr lang="en-PH"/>
              <a:t> Vascular refers to blood vessels; neurocognitive disorder that is a result of stroke.</a:t>
            </a:r>
            <a:endParaRPr/>
          </a:p>
          <a:p>
            <a:pPr indent="-127000" lvl="0" marL="91440" rtl="0" algn="l">
              <a:lnSpc>
                <a:spcPct val="90000"/>
              </a:lnSpc>
              <a:spcBef>
                <a:spcPts val="1400"/>
              </a:spcBef>
              <a:spcAft>
                <a:spcPts val="0"/>
              </a:spcAft>
              <a:buSzPts val="2000"/>
              <a:buFont typeface="Arial"/>
              <a:buChar char="•"/>
            </a:pPr>
            <a:r>
              <a:rPr lang="en-PH"/>
              <a:t> Cognitive disturbances such as declines in speed of information processing and executive functioning (e.g., complex decision-making)</a:t>
            </a:r>
            <a:endParaRPr/>
          </a:p>
          <a:p>
            <a:pPr indent="-127000" lvl="0" marL="91440" rtl="0" algn="l">
              <a:lnSpc>
                <a:spcPct val="90000"/>
              </a:lnSpc>
              <a:spcBef>
                <a:spcPts val="1400"/>
              </a:spcBef>
              <a:spcAft>
                <a:spcPts val="0"/>
              </a:spcAft>
              <a:buSzPts val="2000"/>
              <a:buFont typeface="Arial"/>
              <a:buChar char="•"/>
            </a:pPr>
            <a:r>
              <a:rPr lang="en-PH"/>
              <a:t>More sudden onset than Alzheimer’s disease</a:t>
            </a:r>
            <a:endParaRPr/>
          </a:p>
          <a:p>
            <a:pPr indent="-127000" lvl="0" marL="91440" rtl="0" algn="l">
              <a:lnSpc>
                <a:spcPct val="90000"/>
              </a:lnSpc>
              <a:spcBef>
                <a:spcPts val="1400"/>
              </a:spcBef>
              <a:spcAft>
                <a:spcPts val="0"/>
              </a:spcAft>
              <a:buSzPts val="2000"/>
              <a:buFont typeface="Arial"/>
              <a:buChar char="•"/>
            </a:pPr>
            <a:r>
              <a:rPr lang="en-PH"/>
              <a:t> Statistics: approximately 1.5% in people 70 to 75 years of age and increases to 15% for those over the age of 80</a:t>
            </a:r>
            <a:endParaRPr/>
          </a:p>
          <a:p>
            <a:pPr indent="-127000" lvl="0" marL="91440" rtl="0" algn="l">
              <a:lnSpc>
                <a:spcPct val="90000"/>
              </a:lnSpc>
              <a:spcBef>
                <a:spcPts val="1400"/>
              </a:spcBef>
              <a:spcAft>
                <a:spcPts val="0"/>
              </a:spcAft>
              <a:buSzPts val="2000"/>
              <a:buFont typeface="Arial"/>
              <a:buChar char="•"/>
            </a:pPr>
            <a:r>
              <a:rPr lang="en-PH"/>
              <a:t> Slightly higher risk for men than women</a:t>
            </a:r>
            <a:endParaRPr/>
          </a:p>
          <a:p>
            <a:pPr indent="0" lvl="0" marL="91440" rtl="0" algn="l">
              <a:lnSpc>
                <a:spcPct val="90000"/>
              </a:lnSpc>
              <a:spcBef>
                <a:spcPts val="1400"/>
              </a:spcBef>
              <a:spcAft>
                <a:spcPts val="0"/>
              </a:spcAft>
              <a:buSzPts val="2000"/>
              <a:buFont typeface="Arial"/>
              <a:buNone/>
            </a:pPr>
            <a:r>
              <a:t/>
            </a:r>
            <a:endParaRPr/>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9"/>
          <p:cNvPicPr preferRelativeResize="0"/>
          <p:nvPr/>
        </p:nvPicPr>
        <p:blipFill rotWithShape="1">
          <a:blip r:embed="rId3">
            <a:alphaModFix/>
          </a:blip>
          <a:srcRect b="0" l="0" r="0" t="0"/>
          <a:stretch/>
        </p:blipFill>
        <p:spPr>
          <a:xfrm>
            <a:off x="984374" y="1037496"/>
            <a:ext cx="10223252" cy="4153935"/>
          </a:xfrm>
          <a:prstGeom prst="rect">
            <a:avLst/>
          </a:prstGeom>
          <a:noFill/>
          <a:ln>
            <a:noFill/>
          </a:ln>
        </p:spPr>
      </p:pic>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Frontotemporal Neurocognitive Disorder </a:t>
            </a:r>
            <a:endParaRPr/>
          </a:p>
        </p:txBody>
      </p:sp>
      <p:sp>
        <p:nvSpPr>
          <p:cNvPr id="188" name="Google Shape;188;p3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It is a term used to categorize a variety of brain disorders that damage the frontal or temporal regions of the brain—areas that affect personality, language, and behavior.</a:t>
            </a:r>
            <a:endParaRPr/>
          </a:p>
          <a:p>
            <a:pPr indent="-127000" lvl="0" marL="91440" rtl="0" algn="l">
              <a:lnSpc>
                <a:spcPct val="90000"/>
              </a:lnSpc>
              <a:spcBef>
                <a:spcPts val="1400"/>
              </a:spcBef>
              <a:spcAft>
                <a:spcPts val="0"/>
              </a:spcAft>
              <a:buSzPts val="2000"/>
              <a:buFont typeface="Arial"/>
              <a:buChar char="•"/>
            </a:pPr>
            <a:r>
              <a:rPr lang="en-PH"/>
              <a:t> Declines in appropriate behavior (e.g., socially inappropriate actions, apathy, making poor judgments) or language (e.g., problems with speech, finding the right word, naming objects)</a:t>
            </a:r>
            <a:endParaRPr/>
          </a:p>
          <a:p>
            <a:pPr indent="-127000" lvl="0" marL="91440" rtl="0" algn="l">
              <a:lnSpc>
                <a:spcPct val="90000"/>
              </a:lnSpc>
              <a:spcBef>
                <a:spcPts val="1400"/>
              </a:spcBef>
              <a:spcAft>
                <a:spcPts val="0"/>
              </a:spcAft>
              <a:buSzPts val="2000"/>
              <a:buFont typeface="Arial"/>
              <a:buChar char="•"/>
            </a:pPr>
            <a:r>
              <a:rPr lang="en-PH"/>
              <a:t> Approximately 20%–25% of cases of frontotemporal NCD occur in individuals older than 65 years</a:t>
            </a:r>
            <a:endParaRPr/>
          </a:p>
          <a:p>
            <a:pPr indent="0" lvl="0" marL="0" rtl="0" algn="l">
              <a:lnSpc>
                <a:spcPct val="90000"/>
              </a:lnSpc>
              <a:spcBef>
                <a:spcPts val="1400"/>
              </a:spcBef>
              <a:spcAft>
                <a:spcPts val="0"/>
              </a:spcAft>
              <a:buSzPts val="2000"/>
              <a:buNone/>
            </a:pPr>
            <a:r>
              <a:t/>
            </a:r>
            <a:endParaRPr/>
          </a:p>
        </p:txBody>
      </p:sp>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31"/>
          <p:cNvPicPr preferRelativeResize="0"/>
          <p:nvPr/>
        </p:nvPicPr>
        <p:blipFill rotWithShape="1">
          <a:blip r:embed="rId3">
            <a:alphaModFix/>
          </a:blip>
          <a:srcRect b="0" l="0" r="0" t="0"/>
          <a:stretch/>
        </p:blipFill>
        <p:spPr>
          <a:xfrm>
            <a:off x="1058781" y="622278"/>
            <a:ext cx="10074438" cy="5320732"/>
          </a:xfrm>
          <a:prstGeom prst="rect">
            <a:avLst/>
          </a:prstGeom>
          <a:noFill/>
          <a:ln>
            <a:noFill/>
          </a:ln>
        </p:spPr>
      </p:pic>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Traumatic Brain Injury</a:t>
            </a:r>
            <a:endParaRPr/>
          </a:p>
        </p:txBody>
      </p:sp>
      <p:sp>
        <p:nvSpPr>
          <p:cNvPr id="199" name="Google Shape;199;p3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It includes symptoms that persist for at least a week following the trauma, including executive dysfunction (e.g., difficulty planning complex activities) and problems with learning and memory</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Greatest risk for TBI are </a:t>
            </a:r>
            <a:r>
              <a:rPr lang="en-PH" u="sng">
                <a:latin typeface="Arial"/>
                <a:ea typeface="Arial"/>
                <a:cs typeface="Arial"/>
                <a:sym typeface="Arial"/>
              </a:rPr>
              <a:t>teens and young adults</a:t>
            </a:r>
            <a:endParaRPr>
              <a:latin typeface="Arial"/>
              <a:ea typeface="Arial"/>
              <a:cs typeface="Arial"/>
              <a:sym typeface="Arial"/>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Traffic/vehicular accidents, assaults, falls, and suicide attempts are common causes, as is being exposed to bomb blasts in combat.</a:t>
            </a:r>
            <a:endParaRPr>
              <a:latin typeface="Arial"/>
              <a:ea typeface="Arial"/>
              <a:cs typeface="Arial"/>
              <a:sym typeface="Arial"/>
            </a:endParaRPr>
          </a:p>
        </p:txBody>
      </p:sp>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3"/>
          <p:cNvPicPr preferRelativeResize="0"/>
          <p:nvPr/>
        </p:nvPicPr>
        <p:blipFill rotWithShape="1">
          <a:blip r:embed="rId3">
            <a:alphaModFix/>
          </a:blip>
          <a:srcRect b="0" l="0" r="0" t="0"/>
          <a:stretch/>
        </p:blipFill>
        <p:spPr>
          <a:xfrm>
            <a:off x="1028178" y="1625812"/>
            <a:ext cx="10135643" cy="3213096"/>
          </a:xfrm>
          <a:prstGeom prst="rect">
            <a:avLst/>
          </a:prstGeom>
          <a:noFill/>
          <a:ln>
            <a:noFill/>
          </a:ln>
        </p:spPr>
      </p:pic>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Lewy body disease</a:t>
            </a:r>
            <a:endParaRPr/>
          </a:p>
        </p:txBody>
      </p:sp>
      <p:sp>
        <p:nvSpPr>
          <p:cNvPr id="210" name="Google Shape;210;p3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It is the second most common type of neurocognitive disorders (after Alzheimer’s disease).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Lewy bodies are microscopic deposits of a protein that damage brain cells over time.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The signs of this disorder come on gradually and include impairment in alertness and attention, vivid visual hallucinations, and motor impairment.</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The male-to-female ratio is approximately 1.5:1. </a:t>
            </a:r>
            <a:endParaRPr>
              <a:latin typeface="Arial"/>
              <a:ea typeface="Arial"/>
              <a:cs typeface="Arial"/>
              <a:sym typeface="Arial"/>
            </a:endParaRPr>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5"/>
          <p:cNvPicPr preferRelativeResize="0"/>
          <p:nvPr/>
        </p:nvPicPr>
        <p:blipFill rotWithShape="1">
          <a:blip r:embed="rId3">
            <a:alphaModFix/>
          </a:blip>
          <a:srcRect b="0" l="0" r="0" t="0"/>
          <a:stretch/>
        </p:blipFill>
        <p:spPr>
          <a:xfrm>
            <a:off x="3982627" y="466089"/>
            <a:ext cx="4226745" cy="5742310"/>
          </a:xfrm>
          <a:prstGeom prst="rect">
            <a:avLst/>
          </a:prstGeom>
          <a:noFill/>
          <a:ln>
            <a:noFill/>
          </a:ln>
        </p:spPr>
      </p:pic>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Parkinson’s disease</a:t>
            </a:r>
            <a:endParaRPr/>
          </a:p>
        </p:txBody>
      </p:sp>
      <p:sp>
        <p:nvSpPr>
          <p:cNvPr id="221" name="Google Shape;221;p3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result of damage to dopamine pathways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Motor problems are characteristic among people with Parkinson’s disease, who tend to have stooped posture, slow body movements (called bradykinesia), tremors, and jerkiness in walking, afflicted individuals speak in a soft monotone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 degenerative brain disorder that affects about 100 to 300 people in every 100,000 people worldwide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more common in males than in females.</a:t>
            </a:r>
            <a:endParaRPr>
              <a:latin typeface="Arial"/>
              <a:ea typeface="Arial"/>
              <a:cs typeface="Arial"/>
              <a:sym typeface="Arial"/>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37"/>
          <p:cNvPicPr preferRelativeResize="0"/>
          <p:nvPr/>
        </p:nvPicPr>
        <p:blipFill rotWithShape="1">
          <a:blip r:embed="rId3">
            <a:alphaModFix/>
          </a:blip>
          <a:srcRect b="0" l="0" r="0" t="0"/>
          <a:stretch/>
        </p:blipFill>
        <p:spPr>
          <a:xfrm>
            <a:off x="3766265" y="886948"/>
            <a:ext cx="4659470" cy="4678109"/>
          </a:xfrm>
          <a:prstGeom prst="rect">
            <a:avLst/>
          </a:prstGeom>
          <a:noFill/>
          <a:ln>
            <a:noFill/>
          </a:ln>
        </p:spPr>
      </p:pic>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Human Immunodeficiency Virus Type 1 (HIV-1)</a:t>
            </a:r>
            <a:endParaRPr b="1">
              <a:latin typeface="Arial"/>
              <a:ea typeface="Arial"/>
              <a:cs typeface="Arial"/>
              <a:sym typeface="Arial"/>
            </a:endParaRPr>
          </a:p>
        </p:txBody>
      </p:sp>
      <p:sp>
        <p:nvSpPr>
          <p:cNvPr id="232" name="Google Shape;232;p3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Also referred to as </a:t>
            </a:r>
            <a:r>
              <a:rPr b="1" lang="en-PH">
                <a:latin typeface="Arial"/>
                <a:ea typeface="Arial"/>
                <a:cs typeface="Arial"/>
                <a:sym typeface="Arial"/>
              </a:rPr>
              <a:t>subcortical dementia</a:t>
            </a:r>
            <a:r>
              <a:rPr lang="en-PH">
                <a:latin typeface="Arial"/>
                <a:ea typeface="Arial"/>
                <a:cs typeface="Arial"/>
                <a:sym typeface="Arial"/>
              </a:rPr>
              <a:t>, because it affects the cortex.</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Caused by HIV infection itself</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Early symptoms includes cognitive slowness, impaired attention, and forgetfulness. Affected individuals also tend to be clumsy, shows tremors and leg weakness, and  become apathetic and socially withdrawn.</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Likely to experience severe depression and anxiety.</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 </a:t>
            </a:r>
            <a:r>
              <a:rPr lang="en-PH"/>
              <a:t>25% of individuals with HIV will have signs and symptoms that meet criteria for mild NCD</a:t>
            </a:r>
            <a:endParaRPr>
              <a:latin typeface="Arial"/>
              <a:ea typeface="Arial"/>
              <a:cs typeface="Arial"/>
              <a:sym typeface="Arial"/>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Huntington’s disease</a:t>
            </a:r>
            <a:endParaRPr/>
          </a:p>
        </p:txBody>
      </p:sp>
      <p:sp>
        <p:nvSpPr>
          <p:cNvPr id="238" name="Google Shape;238;p3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genetic disorder that initially affects motor movements (e.g., impaired gait), typically in the form of chorea, involuntary limb movements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42.5% of new Huntington’s disorder cases also present with mild cognitive impairment</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worldwide prevalence of ≈2.7 per 100,000</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average age is approximately 40 years</a:t>
            </a:r>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Prion Disease</a:t>
            </a:r>
            <a:endParaRPr/>
          </a:p>
        </p:txBody>
      </p:sp>
      <p:sp>
        <p:nvSpPr>
          <p:cNvPr id="244" name="Google Shape;244;p40"/>
          <p:cNvSpPr txBox="1"/>
          <p:nvPr>
            <p:ph idx="1" type="body"/>
          </p:nvPr>
        </p:nvSpPr>
        <p:spPr>
          <a:xfrm>
            <a:off x="1097280" y="1845734"/>
            <a:ext cx="9233836"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a:t>
            </a:r>
            <a:r>
              <a:rPr lang="en-PH" sz="1800">
                <a:latin typeface="Arial"/>
                <a:ea typeface="Arial"/>
                <a:cs typeface="Arial"/>
                <a:sym typeface="Arial"/>
              </a:rPr>
              <a:t>rare progressive neurodegenerative disorder caused by “prions”—proteins that can reproduce themselves and cause damage to brain cells leading to neurocognitive decline</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Ataxia – impaired gait</a:t>
            </a:r>
            <a:endParaRPr sz="1800">
              <a:latin typeface="Calibri"/>
              <a:ea typeface="Calibri"/>
              <a:cs typeface="Calibri"/>
              <a:sym typeface="Calibri"/>
            </a:endParaRPr>
          </a:p>
          <a:p>
            <a:pPr indent="0" lvl="0" marL="91440" rtl="0" algn="l">
              <a:lnSpc>
                <a:spcPct val="90000"/>
              </a:lnSpc>
              <a:spcBef>
                <a:spcPts val="1400"/>
              </a:spcBef>
              <a:spcAft>
                <a:spcPts val="0"/>
              </a:spcAft>
              <a:buSzPts val="2000"/>
              <a:buFont typeface="Arial"/>
              <a:buNone/>
            </a:pPr>
            <a:r>
              <a:t/>
            </a:r>
            <a:endParaRPr/>
          </a:p>
        </p:txBody>
      </p:sp>
      <p:pic>
        <p:nvPicPr>
          <p:cNvPr id="245" name="Google Shape;245;p40"/>
          <p:cNvPicPr preferRelativeResize="0"/>
          <p:nvPr/>
        </p:nvPicPr>
        <p:blipFill rotWithShape="1">
          <a:blip r:embed="rId3">
            <a:alphaModFix/>
          </a:blip>
          <a:srcRect b="0" l="0" r="0" t="0"/>
          <a:stretch/>
        </p:blipFill>
        <p:spPr>
          <a:xfrm>
            <a:off x="1097280" y="3037440"/>
            <a:ext cx="4913461" cy="2831654"/>
          </a:xfrm>
          <a:prstGeom prst="rect">
            <a:avLst/>
          </a:prstGeom>
          <a:noFill/>
          <a:ln>
            <a:noFill/>
          </a:ln>
        </p:spPr>
      </p:pic>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Substance/Medication-Induced Neurocognitive Disorder</a:t>
            </a:r>
            <a:endParaRPr/>
          </a:p>
        </p:txBody>
      </p:sp>
      <p:sp>
        <p:nvSpPr>
          <p:cNvPr id="251" name="Google Shape;251;p41"/>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50% to 70% of chronic heavy alcohol users show cognitive impairment</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Symptoms include memory impairment and at least one of the following cognitive disturbances: </a:t>
            </a:r>
            <a:r>
              <a:rPr b="1" lang="en-PH">
                <a:latin typeface="Arial"/>
                <a:ea typeface="Arial"/>
                <a:cs typeface="Arial"/>
                <a:sym typeface="Arial"/>
              </a:rPr>
              <a:t>aphasia</a:t>
            </a:r>
            <a:r>
              <a:rPr lang="en-PH">
                <a:latin typeface="Arial"/>
                <a:ea typeface="Arial"/>
                <a:cs typeface="Arial"/>
                <a:sym typeface="Arial"/>
              </a:rPr>
              <a:t> (language disturbance), </a:t>
            </a:r>
            <a:r>
              <a:rPr b="1" lang="en-PH">
                <a:latin typeface="Arial"/>
                <a:ea typeface="Arial"/>
                <a:cs typeface="Arial"/>
                <a:sym typeface="Arial"/>
              </a:rPr>
              <a:t>apraxia</a:t>
            </a:r>
            <a:r>
              <a:rPr lang="en-PH">
                <a:latin typeface="Arial"/>
                <a:ea typeface="Arial"/>
                <a:cs typeface="Arial"/>
                <a:sym typeface="Arial"/>
              </a:rPr>
              <a:t> (inability to carry out motor activities despite intact motor function), </a:t>
            </a:r>
            <a:r>
              <a:rPr b="1" lang="en-PH">
                <a:latin typeface="Arial"/>
                <a:ea typeface="Arial"/>
                <a:cs typeface="Arial"/>
                <a:sym typeface="Arial"/>
              </a:rPr>
              <a:t>agnosia</a:t>
            </a:r>
            <a:r>
              <a:rPr lang="en-PH">
                <a:latin typeface="Arial"/>
                <a:ea typeface="Arial"/>
                <a:cs typeface="Arial"/>
                <a:sym typeface="Arial"/>
              </a:rPr>
              <a:t> (failure to recognize or identify objects despite intact sensory function), or a disturbance in executive functioning (such as planning, organizing, sequencing, and abstracting)</a:t>
            </a:r>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Causes</a:t>
            </a:r>
            <a:endParaRPr/>
          </a:p>
        </p:txBody>
      </p:sp>
      <p:sp>
        <p:nvSpPr>
          <p:cNvPr id="258" name="Google Shape;258;p42"/>
          <p:cNvSpPr txBox="1"/>
          <p:nvPr>
            <p:ph idx="1" type="body"/>
          </p:nvPr>
        </p:nvSpPr>
        <p:spPr>
          <a:xfrm>
            <a:off x="1215264" y="1845734"/>
            <a:ext cx="9940416" cy="4023360"/>
          </a:xfrm>
          <a:prstGeom prst="rect">
            <a:avLst/>
          </a:prstGeom>
          <a:noFill/>
          <a:ln>
            <a:noFill/>
          </a:ln>
        </p:spPr>
        <p:txBody>
          <a:bodyPr anchorCtr="0" anchor="t" bIns="45700" lIns="0" spcFirstLastPara="1" rIns="0" wrap="square" tIns="45700">
            <a:normAutofit lnSpcReduction="10000"/>
          </a:bodyPr>
          <a:lstStyle/>
          <a:p>
            <a:pPr indent="0" lvl="0" marL="0" rtl="0" algn="l">
              <a:lnSpc>
                <a:spcPct val="90000"/>
              </a:lnSpc>
              <a:spcBef>
                <a:spcPts val="0"/>
              </a:spcBef>
              <a:spcAft>
                <a:spcPts val="0"/>
              </a:spcAft>
              <a:buSzPts val="2000"/>
              <a:buNone/>
            </a:pPr>
            <a:r>
              <a:rPr b="1" lang="en-PH">
                <a:latin typeface="Arial"/>
                <a:ea typeface="Arial"/>
                <a:cs typeface="Arial"/>
                <a:sym typeface="Arial"/>
              </a:rPr>
              <a:t>Biological</a:t>
            </a:r>
            <a:r>
              <a:rPr lang="en-PH">
                <a:latin typeface="Arial"/>
                <a:ea typeface="Arial"/>
                <a:cs typeface="Arial"/>
                <a:sym typeface="Arial"/>
              </a:rPr>
              <a:t> </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Genetic factors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head trauma </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some diseases (e.g., hypertension, stroke)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Exposure to drugs and/or substance (e.g., alcohol, inhalants, and sedative, hypnotic, and anxiolytic drugs)</a:t>
            </a:r>
            <a:endParaRPr/>
          </a:p>
          <a:p>
            <a:pPr indent="0" lvl="0" marL="0" rtl="0" algn="l">
              <a:lnSpc>
                <a:spcPct val="90000"/>
              </a:lnSpc>
              <a:spcBef>
                <a:spcPts val="1400"/>
              </a:spcBef>
              <a:spcAft>
                <a:spcPts val="0"/>
              </a:spcAft>
              <a:buSzPts val="2000"/>
              <a:buNone/>
            </a:pPr>
            <a:r>
              <a:rPr b="1" lang="en-PH">
                <a:latin typeface="Arial"/>
                <a:ea typeface="Arial"/>
                <a:cs typeface="Arial"/>
                <a:sym typeface="Arial"/>
              </a:rPr>
              <a:t>Psychological and Social influences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person’s lifestyle (e.g., substance abuse can lead to neurocognitive disorder)</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Studies suggests that occupational safety (such as protecting workers from head injuries) and economic conditions influencing diet also affect the prevalence of certain forms of neurocognitive disorders</a:t>
            </a:r>
            <a:endParaRPr>
              <a:latin typeface="Arial"/>
              <a:ea typeface="Arial"/>
              <a:cs typeface="Arial"/>
              <a:sym typeface="Arial"/>
            </a:endParaRPr>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Treatment</a:t>
            </a:r>
            <a:r>
              <a:rPr lang="en-PH"/>
              <a:t> </a:t>
            </a:r>
            <a:endParaRPr/>
          </a:p>
        </p:txBody>
      </p:sp>
      <p:sp>
        <p:nvSpPr>
          <p:cNvPr id="265" name="Google Shape;265;p4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No known treatment</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Researchers are also looking into the possible benefits of transplanting stem cells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Goals: (1) trying to prevent certain conditions, such as substance abuse or strokes, that may bring on neurocognitive disorder; (2) trying to delay the onset of symptoms to provide better quality of life; and (3) attempting to help these individuals and their caregivers cope with the advancing deterioration</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Michelle Bourgeois (2007) created “memory wallets” to help people with Alzheimer’s disease.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Cognitive stimulation</a:t>
            </a:r>
            <a:endParaRPr>
              <a:latin typeface="Arial"/>
              <a:ea typeface="Arial"/>
              <a:cs typeface="Arial"/>
              <a:sym typeface="Arial"/>
            </a:endParaRPr>
          </a:p>
          <a:p>
            <a:pPr indent="0" lvl="0" marL="91440" rtl="0" algn="l">
              <a:lnSpc>
                <a:spcPct val="90000"/>
              </a:lnSpc>
              <a:spcBef>
                <a:spcPts val="14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SUBSTANCE-RELATED DISORDERS</a:t>
            </a:r>
            <a:endParaRPr/>
          </a:p>
        </p:txBody>
      </p:sp>
      <p:sp>
        <p:nvSpPr>
          <p:cNvPr id="271" name="Google Shape;271;p4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It is associated with the abuse of drugs and other substances people take to alter the way they think, feel, and behave.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9.7% of the general population (12 years or older) are believed to use illegal drugs.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Substance</a:t>
            </a:r>
            <a:r>
              <a:rPr lang="en-PH">
                <a:latin typeface="Arial"/>
                <a:ea typeface="Arial"/>
                <a:cs typeface="Arial"/>
                <a:sym typeface="Arial"/>
              </a:rPr>
              <a:t> refers to chemical compounds that are ingested to alter mood or behavior.</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Substance use</a:t>
            </a:r>
            <a:r>
              <a:rPr lang="en-PH">
                <a:latin typeface="Arial"/>
                <a:ea typeface="Arial"/>
                <a:cs typeface="Arial"/>
                <a:sym typeface="Arial"/>
              </a:rPr>
              <a:t> is the ingestion of psychoactive substances in moderate amounts that does not significantly interfere with social, educational, or occupational functioning</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Substance intoxication</a:t>
            </a:r>
            <a:r>
              <a:rPr lang="en-PH">
                <a:latin typeface="Arial"/>
                <a:ea typeface="Arial"/>
                <a:cs typeface="Arial"/>
                <a:sym typeface="Arial"/>
              </a:rPr>
              <a:t> refers to </a:t>
            </a:r>
            <a:r>
              <a:rPr lang="en-PH">
                <a:solidFill>
                  <a:schemeClr val="dk1"/>
                </a:solidFill>
                <a:latin typeface="Arial"/>
                <a:ea typeface="Arial"/>
                <a:cs typeface="Arial"/>
                <a:sym typeface="Arial"/>
              </a:rPr>
              <a:t>the </a:t>
            </a:r>
            <a:r>
              <a:rPr b="0" i="0" lang="en-PH" u="none" strike="noStrike">
                <a:solidFill>
                  <a:schemeClr val="dk1"/>
                </a:solidFill>
                <a:latin typeface="Arial"/>
                <a:ea typeface="Arial"/>
                <a:cs typeface="Arial"/>
                <a:sym typeface="Arial"/>
              </a:rPr>
              <a:t>undesirable behavioral or psychological changes that develop during or shortly after the ingestion of a substance</a:t>
            </a:r>
            <a:r>
              <a:rPr b="0" i="0" lang="en-PH" u="none" strike="noStrike">
                <a:solidFill>
                  <a:srgbClr val="55554A"/>
                </a:solidFill>
                <a:latin typeface="Arial"/>
                <a:ea typeface="Arial"/>
                <a:cs typeface="Arial"/>
                <a:sym typeface="Arial"/>
              </a:rPr>
              <a:t>;</a:t>
            </a:r>
            <a:r>
              <a:rPr lang="en-PH">
                <a:latin typeface="Arial"/>
                <a:ea typeface="Arial"/>
                <a:cs typeface="Arial"/>
                <a:sym typeface="Arial"/>
              </a:rPr>
              <a:t> includes the type of drug taken, the amount ingested, and the person’s individual biological reaction.</a:t>
            </a:r>
            <a:endParaRPr/>
          </a:p>
          <a:p>
            <a:pPr indent="0" lvl="0" marL="0" rtl="0" algn="l">
              <a:lnSpc>
                <a:spcPct val="90000"/>
              </a:lnSpc>
              <a:spcBef>
                <a:spcPts val="14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SUBSTANCE-RELATED DISORDERS</a:t>
            </a:r>
            <a:endParaRPr/>
          </a:p>
        </p:txBody>
      </p:sp>
      <p:sp>
        <p:nvSpPr>
          <p:cNvPr id="277" name="Google Shape;277;p4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Substance dependence </a:t>
            </a:r>
            <a:r>
              <a:rPr lang="en-PH">
                <a:latin typeface="Arial"/>
                <a:ea typeface="Arial"/>
                <a:cs typeface="Arial"/>
                <a:sym typeface="Arial"/>
              </a:rPr>
              <a:t>refers to the maladaptive pattern of substance use characterized by the need for increased amounts to achieve the desired effect, negative physical effects when the substance is withdrawn, unsuccessful efforts to control its use, and substantial effort expended to seek it or recover from its effects. </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Tolerance</a:t>
            </a:r>
            <a:r>
              <a:rPr lang="en-PH">
                <a:latin typeface="Arial"/>
                <a:ea typeface="Arial"/>
                <a:cs typeface="Arial"/>
                <a:sym typeface="Arial"/>
              </a:rPr>
              <a:t> is the brain and body’s need for larger doses of a drug to produce earlier effects.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t>
            </a:r>
            <a:r>
              <a:rPr b="1" lang="en-PH">
                <a:latin typeface="Arial"/>
                <a:ea typeface="Arial"/>
                <a:cs typeface="Arial"/>
                <a:sym typeface="Arial"/>
              </a:rPr>
              <a:t>Withdrawal</a:t>
            </a:r>
            <a:r>
              <a:rPr lang="en-PH">
                <a:latin typeface="Arial"/>
                <a:ea typeface="Arial"/>
                <a:cs typeface="Arial"/>
                <a:sym typeface="Arial"/>
              </a:rPr>
              <a:t> is the negative physical response when the substance is no longer ingested. Withdrawal from many substances can bring on chills, fever, diarrhea, nausea and vomiting, and aches and pains.</a:t>
            </a:r>
            <a:endParaRPr/>
          </a:p>
          <a:p>
            <a:pPr indent="0" lvl="0" marL="0" rtl="0" algn="l">
              <a:lnSpc>
                <a:spcPct val="90000"/>
              </a:lnSpc>
              <a:spcBef>
                <a:spcPts val="1400"/>
              </a:spcBef>
              <a:spcAft>
                <a:spcPts val="0"/>
              </a:spcAft>
              <a:buSzPts val="2000"/>
              <a:buNone/>
            </a:pPr>
            <a:r>
              <a:t/>
            </a:r>
            <a:endParaRPr>
              <a:latin typeface="Arial"/>
              <a:ea typeface="Arial"/>
              <a:cs typeface="Arial"/>
              <a:sym typeface="Arial"/>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Categories of Substance-related Disorders</a:t>
            </a:r>
            <a:endParaRPr/>
          </a:p>
        </p:txBody>
      </p:sp>
      <p:sp>
        <p:nvSpPr>
          <p:cNvPr id="283" name="Google Shape;283;p5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p>
            <a:pPr indent="-342900" lvl="0" marL="342900" rtl="0" algn="l">
              <a:lnSpc>
                <a:spcPct val="107000"/>
              </a:lnSpc>
              <a:spcBef>
                <a:spcPts val="0"/>
              </a:spcBef>
              <a:spcAft>
                <a:spcPts val="0"/>
              </a:spcAft>
              <a:buSzPts val="1900"/>
              <a:buFont typeface="Noto Sans Symbols"/>
              <a:buChar char="∙"/>
            </a:pPr>
            <a:r>
              <a:rPr b="1" lang="en-PH" sz="1900">
                <a:latin typeface="Arial"/>
                <a:ea typeface="Arial"/>
                <a:cs typeface="Arial"/>
                <a:sym typeface="Arial"/>
              </a:rPr>
              <a:t>Depressants</a:t>
            </a:r>
            <a:r>
              <a:rPr lang="en-PH" sz="1900">
                <a:latin typeface="Arial"/>
                <a:ea typeface="Arial"/>
                <a:cs typeface="Arial"/>
                <a:sym typeface="Arial"/>
              </a:rPr>
              <a:t>: These substances result in behavioral sedation and can induce relaxation. They include alcohol, barbiturates, and benzodiazepines </a:t>
            </a:r>
            <a:endParaRPr/>
          </a:p>
          <a:p>
            <a:pPr indent="-342900" lvl="0" marL="342900" rtl="0" algn="l">
              <a:lnSpc>
                <a:spcPct val="107000"/>
              </a:lnSpc>
              <a:spcBef>
                <a:spcPts val="1400"/>
              </a:spcBef>
              <a:spcAft>
                <a:spcPts val="0"/>
              </a:spcAft>
              <a:buSzPts val="1900"/>
              <a:buFont typeface="Noto Sans Symbols"/>
              <a:buChar char="∙"/>
            </a:pPr>
            <a:r>
              <a:rPr b="1" lang="en-PH" sz="1900">
                <a:latin typeface="Arial"/>
                <a:ea typeface="Arial"/>
                <a:cs typeface="Arial"/>
                <a:sym typeface="Arial"/>
              </a:rPr>
              <a:t>Stimulants</a:t>
            </a:r>
            <a:r>
              <a:rPr lang="en-PH" sz="1900">
                <a:latin typeface="Arial"/>
                <a:ea typeface="Arial"/>
                <a:cs typeface="Arial"/>
                <a:sym typeface="Arial"/>
              </a:rPr>
              <a:t>: These substances cause us to be more active and alert and can elevate mood. Included in this group are amphetamines, cocaine, nicotine, and caffeine</a:t>
            </a:r>
            <a:endParaRPr/>
          </a:p>
          <a:p>
            <a:pPr indent="-342900" lvl="0" marL="342900" rtl="0" algn="l">
              <a:lnSpc>
                <a:spcPct val="107000"/>
              </a:lnSpc>
              <a:spcBef>
                <a:spcPts val="1400"/>
              </a:spcBef>
              <a:spcAft>
                <a:spcPts val="0"/>
              </a:spcAft>
              <a:buSzPts val="1900"/>
              <a:buFont typeface="Noto Sans Symbols"/>
              <a:buChar char="∙"/>
            </a:pPr>
            <a:r>
              <a:rPr b="1" lang="en-PH" sz="1900">
                <a:latin typeface="Arial"/>
                <a:ea typeface="Arial"/>
                <a:cs typeface="Arial"/>
                <a:sym typeface="Arial"/>
              </a:rPr>
              <a:t>Opiates</a:t>
            </a:r>
            <a:r>
              <a:rPr lang="en-PH" sz="1900">
                <a:latin typeface="Arial"/>
                <a:ea typeface="Arial"/>
                <a:cs typeface="Arial"/>
                <a:sym typeface="Arial"/>
              </a:rPr>
              <a:t>: The major effect of these substances is to produce analgesia temporarily (reduce pain) and euphoria. Heroin, opium, codeine, and morphine are included in this group.</a:t>
            </a:r>
            <a:endParaRPr/>
          </a:p>
          <a:p>
            <a:pPr indent="-342900" lvl="0" marL="342900" rtl="0" algn="l">
              <a:lnSpc>
                <a:spcPct val="107000"/>
              </a:lnSpc>
              <a:spcBef>
                <a:spcPts val="1400"/>
              </a:spcBef>
              <a:spcAft>
                <a:spcPts val="0"/>
              </a:spcAft>
              <a:buSzPts val="1900"/>
              <a:buFont typeface="Noto Sans Symbols"/>
              <a:buChar char="∙"/>
            </a:pPr>
            <a:r>
              <a:rPr b="1" lang="en-PH" sz="1900">
                <a:latin typeface="Arial"/>
                <a:ea typeface="Arial"/>
                <a:cs typeface="Arial"/>
                <a:sym typeface="Arial"/>
              </a:rPr>
              <a:t>Hallucinogens</a:t>
            </a:r>
            <a:r>
              <a:rPr lang="en-PH" sz="1900">
                <a:latin typeface="Arial"/>
                <a:ea typeface="Arial"/>
                <a:cs typeface="Arial"/>
                <a:sym typeface="Arial"/>
              </a:rPr>
              <a:t>: These substances alter sensory perception and can produce delusions, paranoia, and hallucinations. Cannabis and LSD are included in this category. </a:t>
            </a:r>
            <a:endParaRPr/>
          </a:p>
          <a:p>
            <a:pPr indent="-342900" lvl="0" marL="342900" rtl="0" algn="l">
              <a:lnSpc>
                <a:spcPct val="107000"/>
              </a:lnSpc>
              <a:spcBef>
                <a:spcPts val="1400"/>
              </a:spcBef>
              <a:spcAft>
                <a:spcPts val="0"/>
              </a:spcAft>
              <a:buSzPts val="1900"/>
              <a:buFont typeface="Noto Sans Symbols"/>
              <a:buChar char="∙"/>
            </a:pPr>
            <a:r>
              <a:rPr b="1" lang="en-PH" sz="1900">
                <a:latin typeface="Arial"/>
                <a:ea typeface="Arial"/>
                <a:cs typeface="Arial"/>
                <a:sym typeface="Arial"/>
              </a:rPr>
              <a:t>Other drugs of abuse</a:t>
            </a:r>
            <a:r>
              <a:rPr lang="en-PH" sz="1900">
                <a:latin typeface="Arial"/>
                <a:ea typeface="Arial"/>
                <a:cs typeface="Arial"/>
                <a:sym typeface="Arial"/>
              </a:rPr>
              <a:t>: includes inhalants, anabolic steroids, and other over-the-counter and prescription medications.</a:t>
            </a:r>
            <a:endParaRPr sz="1900">
              <a:latin typeface="Arial"/>
              <a:ea typeface="Arial"/>
              <a:cs typeface="Arial"/>
              <a:sym typeface="Arial"/>
            </a:endParaRPr>
          </a:p>
          <a:p>
            <a:pPr indent="-222250" lvl="0" marL="342900" rtl="0" algn="l">
              <a:lnSpc>
                <a:spcPct val="107000"/>
              </a:lnSpc>
              <a:spcBef>
                <a:spcPts val="1400"/>
              </a:spcBef>
              <a:spcAft>
                <a:spcPts val="0"/>
              </a:spcAft>
              <a:buSzPts val="1900"/>
              <a:buFont typeface="Noto Sans Symbols"/>
              <a:buNone/>
            </a:pPr>
            <a:r>
              <a:t/>
            </a:r>
            <a:endParaRPr sz="1900">
              <a:latin typeface="Arial"/>
              <a:ea typeface="Arial"/>
              <a:cs typeface="Arial"/>
              <a:sym typeface="Arial"/>
            </a:endParaRPr>
          </a:p>
          <a:p>
            <a:pPr indent="-222250" lvl="0" marL="342900" rtl="0" algn="l">
              <a:lnSpc>
                <a:spcPct val="107000"/>
              </a:lnSpc>
              <a:spcBef>
                <a:spcPts val="1400"/>
              </a:spcBef>
              <a:spcAft>
                <a:spcPts val="0"/>
              </a:spcAft>
              <a:buSzPts val="1900"/>
              <a:buFont typeface="Noto Sans Symbols"/>
              <a:buNone/>
            </a:pPr>
            <a:r>
              <a:t/>
            </a:r>
            <a:endParaRPr sz="1900">
              <a:latin typeface="Arial"/>
              <a:ea typeface="Arial"/>
              <a:cs typeface="Arial"/>
              <a:sym typeface="Arial"/>
            </a:endParaRPr>
          </a:p>
          <a:p>
            <a:pPr indent="-222250" lvl="0" marL="342900" rtl="0" algn="l">
              <a:lnSpc>
                <a:spcPct val="107000"/>
              </a:lnSpc>
              <a:spcBef>
                <a:spcPts val="1400"/>
              </a:spcBef>
              <a:spcAft>
                <a:spcPts val="0"/>
              </a:spcAft>
              <a:buSzPts val="1900"/>
              <a:buFont typeface="Noto Sans Symbols"/>
              <a:buNone/>
            </a:pPr>
            <a:r>
              <a:t/>
            </a:r>
            <a:endParaRPr sz="1900">
              <a:latin typeface="Arial"/>
              <a:ea typeface="Arial"/>
              <a:cs typeface="Arial"/>
              <a:sym typeface="Arial"/>
            </a:endParaRPr>
          </a:p>
          <a:p>
            <a:pPr indent="0" lvl="0" marL="91440" rtl="0" algn="l">
              <a:lnSpc>
                <a:spcPct val="90000"/>
              </a:lnSpc>
              <a:spcBef>
                <a:spcPts val="1400"/>
              </a:spcBef>
              <a:spcAft>
                <a:spcPts val="0"/>
              </a:spcAft>
              <a:buSzPts val="1900"/>
              <a:buNone/>
            </a:pPr>
            <a:r>
              <a:t/>
            </a:r>
            <a:endParaRPr sz="1900">
              <a:latin typeface="Arial"/>
              <a:ea typeface="Arial"/>
              <a:cs typeface="Arial"/>
              <a:sym typeface="Arial"/>
            </a:endParaRPr>
          </a:p>
        </p:txBody>
      </p:sp>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Alcohol-related Disorders</a:t>
            </a:r>
            <a:endParaRPr/>
          </a:p>
        </p:txBody>
      </p:sp>
      <p:sp>
        <p:nvSpPr>
          <p:cNvPr id="289" name="Google Shape;289;p5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342900" lvl="0" marL="342900" rtl="0" algn="l">
              <a:lnSpc>
                <a:spcPct val="107000"/>
              </a:lnSpc>
              <a:spcBef>
                <a:spcPts val="0"/>
              </a:spcBef>
              <a:spcAft>
                <a:spcPts val="0"/>
              </a:spcAft>
              <a:buSzPts val="2000"/>
              <a:buFont typeface="Noto Sans Symbols"/>
              <a:buChar char="∙"/>
            </a:pPr>
            <a:r>
              <a:rPr lang="en-PH" sz="2000">
                <a:latin typeface="Arial"/>
                <a:ea typeface="Arial"/>
                <a:cs typeface="Arial"/>
                <a:sym typeface="Arial"/>
              </a:rPr>
              <a:t>Impaired judgment and motor coordination (staggering, slurred speech), reaction time is slowed, confused, and even vision and hearing can be negatively affected.</a:t>
            </a:r>
            <a:endParaRPr/>
          </a:p>
          <a:p>
            <a:pPr indent="-342900" lvl="0" marL="342900" rtl="0" algn="l">
              <a:lnSpc>
                <a:spcPct val="107000"/>
              </a:lnSpc>
              <a:spcBef>
                <a:spcPts val="2000"/>
              </a:spcBef>
              <a:spcAft>
                <a:spcPts val="0"/>
              </a:spcAft>
              <a:buSzPts val="2000"/>
              <a:buFont typeface="Noto Sans Symbols"/>
              <a:buChar char="∙"/>
            </a:pPr>
            <a:r>
              <a:rPr lang="en-PH" sz="2000">
                <a:latin typeface="Arial"/>
                <a:ea typeface="Arial"/>
                <a:cs typeface="Arial"/>
                <a:sym typeface="Arial"/>
              </a:rPr>
              <a:t>Withdrawal from chronic alcohol use typically includes hand tremors, nausea or vomiting, anxiety, transient hallucinations, agitation, insomnia, and delirium tremens, a condition that can produce frightening hallucinations and body tremors.</a:t>
            </a:r>
            <a:endParaRPr/>
          </a:p>
          <a:p>
            <a:pPr indent="-342900" lvl="0" marL="342900" rtl="0" algn="l">
              <a:lnSpc>
                <a:spcPct val="107000"/>
              </a:lnSpc>
              <a:spcBef>
                <a:spcPts val="2000"/>
              </a:spcBef>
              <a:spcAft>
                <a:spcPts val="0"/>
              </a:spcAft>
              <a:buSzPts val="2000"/>
              <a:buFont typeface="Noto Sans Symbols"/>
              <a:buChar char="∙"/>
            </a:pPr>
            <a:r>
              <a:rPr lang="en-PH" sz="2000">
                <a:latin typeface="Arial"/>
                <a:ea typeface="Arial"/>
                <a:cs typeface="Arial"/>
                <a:sym typeface="Arial"/>
              </a:rPr>
              <a:t>Wernicke-Korsakoff syndrome - results in confusion, loss of muscle coordination, and unintelligible speech. It is caused by a deficiency of thiamine, a vitamin metabolized poorly by heavy drinkers.</a:t>
            </a:r>
            <a:endParaRPr/>
          </a:p>
          <a:p>
            <a:pPr indent="0" lvl="0" marL="0" rtl="0" algn="l">
              <a:lnSpc>
                <a:spcPct val="107000"/>
              </a:lnSpc>
              <a:spcBef>
                <a:spcPts val="2000"/>
              </a:spcBef>
              <a:spcAft>
                <a:spcPts val="0"/>
              </a:spcAft>
              <a:buSzPts val="2000"/>
              <a:buNone/>
            </a:pPr>
            <a:r>
              <a:t/>
            </a:r>
            <a:endParaRPr sz="2000">
              <a:latin typeface="Arial"/>
              <a:ea typeface="Arial"/>
              <a:cs typeface="Arial"/>
              <a:sym typeface="Arial"/>
            </a:endParaRPr>
          </a:p>
          <a:p>
            <a:pPr indent="-215900" lvl="0" marL="342900" rtl="0" algn="l">
              <a:lnSpc>
                <a:spcPct val="107000"/>
              </a:lnSpc>
              <a:spcBef>
                <a:spcPts val="2000"/>
              </a:spcBef>
              <a:spcAft>
                <a:spcPts val="0"/>
              </a:spcAft>
              <a:buSzPts val="2000"/>
              <a:buFont typeface="Noto Sans Symbols"/>
              <a:buNone/>
            </a:pPr>
            <a:r>
              <a:t/>
            </a:r>
            <a:endParaRPr sz="2000">
              <a:latin typeface="Arial"/>
              <a:ea typeface="Arial"/>
              <a:cs typeface="Arial"/>
              <a:sym typeface="Arial"/>
            </a:endParaRPr>
          </a:p>
          <a:p>
            <a:pPr indent="-215900" lvl="0" marL="342900" rtl="0" algn="l">
              <a:lnSpc>
                <a:spcPct val="107000"/>
              </a:lnSpc>
              <a:spcBef>
                <a:spcPts val="2000"/>
              </a:spcBef>
              <a:spcAft>
                <a:spcPts val="0"/>
              </a:spcAft>
              <a:buSzPts val="2000"/>
              <a:buFont typeface="Noto Sans Symbols"/>
              <a:buNone/>
            </a:pPr>
            <a:r>
              <a:t/>
            </a:r>
            <a:endParaRPr>
              <a:latin typeface="Arial"/>
              <a:ea typeface="Arial"/>
              <a:cs typeface="Arial"/>
              <a:sym typeface="Arial"/>
            </a:endParaRPr>
          </a:p>
        </p:txBody>
      </p: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Alcohol-related Disorders</a:t>
            </a:r>
            <a:endParaRPr/>
          </a:p>
        </p:txBody>
      </p:sp>
      <p:sp>
        <p:nvSpPr>
          <p:cNvPr id="295" name="Google Shape;295;p59"/>
          <p:cNvSpPr txBox="1"/>
          <p:nvPr>
            <p:ph idx="1" type="body"/>
          </p:nvPr>
        </p:nvSpPr>
        <p:spPr>
          <a:xfrm>
            <a:off x="1097279" y="1845734"/>
            <a:ext cx="5932785"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t> </a:t>
            </a:r>
            <a:r>
              <a:rPr lang="en-PH" sz="2000">
                <a:latin typeface="Arial"/>
                <a:ea typeface="Arial"/>
                <a:cs typeface="Arial"/>
                <a:sym typeface="Arial"/>
              </a:rPr>
              <a:t>Fetal alcohol syndrome (FAS) - includes fetal growth retardation, cognitive deficits, behavior problems, and learning difficulties. </a:t>
            </a:r>
            <a:endParaRPr/>
          </a:p>
          <a:p>
            <a:pPr indent="-127000" lvl="0" marL="91440" rtl="0" algn="l">
              <a:lnSpc>
                <a:spcPct val="90000"/>
              </a:lnSpc>
              <a:spcBef>
                <a:spcPts val="1400"/>
              </a:spcBef>
              <a:spcAft>
                <a:spcPts val="0"/>
              </a:spcAft>
              <a:buSzPts val="2000"/>
              <a:buFont typeface="Arial"/>
              <a:buChar char="•"/>
            </a:pPr>
            <a:r>
              <a:rPr lang="en-PH" sz="2000">
                <a:latin typeface="Arial"/>
                <a:ea typeface="Arial"/>
                <a:cs typeface="Arial"/>
                <a:sym typeface="Arial"/>
              </a:rPr>
              <a:t> Physical characteristics of children with FAS include skin folds at the corners of the eyes, low nasal bridge, short nose, no groove between nose and upper lip, small head circumference, small eye opening, small midface, and thin upper lip.</a:t>
            </a:r>
            <a:endParaRPr/>
          </a:p>
          <a:p>
            <a:pPr indent="0" lvl="0" marL="0" rtl="0" algn="l">
              <a:lnSpc>
                <a:spcPct val="90000"/>
              </a:lnSpc>
              <a:spcBef>
                <a:spcPts val="1400"/>
              </a:spcBef>
              <a:spcAft>
                <a:spcPts val="0"/>
              </a:spcAft>
              <a:buSzPts val="2000"/>
              <a:buNone/>
            </a:pPr>
            <a:r>
              <a:t/>
            </a:r>
            <a:endParaRPr/>
          </a:p>
        </p:txBody>
      </p:sp>
      <p:pic>
        <p:nvPicPr>
          <p:cNvPr id="296" name="Google Shape;296;p59"/>
          <p:cNvPicPr preferRelativeResize="0"/>
          <p:nvPr/>
        </p:nvPicPr>
        <p:blipFill rotWithShape="1">
          <a:blip r:embed="rId3">
            <a:alphaModFix/>
          </a:blip>
          <a:srcRect b="0" l="0" r="0" t="0"/>
          <a:stretch/>
        </p:blipFill>
        <p:spPr>
          <a:xfrm>
            <a:off x="8239432" y="1837939"/>
            <a:ext cx="2490491" cy="4038950"/>
          </a:xfrm>
          <a:prstGeom prst="rect">
            <a:avLst/>
          </a:prstGeom>
          <a:noFill/>
          <a:ln>
            <a:noFill/>
          </a:ln>
        </p:spPr>
      </p:pic>
    </p:spTree>
  </p:cSld>
  <p:clrMapOvr>
    <a:masterClrMapping/>
  </p:clrMapOvr>
  <p:transition spd="med">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Alcohol-related Disorders</a:t>
            </a:r>
            <a:endParaRPr/>
          </a:p>
        </p:txBody>
      </p:sp>
      <p:sp>
        <p:nvSpPr>
          <p:cNvPr id="303" name="Google Shape;303;p6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Lifetime prevalence of 29%</a:t>
            </a:r>
            <a:endParaRPr/>
          </a:p>
          <a:p>
            <a:pPr indent="0" lvl="0" marL="0" rtl="0" algn="l">
              <a:lnSpc>
                <a:spcPct val="90000"/>
              </a:lnSpc>
              <a:spcBef>
                <a:spcPts val="1400"/>
              </a:spcBef>
              <a:spcAft>
                <a:spcPts val="0"/>
              </a:spcAft>
              <a:buSzPts val="2000"/>
              <a:buNone/>
            </a:pPr>
            <a:r>
              <a:rPr b="1" lang="en-PH">
                <a:latin typeface="Arial"/>
                <a:ea typeface="Arial"/>
                <a:cs typeface="Arial"/>
                <a:sym typeface="Arial"/>
              </a:rPr>
              <a:t>Stages of Alcohol use (Jellinek, 1952):</a:t>
            </a:r>
            <a:endParaRPr/>
          </a:p>
          <a:p>
            <a:pPr indent="-127000" lvl="0" marL="91440" rtl="0" algn="l">
              <a:lnSpc>
                <a:spcPct val="90000"/>
              </a:lnSpc>
              <a:spcBef>
                <a:spcPts val="1400"/>
              </a:spcBef>
              <a:spcAft>
                <a:spcPts val="0"/>
              </a:spcAft>
              <a:buSzPts val="2000"/>
              <a:buFont typeface="Noto Sans Symbols"/>
              <a:buChar char="⮚"/>
            </a:pPr>
            <a:r>
              <a:rPr lang="en-PH">
                <a:latin typeface="Arial"/>
                <a:ea typeface="Arial"/>
                <a:cs typeface="Arial"/>
                <a:sym typeface="Arial"/>
              </a:rPr>
              <a:t> </a:t>
            </a:r>
            <a:r>
              <a:rPr b="1" lang="en-PH" sz="1800">
                <a:latin typeface="Arial"/>
                <a:ea typeface="Arial"/>
                <a:cs typeface="Arial"/>
                <a:sym typeface="Arial"/>
              </a:rPr>
              <a:t>prealcoholic</a:t>
            </a:r>
            <a:r>
              <a:rPr lang="en-PH" sz="1800">
                <a:latin typeface="Arial"/>
                <a:ea typeface="Arial"/>
                <a:cs typeface="Arial"/>
                <a:sym typeface="Arial"/>
              </a:rPr>
              <a:t> stage - drinking occasionally with few serious consequences</a:t>
            </a:r>
            <a:endParaRPr/>
          </a:p>
          <a:p>
            <a:pPr indent="-114300" lvl="0" marL="91440" rtl="0" algn="l">
              <a:lnSpc>
                <a:spcPct val="90000"/>
              </a:lnSpc>
              <a:spcBef>
                <a:spcPts val="1400"/>
              </a:spcBef>
              <a:spcAft>
                <a:spcPts val="0"/>
              </a:spcAft>
              <a:buSzPts val="1800"/>
              <a:buFont typeface="Noto Sans Symbols"/>
              <a:buChar char="⮚"/>
            </a:pPr>
            <a:r>
              <a:rPr b="1" lang="en-PH" sz="1800">
                <a:latin typeface="Arial"/>
                <a:ea typeface="Arial"/>
                <a:cs typeface="Arial"/>
                <a:sym typeface="Arial"/>
              </a:rPr>
              <a:t> prodromal</a:t>
            </a:r>
            <a:r>
              <a:rPr lang="en-PH" sz="1800">
                <a:latin typeface="Arial"/>
                <a:ea typeface="Arial"/>
                <a:cs typeface="Arial"/>
                <a:sym typeface="Arial"/>
              </a:rPr>
              <a:t> stage - drinking heavily but with few outward signs of a problem </a:t>
            </a:r>
            <a:endParaRPr/>
          </a:p>
          <a:p>
            <a:pPr indent="-114300" lvl="0" marL="91440" rtl="0" algn="l">
              <a:lnSpc>
                <a:spcPct val="90000"/>
              </a:lnSpc>
              <a:spcBef>
                <a:spcPts val="1400"/>
              </a:spcBef>
              <a:spcAft>
                <a:spcPts val="0"/>
              </a:spcAft>
              <a:buSzPts val="1800"/>
              <a:buFont typeface="Noto Sans Symbols"/>
              <a:buChar char="⮚"/>
            </a:pPr>
            <a:r>
              <a:rPr b="1" lang="en-PH" sz="1800">
                <a:latin typeface="Arial"/>
                <a:ea typeface="Arial"/>
                <a:cs typeface="Arial"/>
                <a:sym typeface="Arial"/>
              </a:rPr>
              <a:t> crucial</a:t>
            </a:r>
            <a:r>
              <a:rPr lang="en-PH" sz="1800">
                <a:latin typeface="Arial"/>
                <a:ea typeface="Arial"/>
                <a:cs typeface="Arial"/>
                <a:sym typeface="Arial"/>
              </a:rPr>
              <a:t> stage - loss of control, with occasional binges</a:t>
            </a:r>
            <a:endParaRPr/>
          </a:p>
          <a:p>
            <a:pPr indent="-114300" lvl="0" marL="91440" rtl="0" algn="l">
              <a:lnSpc>
                <a:spcPct val="90000"/>
              </a:lnSpc>
              <a:spcBef>
                <a:spcPts val="1400"/>
              </a:spcBef>
              <a:spcAft>
                <a:spcPts val="0"/>
              </a:spcAft>
              <a:buSzPts val="1800"/>
              <a:buFont typeface="Noto Sans Symbols"/>
              <a:buChar char="⮚"/>
            </a:pPr>
            <a:r>
              <a:rPr b="1" lang="en-PH" sz="1800">
                <a:latin typeface="Arial"/>
                <a:ea typeface="Arial"/>
                <a:cs typeface="Arial"/>
                <a:sym typeface="Arial"/>
              </a:rPr>
              <a:t> chronic</a:t>
            </a:r>
            <a:r>
              <a:rPr lang="en-PH" sz="1800">
                <a:latin typeface="Arial"/>
                <a:ea typeface="Arial"/>
                <a:cs typeface="Arial"/>
                <a:sym typeface="Arial"/>
              </a:rPr>
              <a:t> stage - the primary daily activities involve getting and drinking alcohol</a:t>
            </a:r>
            <a:endParaRPr/>
          </a:p>
          <a:p>
            <a:pPr indent="0" lvl="0" marL="0" rtl="0" algn="l">
              <a:lnSpc>
                <a:spcPct val="90000"/>
              </a:lnSpc>
              <a:spcBef>
                <a:spcPts val="1400"/>
              </a:spcBef>
              <a:spcAft>
                <a:spcPts val="0"/>
              </a:spcAft>
              <a:buSzPts val="1800"/>
              <a:buNone/>
            </a:pPr>
            <a:r>
              <a:rPr lang="en-PH" sz="1800">
                <a:latin typeface="Arial"/>
                <a:ea typeface="Arial"/>
                <a:cs typeface="Arial"/>
                <a:sym typeface="Arial"/>
              </a:rPr>
              <a:t> </a:t>
            </a:r>
            <a:endParaRPr>
              <a:latin typeface="Arial"/>
              <a:ea typeface="Arial"/>
              <a:cs typeface="Arial"/>
              <a:sym typeface="Arial"/>
            </a:endParaRPr>
          </a:p>
        </p:txBody>
      </p:sp>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61"/>
          <p:cNvPicPr preferRelativeResize="0"/>
          <p:nvPr/>
        </p:nvPicPr>
        <p:blipFill rotWithShape="1">
          <a:blip r:embed="rId3">
            <a:alphaModFix/>
          </a:blip>
          <a:srcRect b="0" l="0" r="0" t="0"/>
          <a:stretch/>
        </p:blipFill>
        <p:spPr>
          <a:xfrm>
            <a:off x="1310225" y="665286"/>
            <a:ext cx="9571549" cy="5448772"/>
          </a:xfrm>
          <a:prstGeom prst="rect">
            <a:avLst/>
          </a:prstGeom>
          <a:noFill/>
          <a:ln>
            <a:noFill/>
          </a:ln>
        </p:spPr>
      </p:pic>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6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Sedative-, Hypnotic-, or Anxiolytic-Related Disorders</a:t>
            </a:r>
            <a:endParaRPr b="1">
              <a:latin typeface="Arial"/>
              <a:ea typeface="Arial"/>
              <a:cs typeface="Arial"/>
              <a:sym typeface="Arial"/>
            </a:endParaRPr>
          </a:p>
        </p:txBody>
      </p:sp>
      <p:sp>
        <p:nvSpPr>
          <p:cNvPr id="314" name="Google Shape;314;p6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107000"/>
              </a:lnSpc>
              <a:spcBef>
                <a:spcPts val="0"/>
              </a:spcBef>
              <a:spcAft>
                <a:spcPts val="0"/>
              </a:spcAft>
              <a:buSzPts val="2000"/>
              <a:buFont typeface="Arial"/>
              <a:buChar char="•"/>
            </a:pPr>
            <a:r>
              <a:rPr lang="en-PH">
                <a:latin typeface="Arial"/>
                <a:ea typeface="Arial"/>
                <a:cs typeface="Arial"/>
                <a:sym typeface="Arial"/>
              </a:rPr>
              <a:t> sedative (calming), hypnotic (sleep-inducing), and anxiolytic (anxiety-reducing) drugs</a:t>
            </a:r>
            <a:endParaRPr/>
          </a:p>
          <a:p>
            <a:pPr indent="-127000" lvl="0" marL="91440" rtl="0" algn="l">
              <a:lnSpc>
                <a:spcPct val="107000"/>
              </a:lnSpc>
              <a:spcBef>
                <a:spcPts val="2000"/>
              </a:spcBef>
              <a:spcAft>
                <a:spcPts val="0"/>
              </a:spcAft>
              <a:buSzPts val="2000"/>
              <a:buFont typeface="Arial"/>
              <a:buChar char="•"/>
            </a:pPr>
            <a:r>
              <a:rPr lang="en-PH">
                <a:latin typeface="Arial"/>
                <a:ea typeface="Arial"/>
                <a:cs typeface="Arial"/>
                <a:sym typeface="Arial"/>
              </a:rPr>
              <a:t> Barbiturates - prescribed to help people sleep and replaced such drugs as alcohol and opium</a:t>
            </a:r>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Benzodiazepines - primarily to reduce anxiety muscle relaxants</a:t>
            </a:r>
            <a:endParaRPr/>
          </a:p>
          <a:p>
            <a:pPr indent="-127000" lvl="0" marL="91440" rtl="0" algn="l">
              <a:lnSpc>
                <a:spcPct val="107000"/>
              </a:lnSpc>
              <a:spcBef>
                <a:spcPts val="2000"/>
              </a:spcBef>
              <a:spcAft>
                <a:spcPts val="0"/>
              </a:spcAft>
              <a:buSzPts val="2000"/>
              <a:buFont typeface="Arial"/>
              <a:buChar char="•"/>
            </a:pPr>
            <a:r>
              <a:rPr lang="en-PH">
                <a:latin typeface="Arial"/>
                <a:ea typeface="Arial"/>
                <a:cs typeface="Arial"/>
                <a:sym typeface="Arial"/>
              </a:rPr>
              <a:t> Overdosing on barbiturates is a common means of suicide</a:t>
            </a:r>
            <a:endParaRPr/>
          </a:p>
          <a:p>
            <a:pPr indent="-127000" lvl="0" marL="91440" rtl="0" algn="l">
              <a:lnSpc>
                <a:spcPct val="107000"/>
              </a:lnSpc>
              <a:spcBef>
                <a:spcPts val="2000"/>
              </a:spcBef>
              <a:spcAft>
                <a:spcPts val="0"/>
              </a:spcAft>
              <a:buSzPts val="2000"/>
              <a:buFont typeface="Arial"/>
              <a:buChar char="•"/>
            </a:pPr>
            <a:r>
              <a:rPr lang="en-PH">
                <a:latin typeface="Arial"/>
                <a:ea typeface="Arial"/>
                <a:cs typeface="Arial"/>
                <a:sym typeface="Arial"/>
              </a:rPr>
              <a:t> Females are more likely to seek help than men </a:t>
            </a:r>
            <a:endParaRPr/>
          </a:p>
          <a:p>
            <a:pPr indent="0" lvl="0" marL="91440" rtl="0" algn="l">
              <a:lnSpc>
                <a:spcPct val="107000"/>
              </a:lnSpc>
              <a:spcBef>
                <a:spcPts val="2000"/>
              </a:spcBef>
              <a:spcAft>
                <a:spcPts val="0"/>
              </a:spcAft>
              <a:buSzPts val="2000"/>
              <a:buFont typeface="Arial"/>
              <a:buNone/>
            </a:pPr>
            <a:r>
              <a:t/>
            </a:r>
            <a:endParaRPr>
              <a:latin typeface="Arial"/>
              <a:ea typeface="Arial"/>
              <a:cs typeface="Arial"/>
              <a:sym typeface="Arial"/>
            </a:endParaRPr>
          </a:p>
          <a:p>
            <a:pPr indent="0" lvl="0" marL="91440" rtl="0" algn="l">
              <a:lnSpc>
                <a:spcPct val="90000"/>
              </a:lnSpc>
              <a:spcBef>
                <a:spcPts val="20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6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Stimulant-Related Disorders</a:t>
            </a:r>
            <a:endParaRPr/>
          </a:p>
        </p:txBody>
      </p:sp>
      <p:sp>
        <p:nvSpPr>
          <p:cNvPr id="320" name="Google Shape;320;p6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SzPts val="1700"/>
              <a:buNone/>
            </a:pPr>
            <a:r>
              <a:rPr b="1" lang="en-PH" sz="1700">
                <a:latin typeface="Arial"/>
                <a:ea typeface="Arial"/>
                <a:cs typeface="Arial"/>
                <a:sym typeface="Arial"/>
              </a:rPr>
              <a:t>Amphetamines</a:t>
            </a:r>
            <a:endParaRPr/>
          </a:p>
          <a:p>
            <a:pPr indent="-107950" lvl="0" marL="91440" rtl="0" algn="l">
              <a:lnSpc>
                <a:spcPct val="107000"/>
              </a:lnSpc>
              <a:spcBef>
                <a:spcPts val="1400"/>
              </a:spcBef>
              <a:spcAft>
                <a:spcPts val="0"/>
              </a:spcAft>
              <a:buSzPts val="1700"/>
              <a:buFont typeface="Arial"/>
              <a:buChar char="•"/>
            </a:pPr>
            <a:r>
              <a:rPr b="1" lang="en-PH" sz="1700">
                <a:latin typeface="Arial"/>
                <a:ea typeface="Arial"/>
                <a:cs typeface="Arial"/>
                <a:sym typeface="Arial"/>
              </a:rPr>
              <a:t> </a:t>
            </a:r>
            <a:r>
              <a:rPr lang="en-PH" sz="1700">
                <a:latin typeface="Arial"/>
                <a:ea typeface="Arial"/>
                <a:cs typeface="Arial"/>
                <a:sym typeface="Arial"/>
              </a:rPr>
              <a:t>Can induce feelings of elation and vigor and can reduce fatigue; after a period of elevation, however, you come back down and “crash,” feeling depressed or tired; also reduce appetite</a:t>
            </a:r>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Prescribed for people with narcolepsy and ADHD (e.g., Ritalin, Adderall)</a:t>
            </a:r>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 </a:t>
            </a:r>
            <a:r>
              <a:rPr b="1" lang="en-PH" sz="1700">
                <a:latin typeface="Arial"/>
                <a:ea typeface="Arial"/>
                <a:cs typeface="Arial"/>
                <a:sym typeface="Arial"/>
              </a:rPr>
              <a:t>Methylene-dioxymethamphetamine (MDMA)</a:t>
            </a:r>
            <a:r>
              <a:rPr lang="en-PH" sz="1700">
                <a:latin typeface="Arial"/>
                <a:ea typeface="Arial"/>
                <a:cs typeface="Arial"/>
                <a:sym typeface="Arial"/>
              </a:rPr>
              <a:t> or commonly known as </a:t>
            </a:r>
            <a:r>
              <a:rPr b="1" lang="en-PH" sz="1700">
                <a:latin typeface="Arial"/>
                <a:ea typeface="Arial"/>
                <a:cs typeface="Arial"/>
                <a:sym typeface="Arial"/>
              </a:rPr>
              <a:t>ecstasy</a:t>
            </a:r>
            <a:r>
              <a:rPr lang="en-PH" sz="1700">
                <a:latin typeface="Arial"/>
                <a:ea typeface="Arial"/>
                <a:cs typeface="Arial"/>
                <a:sym typeface="Arial"/>
              </a:rPr>
              <a:t> is used as an appetite suppressant but is now often used as a club drug.</a:t>
            </a:r>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 </a:t>
            </a:r>
            <a:r>
              <a:rPr b="1" lang="en-PH" sz="1700">
                <a:latin typeface="Arial"/>
                <a:ea typeface="Arial"/>
                <a:cs typeface="Arial"/>
                <a:sym typeface="Arial"/>
              </a:rPr>
              <a:t>Methamphetamine (a.k.a “crystal meth” or “ice”) </a:t>
            </a:r>
            <a:r>
              <a:rPr lang="en-PH" sz="1700">
                <a:latin typeface="Arial"/>
                <a:ea typeface="Arial"/>
                <a:cs typeface="Arial"/>
                <a:sym typeface="Arial"/>
              </a:rPr>
              <a:t>– a purified, crystallized form of amphetamine; ingested through smoking; this drug causes marked aggressive tendencies and stays in the system longer than cocaine, making it particularly dangerous.</a:t>
            </a:r>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 Amphetamines stimulate the central nervous system by enhancing the activity of norepinephrine and dopamine.</a:t>
            </a:r>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 amphetamine = ↑ dopamine and norepinephrine → hallucinations and delusions</a:t>
            </a:r>
            <a:endParaRPr sz="1700">
              <a:latin typeface="Arial"/>
              <a:ea typeface="Arial"/>
              <a:cs typeface="Arial"/>
              <a:sym typeface="Arial"/>
            </a:endParaRPr>
          </a:p>
          <a:p>
            <a:pPr indent="0" lvl="0" marL="91440" rtl="0" algn="l">
              <a:lnSpc>
                <a:spcPct val="107000"/>
              </a:lnSpc>
              <a:spcBef>
                <a:spcPts val="1400"/>
              </a:spcBef>
              <a:spcAft>
                <a:spcPts val="0"/>
              </a:spcAft>
              <a:buSzPts val="1700"/>
              <a:buFont typeface="Arial"/>
              <a:buNone/>
            </a:pPr>
            <a:r>
              <a:t/>
            </a:r>
            <a:endParaRPr sz="1700">
              <a:latin typeface="Arial"/>
              <a:ea typeface="Arial"/>
              <a:cs typeface="Arial"/>
              <a:sym typeface="Arial"/>
            </a:endParaRPr>
          </a:p>
          <a:p>
            <a:pPr indent="0" lvl="0" marL="91440" rtl="0" algn="l">
              <a:lnSpc>
                <a:spcPct val="107000"/>
              </a:lnSpc>
              <a:spcBef>
                <a:spcPts val="1400"/>
              </a:spcBef>
              <a:spcAft>
                <a:spcPts val="0"/>
              </a:spcAft>
              <a:buSzPts val="1700"/>
              <a:buFont typeface="Arial"/>
              <a:buNone/>
            </a:pPr>
            <a:r>
              <a:t/>
            </a:r>
            <a:endParaRPr sz="1700">
              <a:latin typeface="Arial"/>
              <a:ea typeface="Arial"/>
              <a:cs typeface="Arial"/>
              <a:sym typeface="Arial"/>
            </a:endParaRPr>
          </a:p>
          <a:p>
            <a:pPr indent="0" lvl="0" marL="91440" rtl="0" algn="l">
              <a:lnSpc>
                <a:spcPct val="107000"/>
              </a:lnSpc>
              <a:spcBef>
                <a:spcPts val="1400"/>
              </a:spcBef>
              <a:spcAft>
                <a:spcPts val="0"/>
              </a:spcAft>
              <a:buSzPts val="1700"/>
              <a:buFont typeface="Arial"/>
              <a:buNone/>
            </a:pPr>
            <a:r>
              <a:t/>
            </a:r>
            <a:endParaRPr sz="1700">
              <a:latin typeface="Arial"/>
              <a:ea typeface="Arial"/>
              <a:cs typeface="Arial"/>
              <a:sym typeface="Arial"/>
            </a:endParaRPr>
          </a:p>
          <a:p>
            <a:pPr indent="0" lvl="0" marL="91440" rtl="0" algn="l">
              <a:lnSpc>
                <a:spcPct val="90000"/>
              </a:lnSpc>
              <a:spcBef>
                <a:spcPts val="1400"/>
              </a:spcBef>
              <a:spcAft>
                <a:spcPts val="0"/>
              </a:spcAft>
              <a:buSzPts val="1700"/>
              <a:buFont typeface="Arial"/>
              <a:buNone/>
            </a:pPr>
            <a:r>
              <a:t/>
            </a:r>
            <a:endParaRPr b="1" sz="1700">
              <a:latin typeface="Arial"/>
              <a:ea typeface="Arial"/>
              <a:cs typeface="Arial"/>
              <a:sym typeface="Arial"/>
            </a:endParaRPr>
          </a:p>
          <a:p>
            <a:pPr indent="0" lvl="0" marL="0" rtl="0" algn="l">
              <a:lnSpc>
                <a:spcPct val="90000"/>
              </a:lnSpc>
              <a:spcBef>
                <a:spcPts val="1400"/>
              </a:spcBef>
              <a:spcAft>
                <a:spcPts val="0"/>
              </a:spcAft>
              <a:buSzPts val="1700"/>
              <a:buNone/>
            </a:pPr>
            <a:r>
              <a:t/>
            </a:r>
            <a:endParaRPr sz="1700">
              <a:latin typeface="Arial"/>
              <a:ea typeface="Arial"/>
              <a:cs typeface="Arial"/>
              <a:sym typeface="Arial"/>
            </a:endParaRPr>
          </a:p>
          <a:p>
            <a:pPr indent="0" lvl="0" marL="91440" rtl="0" algn="l">
              <a:lnSpc>
                <a:spcPct val="90000"/>
              </a:lnSpc>
              <a:spcBef>
                <a:spcPts val="1400"/>
              </a:spcBef>
              <a:spcAft>
                <a:spcPts val="0"/>
              </a:spcAft>
              <a:buSzPts val="1700"/>
              <a:buFont typeface="Arial"/>
              <a:buNone/>
            </a:pPr>
            <a:r>
              <a:t/>
            </a:r>
            <a:endParaRPr sz="1700">
              <a:latin typeface="Arial"/>
              <a:ea typeface="Arial"/>
              <a:cs typeface="Arial"/>
              <a:sym typeface="Arial"/>
            </a:endParaRPr>
          </a:p>
        </p:txBody>
      </p:sp>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Stimulant-Related Disorders</a:t>
            </a:r>
            <a:endParaRPr/>
          </a:p>
        </p:txBody>
      </p:sp>
      <p:sp>
        <p:nvSpPr>
          <p:cNvPr id="326" name="Google Shape;326;p6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0" lvl="0" marL="0" rtl="0" algn="l">
              <a:lnSpc>
                <a:spcPct val="90000"/>
              </a:lnSpc>
              <a:spcBef>
                <a:spcPts val="0"/>
              </a:spcBef>
              <a:spcAft>
                <a:spcPts val="0"/>
              </a:spcAft>
              <a:buSzPts val="1800"/>
              <a:buNone/>
            </a:pPr>
            <a:r>
              <a:rPr b="1" lang="en-PH" sz="1800">
                <a:latin typeface="Arial"/>
                <a:ea typeface="Arial"/>
                <a:cs typeface="Arial"/>
                <a:sym typeface="Arial"/>
              </a:rPr>
              <a:t>Cocaine</a:t>
            </a:r>
            <a:endParaRPr/>
          </a:p>
          <a:p>
            <a:pPr indent="-114300" lvl="0" marL="91440" rtl="0" algn="l">
              <a:lnSpc>
                <a:spcPct val="107000"/>
              </a:lnSpc>
              <a:spcBef>
                <a:spcPts val="1400"/>
              </a:spcBef>
              <a:spcAft>
                <a:spcPts val="0"/>
              </a:spcAft>
              <a:buSzPts val="1800"/>
              <a:buFont typeface="Arial"/>
              <a:buChar char="•"/>
            </a:pPr>
            <a:r>
              <a:rPr b="1" lang="en-PH" sz="1800">
                <a:latin typeface="Arial"/>
                <a:ea typeface="Arial"/>
                <a:cs typeface="Arial"/>
                <a:sym typeface="Arial"/>
              </a:rPr>
              <a:t> </a:t>
            </a:r>
            <a:r>
              <a:rPr lang="en-PH" sz="1800">
                <a:latin typeface="Arial"/>
                <a:ea typeface="Arial"/>
                <a:cs typeface="Arial"/>
                <a:sym typeface="Arial"/>
              </a:rPr>
              <a:t>relief from hunger and fatigue</a:t>
            </a:r>
            <a:endParaRPr sz="1800">
              <a:latin typeface="Calibri"/>
              <a:ea typeface="Calibri"/>
              <a:cs typeface="Calibri"/>
              <a:sym typeface="Calibri"/>
            </a:endParaRPr>
          </a:p>
          <a:p>
            <a:pPr indent="-114300" lvl="0" marL="91440" rtl="0" algn="l">
              <a:lnSpc>
                <a:spcPct val="107000"/>
              </a:lnSpc>
              <a:spcBef>
                <a:spcPts val="1400"/>
              </a:spcBef>
              <a:spcAft>
                <a:spcPts val="0"/>
              </a:spcAft>
              <a:buSzPts val="1800"/>
              <a:buFont typeface="Arial"/>
              <a:buChar char="•"/>
            </a:pPr>
            <a:r>
              <a:rPr lang="en-PH" sz="1800">
                <a:latin typeface="Arial"/>
                <a:ea typeface="Arial"/>
                <a:cs typeface="Arial"/>
                <a:sym typeface="Arial"/>
              </a:rPr>
              <a:t> increases alertness, produces euphoria, increases blood pressure and pulse, and causes insomnia and loss of appetite</a:t>
            </a:r>
            <a:endParaRPr/>
          </a:p>
          <a:p>
            <a:pPr indent="-114300" lvl="0" marL="91440" rtl="0" algn="l">
              <a:lnSpc>
                <a:spcPct val="107000"/>
              </a:lnSpc>
              <a:spcBef>
                <a:spcPts val="1400"/>
              </a:spcBef>
              <a:spcAft>
                <a:spcPts val="0"/>
              </a:spcAft>
              <a:buSzPts val="1800"/>
              <a:buFont typeface="Arial"/>
              <a:buChar char="•"/>
            </a:pPr>
            <a:r>
              <a:rPr lang="en-PH" sz="1800">
                <a:latin typeface="Arial"/>
                <a:ea typeface="Arial"/>
                <a:cs typeface="Arial"/>
                <a:sym typeface="Arial"/>
              </a:rPr>
              <a:t> Worldwide, almost 5% of adults report using cocaine at some point in their lives.</a:t>
            </a:r>
            <a:endParaRPr sz="1800">
              <a:latin typeface="Calibri"/>
              <a:ea typeface="Calibri"/>
              <a:cs typeface="Calibri"/>
              <a:sym typeface="Calibri"/>
            </a:endParaRPr>
          </a:p>
          <a:p>
            <a:pPr indent="-114300" lvl="0" marL="91440" rtl="0" algn="l">
              <a:lnSpc>
                <a:spcPct val="107000"/>
              </a:lnSpc>
              <a:spcBef>
                <a:spcPts val="1400"/>
              </a:spcBef>
              <a:spcAft>
                <a:spcPts val="0"/>
              </a:spcAft>
              <a:buSzPts val="1800"/>
              <a:buFont typeface="Arial"/>
              <a:buChar char="•"/>
            </a:pPr>
            <a:r>
              <a:rPr lang="en-PH" sz="1800">
                <a:latin typeface="Arial"/>
                <a:ea typeface="Arial"/>
                <a:cs typeface="Arial"/>
                <a:sym typeface="Arial"/>
              </a:rPr>
              <a:t> Those aged 18 to 25 are about twice as likely to use cocaine compared with other age groups.</a:t>
            </a:r>
            <a:endParaRPr sz="1800">
              <a:latin typeface="Calibri"/>
              <a:ea typeface="Calibri"/>
              <a:cs typeface="Calibri"/>
              <a:sym typeface="Calibri"/>
            </a:endParaRPr>
          </a:p>
          <a:p>
            <a:pPr indent="-114300" lvl="0" marL="91440" rtl="0" algn="l">
              <a:lnSpc>
                <a:spcPct val="107000"/>
              </a:lnSpc>
              <a:spcBef>
                <a:spcPts val="1400"/>
              </a:spcBef>
              <a:spcAft>
                <a:spcPts val="0"/>
              </a:spcAft>
              <a:buSzPts val="1800"/>
              <a:buFont typeface="Arial"/>
              <a:buChar char="•"/>
            </a:pPr>
            <a:r>
              <a:rPr lang="en-PH" sz="1800">
                <a:latin typeface="Arial"/>
                <a:ea typeface="Arial"/>
                <a:cs typeface="Arial"/>
                <a:sym typeface="Arial"/>
              </a:rPr>
              <a:t> Men are twice as likely to use cocaine as women.</a:t>
            </a:r>
            <a:endParaRPr/>
          </a:p>
          <a:p>
            <a:pPr indent="-114300" lvl="0" marL="91440" rtl="0" algn="l">
              <a:lnSpc>
                <a:spcPct val="107000"/>
              </a:lnSpc>
              <a:spcBef>
                <a:spcPts val="2000"/>
              </a:spcBef>
              <a:spcAft>
                <a:spcPts val="0"/>
              </a:spcAft>
              <a:buSzPts val="1800"/>
              <a:buFont typeface="Arial"/>
              <a:buChar char="•"/>
            </a:pPr>
            <a:r>
              <a:rPr lang="en-PH" sz="1800">
                <a:latin typeface="Arial"/>
                <a:ea typeface="Arial"/>
                <a:cs typeface="Arial"/>
                <a:sym typeface="Arial"/>
              </a:rPr>
              <a:t> The “up” seems to come primarily from the effect of cocaine on the dopamine system. This stimulation of the dopamine neurons in the “pleasure pathway” causes the high associated with cocaine use.</a:t>
            </a:r>
            <a:endParaRPr sz="1800">
              <a:latin typeface="Calibri"/>
              <a:ea typeface="Calibri"/>
              <a:cs typeface="Calibri"/>
              <a:sym typeface="Calibri"/>
            </a:endParaRPr>
          </a:p>
          <a:p>
            <a:pPr indent="0" lvl="0" marL="91440" rtl="0" algn="l">
              <a:lnSpc>
                <a:spcPct val="107000"/>
              </a:lnSpc>
              <a:spcBef>
                <a:spcPts val="1400"/>
              </a:spcBef>
              <a:spcAft>
                <a:spcPts val="0"/>
              </a:spcAft>
              <a:buSzPts val="1800"/>
              <a:buFont typeface="Arial"/>
              <a:buNone/>
            </a:pPr>
            <a:r>
              <a:t/>
            </a:r>
            <a:endParaRPr sz="1800">
              <a:latin typeface="Calibri"/>
              <a:ea typeface="Calibri"/>
              <a:cs typeface="Calibri"/>
              <a:sym typeface="Calibri"/>
            </a:endParaRPr>
          </a:p>
          <a:p>
            <a:pPr indent="0" lvl="0" marL="91440" rtl="0" algn="l">
              <a:lnSpc>
                <a:spcPct val="107000"/>
              </a:lnSpc>
              <a:spcBef>
                <a:spcPts val="2000"/>
              </a:spcBef>
              <a:spcAft>
                <a:spcPts val="0"/>
              </a:spcAft>
              <a:buSzPts val="1800"/>
              <a:buFont typeface="Arial"/>
              <a:buNone/>
            </a:pPr>
            <a:r>
              <a:t/>
            </a:r>
            <a:endParaRPr sz="1800">
              <a:latin typeface="Calibri"/>
              <a:ea typeface="Calibri"/>
              <a:cs typeface="Calibri"/>
              <a:sym typeface="Calibri"/>
            </a:endParaRPr>
          </a:p>
          <a:p>
            <a:pPr indent="0" lvl="0" marL="91440" rtl="0" algn="l">
              <a:lnSpc>
                <a:spcPct val="90000"/>
              </a:lnSpc>
              <a:spcBef>
                <a:spcPts val="1400"/>
              </a:spcBef>
              <a:spcAft>
                <a:spcPts val="0"/>
              </a:spcAft>
              <a:buSzPts val="1800"/>
              <a:buFont typeface="Arial"/>
              <a:buNone/>
            </a:pPr>
            <a:r>
              <a:t/>
            </a:r>
            <a:endParaRPr sz="1800">
              <a:latin typeface="Calibri"/>
              <a:ea typeface="Calibri"/>
              <a:cs typeface="Calibri"/>
              <a:sym typeface="Calibri"/>
            </a:endParaRPr>
          </a:p>
          <a:p>
            <a:pPr indent="0" lvl="0" marL="0" rtl="0" algn="l">
              <a:lnSpc>
                <a:spcPct val="90000"/>
              </a:lnSpc>
              <a:spcBef>
                <a:spcPts val="1400"/>
              </a:spcBef>
              <a:spcAft>
                <a:spcPts val="0"/>
              </a:spcAft>
              <a:buSzPts val="2000"/>
              <a:buNone/>
            </a:pPr>
            <a:r>
              <a:t/>
            </a:r>
            <a:endParaRPr/>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Stimulant-Related Disorders</a:t>
            </a:r>
            <a:endParaRPr/>
          </a:p>
        </p:txBody>
      </p:sp>
      <p:sp>
        <p:nvSpPr>
          <p:cNvPr id="332" name="Google Shape;332;p6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PH">
                <a:latin typeface="Arial"/>
                <a:ea typeface="Arial"/>
                <a:cs typeface="Arial"/>
                <a:sym typeface="Arial"/>
              </a:rPr>
              <a:t>Nicotine</a:t>
            </a:r>
            <a:endParaRPr/>
          </a:p>
          <a:p>
            <a:pPr indent="-127000" lvl="0" marL="91440" rtl="0" algn="l">
              <a:lnSpc>
                <a:spcPct val="90000"/>
              </a:lnSpc>
              <a:spcBef>
                <a:spcPts val="1400"/>
              </a:spcBef>
              <a:spcAft>
                <a:spcPts val="0"/>
              </a:spcAft>
              <a:buSzPts val="2000"/>
              <a:buFont typeface="Arial"/>
              <a:buChar char="•"/>
            </a:pPr>
            <a:r>
              <a:rPr b="1" lang="en-PH">
                <a:latin typeface="Arial"/>
                <a:ea typeface="Arial"/>
                <a:cs typeface="Arial"/>
                <a:sym typeface="Arial"/>
              </a:rPr>
              <a:t> </a:t>
            </a:r>
            <a:r>
              <a:rPr lang="en-PH">
                <a:latin typeface="Arial"/>
                <a:ea typeface="Arial"/>
                <a:cs typeface="Arial"/>
                <a:sym typeface="Arial"/>
              </a:rPr>
              <a:t>Withdrawal symptoms include depressed mood, insomnia, irritability, anxiety, difficulty concentrating, restlessness, and increased appetite and weight gain</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Only 7 to 19 seconds after a person inhales the smoke, the nicotine reaches the brain </a:t>
            </a:r>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Smoking has been linked with signs of negative affect, such as depression, anxiety, and anger.</a:t>
            </a:r>
            <a:endParaRPr>
              <a:latin typeface="Arial"/>
              <a:ea typeface="Arial"/>
              <a:cs typeface="Arial"/>
              <a:sym typeface="Arial"/>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Genetic studies suggest that a genetic vulnerability combined with certain life stresses may combine to make you vulnerable to both a nicotine use disorder and depression</a:t>
            </a:r>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7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Stimulant-Related Disorders</a:t>
            </a:r>
            <a:endParaRPr/>
          </a:p>
        </p:txBody>
      </p:sp>
      <p:sp>
        <p:nvSpPr>
          <p:cNvPr id="338" name="Google Shape;338;p7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PH">
                <a:latin typeface="Arial"/>
                <a:ea typeface="Arial"/>
                <a:cs typeface="Arial"/>
                <a:sym typeface="Arial"/>
              </a:rPr>
              <a:t>Caffeine</a:t>
            </a:r>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It is the most common of the psychoactive substances</a:t>
            </a:r>
            <a:endParaRPr>
              <a:latin typeface="Arial"/>
              <a:ea typeface="Arial"/>
              <a:cs typeface="Arial"/>
              <a:sym typeface="Arial"/>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Called the “gentle stimulant” because it is thought to be the least harmful of all addictive drugs</a:t>
            </a:r>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Found in tea, coffee, many soda drinks, and cocoa products.</a:t>
            </a:r>
            <a:endParaRPr>
              <a:latin typeface="Arial"/>
              <a:ea typeface="Arial"/>
              <a:cs typeface="Arial"/>
              <a:sym typeface="Arial"/>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Caffeine seems to block adenosine reuptake. Adenosine plays an important role on the release of dopamine and glutamate, which may explain the elation and increased energy that come with caffeine use. </a:t>
            </a:r>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7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Opioid-Related Disorders</a:t>
            </a:r>
            <a:endParaRPr/>
          </a:p>
        </p:txBody>
      </p:sp>
      <p:sp>
        <p:nvSpPr>
          <p:cNvPr id="344" name="Google Shape;344;p7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107000"/>
              </a:lnSpc>
              <a:spcBef>
                <a:spcPts val="0"/>
              </a:spcBef>
              <a:spcAft>
                <a:spcPts val="0"/>
              </a:spcAft>
              <a:buSzPts val="2000"/>
              <a:buFont typeface="Arial"/>
              <a:buChar char="•"/>
            </a:pPr>
            <a:r>
              <a:rPr lang="en-PH">
                <a:latin typeface="Arial"/>
                <a:ea typeface="Arial"/>
                <a:cs typeface="Arial"/>
                <a:sym typeface="Arial"/>
              </a:rPr>
              <a:t> Opiate refers to the natural chemicals that have a narcotic effect - relieve pain and induce sleep</a:t>
            </a:r>
            <a:endParaRPr>
              <a:latin typeface="Calibri"/>
              <a:ea typeface="Calibri"/>
              <a:cs typeface="Calibri"/>
              <a:sym typeface="Calibri"/>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Opioids refers to the family of substances that includes natural opiates, synthetic variations (heroin, methadone, hydrocodone, oxycodone)</a:t>
            </a:r>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Research suggests that mortality rates in this population range from 6 to 20 times higher than the general population’s</a:t>
            </a:r>
            <a:endParaRPr>
              <a:latin typeface="Calibri"/>
              <a:ea typeface="Calibri"/>
              <a:cs typeface="Calibri"/>
              <a:sym typeface="Calibri"/>
            </a:endParaRPr>
          </a:p>
          <a:p>
            <a:pPr indent="-127000" lvl="0" marL="91440" rtl="0" algn="l">
              <a:lnSpc>
                <a:spcPct val="107000"/>
              </a:lnSpc>
              <a:spcBef>
                <a:spcPts val="1400"/>
              </a:spcBef>
              <a:spcAft>
                <a:spcPts val="0"/>
              </a:spcAft>
              <a:buSzPts val="2000"/>
              <a:buFont typeface="Arial"/>
              <a:buChar char="•"/>
            </a:pPr>
            <a:r>
              <a:rPr lang="en-PH">
                <a:latin typeface="Calibri"/>
                <a:ea typeface="Calibri"/>
                <a:cs typeface="Calibri"/>
                <a:sym typeface="Calibri"/>
              </a:rPr>
              <a:t> </a:t>
            </a:r>
            <a:r>
              <a:rPr lang="en-PH">
                <a:latin typeface="Arial"/>
                <a:ea typeface="Arial"/>
                <a:cs typeface="Arial"/>
                <a:sym typeface="Arial"/>
              </a:rPr>
              <a:t>Persistence opioid use may be related to comorbid psychological disorders and sexual or physical abuse</a:t>
            </a:r>
            <a:endParaRPr>
              <a:latin typeface="Calibri"/>
              <a:ea typeface="Calibri"/>
              <a:cs typeface="Calibri"/>
              <a:sym typeface="Calibri"/>
            </a:endParaRPr>
          </a:p>
          <a:p>
            <a:pPr indent="0" lvl="0" marL="91440" rtl="0" algn="l">
              <a:lnSpc>
                <a:spcPct val="90000"/>
              </a:lnSpc>
              <a:spcBef>
                <a:spcPts val="1400"/>
              </a:spcBef>
              <a:spcAft>
                <a:spcPts val="0"/>
              </a:spcAft>
              <a:buSzPts val="2000"/>
              <a:buNone/>
            </a:pPr>
            <a:r>
              <a:t/>
            </a:r>
            <a:endParaRPr/>
          </a:p>
        </p:txBody>
      </p:sp>
    </p:spTree>
  </p:cSld>
  <p:clrMapOvr>
    <a:masterClrMapping/>
  </p:clrMapOvr>
  <p:transition spd="med">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7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Hallucinogen-Related Disorders</a:t>
            </a:r>
            <a:endParaRPr/>
          </a:p>
        </p:txBody>
      </p:sp>
      <p:sp>
        <p:nvSpPr>
          <p:cNvPr id="350" name="Google Shape;350;p7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LSD (d-lysergic acid diethylamide), sometimes referred to as “acid,” is the most common hallucinogenic drug</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Psilocybin is found in certain species of mushrooms</a:t>
            </a:r>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Perceptual changes such as the subjective intensification of perceptions, depersonalization, and hallucinations. Physical symptoms include pupillary dilation, rapid heartbeat, sweating, and blurred vision</a:t>
            </a:r>
            <a:endParaRPr>
              <a:latin typeface="Arial"/>
              <a:ea typeface="Arial"/>
              <a:cs typeface="Arial"/>
              <a:sym typeface="Arial"/>
            </a:endParaRPr>
          </a:p>
          <a:p>
            <a:pPr indent="-127000" lvl="0" marL="91440" rtl="0" algn="l">
              <a:lnSpc>
                <a:spcPct val="107000"/>
              </a:lnSpc>
              <a:spcBef>
                <a:spcPts val="1400"/>
              </a:spcBef>
              <a:spcAft>
                <a:spcPts val="0"/>
              </a:spcAft>
              <a:buSzPts val="2000"/>
              <a:buFont typeface="Arial"/>
              <a:buChar char="•"/>
            </a:pPr>
            <a:r>
              <a:rPr lang="en-PH">
                <a:latin typeface="Arial"/>
                <a:ea typeface="Arial"/>
                <a:cs typeface="Arial"/>
                <a:sym typeface="Arial"/>
              </a:rPr>
              <a:t> People do report having “bad trips”; these are the sort of frightening episodes in which clouds turn into threatening monsters or deep feelings of paranoia take over</a:t>
            </a:r>
            <a:endParaRPr/>
          </a:p>
        </p:txBody>
      </p:sp>
    </p:spTree>
  </p:cSld>
  <p:clrMapOvr>
    <a:masterClrMapping/>
  </p:clrMapOvr>
  <p:transition spd="med">
    <p:push/>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7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Hallucinogen-Related Disorders</a:t>
            </a:r>
            <a:endParaRPr/>
          </a:p>
        </p:txBody>
      </p:sp>
      <p:sp>
        <p:nvSpPr>
          <p:cNvPr id="356" name="Google Shape;356;p7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PH">
                <a:latin typeface="Arial"/>
                <a:ea typeface="Arial"/>
                <a:cs typeface="Arial"/>
                <a:sym typeface="Arial"/>
              </a:rPr>
              <a:t>Cannabis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Marijuana is the name given to the dried parts of the cannabis or hemp plant; aka “weed.”</a:t>
            </a:r>
            <a:endParaRPr>
              <a:latin typeface="Arial"/>
              <a:ea typeface="Arial"/>
              <a:cs typeface="Arial"/>
              <a:sym typeface="Arial"/>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People who smoke marijuana often experience altered perceptions of the world and is believed to alter mood and behavior</a:t>
            </a:r>
            <a:endParaRPr>
              <a:latin typeface="Arial"/>
              <a:ea typeface="Arial"/>
              <a:cs typeface="Arial"/>
              <a:sym typeface="Arial"/>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Normal experiences seem extremely funny, or the person might enter a dreamlike state in which time seems to stand still. Users often report heightened sensory experiences and seeing vivid colors</a:t>
            </a:r>
            <a:endParaRPr>
              <a:latin typeface="Arial"/>
              <a:ea typeface="Arial"/>
              <a:cs typeface="Arial"/>
              <a:sym typeface="Arial"/>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Research on frequent cannabis users suggests that impairments of memory, concentration, relationships with others, and employment may be negative outcomes of long-term use</a:t>
            </a:r>
            <a:endParaRPr/>
          </a:p>
          <a:p>
            <a:pPr indent="0" lvl="0" marL="91440" rtl="0" algn="l">
              <a:lnSpc>
                <a:spcPct val="90000"/>
              </a:lnSpc>
              <a:spcBef>
                <a:spcPts val="1400"/>
              </a:spcBef>
              <a:spcAft>
                <a:spcPts val="0"/>
              </a:spcAft>
              <a:buSzPts val="2000"/>
              <a:buNone/>
            </a:pPr>
            <a:r>
              <a:t/>
            </a:r>
            <a:endParaRPr b="1">
              <a:latin typeface="Arial"/>
              <a:ea typeface="Arial"/>
              <a:cs typeface="Arial"/>
              <a:sym typeface="Arial"/>
            </a:endParaRPr>
          </a:p>
          <a:p>
            <a:pPr indent="0" lvl="0" marL="91440" rtl="0" algn="l">
              <a:lnSpc>
                <a:spcPct val="90000"/>
              </a:lnSpc>
              <a:spcBef>
                <a:spcPts val="14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7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PH"/>
              <a:t>Other Drugs of Abuse</a:t>
            </a:r>
            <a:endParaRPr/>
          </a:p>
        </p:txBody>
      </p:sp>
      <p:sp>
        <p:nvSpPr>
          <p:cNvPr id="362" name="Google Shape;362;p76"/>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SzPts val="2000"/>
              <a:buNone/>
            </a:pPr>
            <a:r>
              <a:rPr b="1" lang="en-PH">
                <a:latin typeface="Arial"/>
                <a:ea typeface="Arial"/>
                <a:cs typeface="Arial"/>
                <a:sym typeface="Arial"/>
              </a:rPr>
              <a:t>Inhalants</a:t>
            </a:r>
            <a:r>
              <a:rPr lang="en-PH">
                <a:latin typeface="Arial"/>
                <a:ea typeface="Arial"/>
                <a:cs typeface="Arial"/>
                <a:sym typeface="Arial"/>
              </a:rPr>
              <a:t> </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Include a variety of substances found in volatile solvents—making them available to breathe into the lungs directly</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Inhalant use is highest during early adolescence, ages 13 to 14</a:t>
            </a:r>
            <a:endParaRPr>
              <a:latin typeface="Arial"/>
              <a:ea typeface="Arial"/>
              <a:cs typeface="Arial"/>
              <a:sym typeface="Arial"/>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Can increase aggressive and antisocial behavior</a:t>
            </a:r>
            <a:endParaRPr>
              <a:latin typeface="Arial"/>
              <a:ea typeface="Arial"/>
              <a:cs typeface="Arial"/>
              <a:sym typeface="Arial"/>
            </a:endParaRPr>
          </a:p>
          <a:p>
            <a:pPr indent="0" lvl="0" marL="0" rtl="0" algn="l">
              <a:lnSpc>
                <a:spcPct val="90000"/>
              </a:lnSpc>
              <a:spcBef>
                <a:spcPts val="1400"/>
              </a:spcBef>
              <a:spcAft>
                <a:spcPts val="0"/>
              </a:spcAft>
              <a:buSzPts val="2000"/>
              <a:buNone/>
            </a:pPr>
            <a:r>
              <a:rPr b="1" lang="en-PH">
                <a:latin typeface="Arial"/>
                <a:ea typeface="Arial"/>
                <a:cs typeface="Arial"/>
                <a:sym typeface="Arial"/>
              </a:rPr>
              <a:t>Steroids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The legitimate medical uses of these drugs focus on people with asthma, anemia, breast cancer, and males with inadequate sexual development</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Used to enhance performance and body size</a:t>
            </a:r>
            <a:endParaRPr>
              <a:latin typeface="Arial"/>
              <a:ea typeface="Arial"/>
              <a:cs typeface="Arial"/>
              <a:sym typeface="Arial"/>
            </a:endParaRPr>
          </a:p>
          <a:p>
            <a:pPr indent="0" lvl="0" marL="0" rtl="0" algn="l">
              <a:lnSpc>
                <a:spcPct val="90000"/>
              </a:lnSpc>
              <a:spcBef>
                <a:spcPts val="1400"/>
              </a:spcBef>
              <a:spcAft>
                <a:spcPts val="0"/>
              </a:spcAft>
              <a:buSzPts val="2000"/>
              <a:buNone/>
            </a:pPr>
            <a:r>
              <a:rPr b="1" lang="en-PH">
                <a:latin typeface="Arial"/>
                <a:ea typeface="Arial"/>
                <a:cs typeface="Arial"/>
                <a:sym typeface="Arial"/>
              </a:rPr>
              <a:t>Other Medications</a:t>
            </a:r>
            <a:endParaRPr/>
          </a:p>
        </p:txBody>
      </p:sp>
    </p:spTree>
  </p:cSld>
  <p:clrMapOvr>
    <a:masterClrMapping/>
  </p:clrMapOvr>
  <p:transition spd="med">
    <p:push/>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7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CAUSES</a:t>
            </a:r>
            <a:endParaRPr/>
          </a:p>
        </p:txBody>
      </p:sp>
      <p:sp>
        <p:nvSpPr>
          <p:cNvPr id="369" name="Google Shape;369;p7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PH">
                <a:latin typeface="Arial"/>
                <a:ea typeface="Arial"/>
                <a:cs typeface="Arial"/>
                <a:sym typeface="Arial"/>
              </a:rPr>
              <a:t>Biological</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Researchers conducting twin, family, and adoption and other genetic studies have found that certain people are genetically vulnerable to drug abuse</a:t>
            </a:r>
            <a:endParaRPr/>
          </a:p>
          <a:p>
            <a:pPr indent="-127000" lvl="0" marL="91440" rtl="0" algn="l">
              <a:lnSpc>
                <a:spcPct val="90000"/>
              </a:lnSpc>
              <a:spcBef>
                <a:spcPts val="1400"/>
              </a:spcBef>
              <a:spcAft>
                <a:spcPts val="0"/>
              </a:spcAft>
              <a:buSzPts val="2000"/>
              <a:buChar char=" "/>
            </a:pPr>
            <a:r>
              <a:rPr b="1" lang="en-PH">
                <a:latin typeface="Arial"/>
                <a:ea typeface="Arial"/>
                <a:cs typeface="Arial"/>
                <a:sym typeface="Arial"/>
              </a:rPr>
              <a:t>Psychological</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Positive reinforcement – drugs taken gives pleasurable feeling or experience</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Negative reinforcement – drugs help remove unpleasant experiences such as pain, feelings of illness, or anxiety. For instance, we take aspirin not because it makes us feel good but because it stops us from feeling bad.</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Opponent-process theory - an increase in positive feelings will be followed shortly by an increase in negative feelings. Similarly, an increase in negative feelings will be followed by a period of positive feelings.</a:t>
            </a:r>
            <a:endParaRPr>
              <a:latin typeface="Arial"/>
              <a:ea typeface="Arial"/>
              <a:cs typeface="Arial"/>
              <a:sym typeface="Arial"/>
            </a:endParaRPr>
          </a:p>
        </p:txBody>
      </p:sp>
    </p:spTree>
  </p:cSld>
  <p:clrMapOvr>
    <a:masterClrMapping/>
  </p:clrMapOvr>
  <p:transition spd="med">
    <p:push/>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7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CAUSES</a:t>
            </a:r>
            <a:endParaRPr/>
          </a:p>
        </p:txBody>
      </p:sp>
      <p:sp>
        <p:nvSpPr>
          <p:cNvPr id="375" name="Google Shape;375;p7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p>
            <a:pPr indent="-114300" lvl="0" marL="91440" rtl="0" algn="l">
              <a:lnSpc>
                <a:spcPct val="90000"/>
              </a:lnSpc>
              <a:spcBef>
                <a:spcPts val="0"/>
              </a:spcBef>
              <a:spcAft>
                <a:spcPts val="0"/>
              </a:spcAft>
              <a:buSzPts val="1800"/>
              <a:buChar char=" "/>
            </a:pPr>
            <a:r>
              <a:rPr b="1" lang="en-PH" sz="1800">
                <a:latin typeface="Arial"/>
                <a:ea typeface="Arial"/>
                <a:cs typeface="Arial"/>
                <a:sym typeface="Arial"/>
              </a:rPr>
              <a:t>Cognitive</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Expectancy effect - what people expect to experience when they use drugs influences how they react to them</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Studies suggest that adolescents may begin drinking or using other drugs partly because they believe these substances will have positive effects</a:t>
            </a:r>
            <a:endParaRPr/>
          </a:p>
          <a:p>
            <a:pPr indent="-114300" lvl="0" marL="91440" rtl="0" algn="l">
              <a:lnSpc>
                <a:spcPct val="90000"/>
              </a:lnSpc>
              <a:spcBef>
                <a:spcPts val="1400"/>
              </a:spcBef>
              <a:spcAft>
                <a:spcPts val="0"/>
              </a:spcAft>
              <a:buSzPts val="1800"/>
              <a:buChar char=" "/>
            </a:pPr>
            <a:r>
              <a:rPr b="1" lang="en-PH" sz="1800">
                <a:latin typeface="Arial"/>
                <a:ea typeface="Arial"/>
                <a:cs typeface="Arial"/>
                <a:sym typeface="Arial"/>
              </a:rPr>
              <a:t>Social</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Peer pressure and Media</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Drug use is seen as a failure of self-control in the face of temptation</a:t>
            </a:r>
            <a:endParaRPr/>
          </a:p>
          <a:p>
            <a:pPr indent="-114300" lvl="0" marL="91440" rtl="0" algn="l">
              <a:lnSpc>
                <a:spcPct val="90000"/>
              </a:lnSpc>
              <a:spcBef>
                <a:spcPts val="1400"/>
              </a:spcBef>
              <a:spcAft>
                <a:spcPts val="0"/>
              </a:spcAft>
              <a:buSzPts val="1800"/>
              <a:buChar char=" "/>
            </a:pPr>
            <a:r>
              <a:rPr b="1" lang="en-PH" sz="1800">
                <a:latin typeface="Arial"/>
                <a:ea typeface="Arial"/>
                <a:cs typeface="Arial"/>
                <a:sym typeface="Arial"/>
              </a:rPr>
              <a:t>Cultural</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Cultural norms affect the rates of substance use.</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In Korea, people are expected to drink alcohol heavily on certain social occasions</a:t>
            </a:r>
            <a:endParaRPr/>
          </a:p>
          <a:p>
            <a:pPr indent="0" lvl="0" marL="91440" rtl="0" algn="l">
              <a:lnSpc>
                <a:spcPct val="90000"/>
              </a:lnSpc>
              <a:spcBef>
                <a:spcPts val="1400"/>
              </a:spcBef>
              <a:spcAft>
                <a:spcPts val="0"/>
              </a:spcAft>
              <a:buSzPts val="1800"/>
              <a:buNone/>
            </a:pPr>
            <a:r>
              <a:t/>
            </a:r>
            <a:endParaRPr sz="1800">
              <a:latin typeface="Arial"/>
              <a:ea typeface="Arial"/>
              <a:cs typeface="Arial"/>
              <a:sym typeface="Arial"/>
            </a:endParaRPr>
          </a:p>
        </p:txBody>
      </p:sp>
    </p:spTree>
  </p:cSld>
  <p:clrMapOvr>
    <a:masterClrMapping/>
  </p:clrMapOvr>
  <p:transition spd="med">
    <p:push/>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8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TREATMENT</a:t>
            </a:r>
            <a:endParaRPr/>
          </a:p>
        </p:txBody>
      </p:sp>
      <p:sp>
        <p:nvSpPr>
          <p:cNvPr id="381" name="Google Shape;381;p81"/>
          <p:cNvSpPr txBox="1"/>
          <p:nvPr>
            <p:ph idx="1" type="body"/>
          </p:nvPr>
        </p:nvSpPr>
        <p:spPr>
          <a:xfrm>
            <a:off x="1097280" y="1845734"/>
            <a:ext cx="6602931"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Font typeface="Arial"/>
              <a:buChar char="•"/>
            </a:pPr>
            <a:r>
              <a:rPr lang="en-PH"/>
              <a:t> </a:t>
            </a:r>
            <a:r>
              <a:rPr lang="en-PH" sz="1800">
                <a:latin typeface="Arial"/>
                <a:ea typeface="Arial"/>
                <a:cs typeface="Arial"/>
                <a:sym typeface="Arial"/>
              </a:rPr>
              <a:t>it is estimated that fewer than 25% of the people who have significant problems with substance use seek treatment for their problems</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the first step is to help someone through the withdrawal process; typically, the ultimate goal is abstinence</a:t>
            </a:r>
            <a:endParaRPr sz="1800">
              <a:latin typeface="Arial"/>
              <a:ea typeface="Arial"/>
              <a:cs typeface="Arial"/>
              <a:sym typeface="Arial"/>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teach skills for coping with life stressors</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 </a:t>
            </a:r>
            <a:r>
              <a:rPr b="1" lang="en-PH" sz="1800">
                <a:latin typeface="Arial"/>
                <a:ea typeface="Arial"/>
                <a:cs typeface="Arial"/>
                <a:sym typeface="Arial"/>
              </a:rPr>
              <a:t>Agonist substitution </a:t>
            </a:r>
            <a:r>
              <a:rPr lang="en-PH" sz="1800">
                <a:latin typeface="Arial"/>
                <a:ea typeface="Arial"/>
                <a:cs typeface="Arial"/>
                <a:sym typeface="Arial"/>
              </a:rPr>
              <a:t>involves providing the person with a safe drug that has a chemical makeup similar to the addictive drug</a:t>
            </a:r>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Methadone is an opiate agonist that is often given as a heroin substitute</a:t>
            </a:r>
            <a:endParaRPr sz="1800">
              <a:latin typeface="Arial"/>
              <a:ea typeface="Arial"/>
              <a:cs typeface="Arial"/>
              <a:sym typeface="Arial"/>
            </a:endParaRPr>
          </a:p>
          <a:p>
            <a:pPr indent="-114300" lvl="0" marL="91440" rtl="0" algn="l">
              <a:lnSpc>
                <a:spcPct val="90000"/>
              </a:lnSpc>
              <a:spcBef>
                <a:spcPts val="1400"/>
              </a:spcBef>
              <a:spcAft>
                <a:spcPts val="0"/>
              </a:spcAft>
              <a:buSzPts val="1800"/>
              <a:buFont typeface="Arial"/>
              <a:buChar char="•"/>
            </a:pPr>
            <a:r>
              <a:rPr lang="en-PH" sz="1800">
                <a:latin typeface="Arial"/>
                <a:ea typeface="Arial"/>
                <a:cs typeface="Arial"/>
                <a:sym typeface="Arial"/>
              </a:rPr>
              <a:t>Nicotine is provided to smokers in the form of gum, patch, inhaler, or nasal spray, which lack the carcinogens included in cigarette smoke.</a:t>
            </a:r>
            <a:endParaRPr/>
          </a:p>
        </p:txBody>
      </p:sp>
      <p:pic>
        <p:nvPicPr>
          <p:cNvPr id="382" name="Google Shape;382;p81"/>
          <p:cNvPicPr preferRelativeResize="0"/>
          <p:nvPr/>
        </p:nvPicPr>
        <p:blipFill rotWithShape="1">
          <a:blip r:embed="rId3">
            <a:alphaModFix/>
          </a:blip>
          <a:srcRect b="0" l="0" r="0" t="0"/>
          <a:stretch/>
        </p:blipFill>
        <p:spPr>
          <a:xfrm>
            <a:off x="7910513" y="3932169"/>
            <a:ext cx="3591676" cy="1936925"/>
          </a:xfrm>
          <a:prstGeom prst="rect">
            <a:avLst/>
          </a:prstGeom>
          <a:noFill/>
          <a:ln>
            <a:noFill/>
          </a:ln>
        </p:spPr>
      </p:pic>
      <p:pic>
        <p:nvPicPr>
          <p:cNvPr id="383" name="Google Shape;383;p81"/>
          <p:cNvPicPr preferRelativeResize="0"/>
          <p:nvPr/>
        </p:nvPicPr>
        <p:blipFill rotWithShape="1">
          <a:blip r:embed="rId4">
            <a:alphaModFix/>
          </a:blip>
          <a:srcRect b="0" l="0" r="0" t="0"/>
          <a:stretch/>
        </p:blipFill>
        <p:spPr>
          <a:xfrm>
            <a:off x="8950091" y="1853516"/>
            <a:ext cx="2144629" cy="2144629"/>
          </a:xfrm>
          <a:prstGeom prst="rect">
            <a:avLst/>
          </a:prstGeom>
          <a:noFill/>
          <a:ln>
            <a:noFill/>
          </a:ln>
        </p:spPr>
      </p:pic>
    </p:spTree>
  </p:cSld>
  <p:clrMapOvr>
    <a:masterClrMapping/>
  </p:clrMapOvr>
  <p:transition spd="med">
    <p:push/>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TREATMENT</a:t>
            </a:r>
            <a:endParaRPr/>
          </a:p>
        </p:txBody>
      </p:sp>
      <p:sp>
        <p:nvSpPr>
          <p:cNvPr id="389" name="Google Shape;389;p82"/>
          <p:cNvSpPr txBox="1"/>
          <p:nvPr>
            <p:ph idx="1" type="body"/>
          </p:nvPr>
        </p:nvSpPr>
        <p:spPr>
          <a:xfrm>
            <a:off x="1097280" y="1845734"/>
            <a:ext cx="6971899" cy="4023360"/>
          </a:xfrm>
          <a:prstGeom prst="rect">
            <a:avLst/>
          </a:prstGeom>
          <a:noFill/>
          <a:ln>
            <a:noFill/>
          </a:ln>
        </p:spPr>
        <p:txBody>
          <a:bodyPr anchorCtr="0" anchor="t" bIns="45700" lIns="0" spcFirstLastPara="1" rIns="0" wrap="square" tIns="45700">
            <a:normAutofit lnSpcReduction="10000"/>
          </a:bodyPr>
          <a:lstStyle/>
          <a:p>
            <a:pPr indent="-107950" lvl="0" marL="91440" rtl="0" algn="l">
              <a:lnSpc>
                <a:spcPct val="107000"/>
              </a:lnSpc>
              <a:spcBef>
                <a:spcPts val="0"/>
              </a:spcBef>
              <a:spcAft>
                <a:spcPts val="0"/>
              </a:spcAft>
              <a:buSzPts val="1700"/>
              <a:buFont typeface="Arial"/>
              <a:buChar char="•"/>
            </a:pPr>
            <a:r>
              <a:rPr lang="en-PH" sz="1700">
                <a:latin typeface="Arial"/>
                <a:ea typeface="Arial"/>
                <a:cs typeface="Arial"/>
                <a:sym typeface="Arial"/>
              </a:rPr>
              <a:t> </a:t>
            </a:r>
            <a:r>
              <a:rPr b="1" lang="en-PH" sz="1700">
                <a:latin typeface="Arial"/>
                <a:ea typeface="Arial"/>
                <a:cs typeface="Arial"/>
                <a:sym typeface="Arial"/>
              </a:rPr>
              <a:t>Antagonist treatments</a:t>
            </a:r>
            <a:r>
              <a:rPr lang="en-PH" sz="1700">
                <a:latin typeface="Arial"/>
                <a:ea typeface="Arial"/>
                <a:cs typeface="Arial"/>
                <a:sym typeface="Arial"/>
              </a:rPr>
              <a:t>: drugs block or counteract the effects of psychoactive drugs, it produces immediate withdrawal symptoms</a:t>
            </a:r>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 They do appear to help some drug abusers handle withdrawal symptoms and the cravings that accompany attempts to abstain from drug use.</a:t>
            </a:r>
            <a:endParaRPr sz="1700">
              <a:latin typeface="Arial"/>
              <a:ea typeface="Arial"/>
              <a:cs typeface="Arial"/>
              <a:sym typeface="Arial"/>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 </a:t>
            </a:r>
            <a:r>
              <a:rPr b="1" lang="en-PH" sz="1700">
                <a:latin typeface="Arial"/>
                <a:ea typeface="Arial"/>
                <a:cs typeface="Arial"/>
                <a:sym typeface="Arial"/>
              </a:rPr>
              <a:t>Aversive treatment</a:t>
            </a:r>
            <a:r>
              <a:rPr lang="en-PH" sz="1700">
                <a:latin typeface="Arial"/>
                <a:ea typeface="Arial"/>
                <a:cs typeface="Arial"/>
                <a:sym typeface="Arial"/>
              </a:rPr>
              <a:t>: prescribe drugs that make ingesting the abused substances extremely unpleasant; For instance, the use of disulfiram (Antabuse) with people who have an alcohol use disorder.</a:t>
            </a:r>
            <a:endParaRPr sz="1700">
              <a:latin typeface="Arial"/>
              <a:ea typeface="Arial"/>
              <a:cs typeface="Arial"/>
              <a:sym typeface="Arial"/>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 </a:t>
            </a:r>
            <a:r>
              <a:rPr b="1" lang="en-PH" sz="1700">
                <a:latin typeface="Arial"/>
                <a:ea typeface="Arial"/>
                <a:cs typeface="Arial"/>
                <a:sym typeface="Arial"/>
              </a:rPr>
              <a:t>Alcoholics Anonymous (AA) </a:t>
            </a:r>
            <a:r>
              <a:rPr lang="en-PH" sz="1700">
                <a:latin typeface="Arial"/>
                <a:ea typeface="Arial"/>
                <a:cs typeface="Arial"/>
                <a:sym typeface="Arial"/>
              </a:rPr>
              <a:t>– more common in western countries; the goal is to provide social support through group meetings. </a:t>
            </a:r>
            <a:endParaRPr/>
          </a:p>
          <a:p>
            <a:pPr indent="-107950" lvl="0" marL="91440" rtl="0" algn="l">
              <a:lnSpc>
                <a:spcPct val="107000"/>
              </a:lnSpc>
              <a:spcBef>
                <a:spcPts val="1400"/>
              </a:spcBef>
              <a:spcAft>
                <a:spcPts val="0"/>
              </a:spcAft>
              <a:buSzPts val="1700"/>
              <a:buFont typeface="Arial"/>
              <a:buChar char="•"/>
            </a:pPr>
            <a:r>
              <a:rPr lang="en-PH" sz="1700">
                <a:latin typeface="Arial"/>
                <a:ea typeface="Arial"/>
                <a:cs typeface="Arial"/>
                <a:sym typeface="Arial"/>
              </a:rPr>
              <a:t> </a:t>
            </a:r>
            <a:r>
              <a:rPr b="1" lang="en-PH" sz="1700">
                <a:latin typeface="Arial"/>
                <a:ea typeface="Arial"/>
                <a:cs typeface="Arial"/>
                <a:sym typeface="Arial"/>
              </a:rPr>
              <a:t>Cognitive-behavioral therapy (CBT) </a:t>
            </a:r>
            <a:r>
              <a:rPr lang="en-PH" sz="1700">
                <a:latin typeface="Arial"/>
                <a:ea typeface="Arial"/>
                <a:cs typeface="Arial"/>
                <a:sym typeface="Arial"/>
              </a:rPr>
              <a:t>- addresses the problem of relapse</a:t>
            </a:r>
            <a:endParaRPr/>
          </a:p>
          <a:p>
            <a:pPr indent="0" lvl="0" marL="91440" rtl="0" algn="l">
              <a:lnSpc>
                <a:spcPct val="107000"/>
              </a:lnSpc>
              <a:spcBef>
                <a:spcPts val="1400"/>
              </a:spcBef>
              <a:spcAft>
                <a:spcPts val="0"/>
              </a:spcAft>
              <a:buSzPts val="1700"/>
              <a:buFont typeface="Arial"/>
              <a:buNone/>
            </a:pPr>
            <a:r>
              <a:t/>
            </a:r>
            <a:endParaRPr sz="1700">
              <a:latin typeface="Arial"/>
              <a:ea typeface="Arial"/>
              <a:cs typeface="Arial"/>
              <a:sym typeface="Arial"/>
            </a:endParaRPr>
          </a:p>
        </p:txBody>
      </p:sp>
      <p:pic>
        <p:nvPicPr>
          <p:cNvPr id="390" name="Google Shape;390;p82"/>
          <p:cNvPicPr preferRelativeResize="0"/>
          <p:nvPr/>
        </p:nvPicPr>
        <p:blipFill rotWithShape="1">
          <a:blip r:embed="rId3">
            <a:alphaModFix/>
          </a:blip>
          <a:srcRect b="0" l="0" r="0" t="0"/>
          <a:stretch/>
        </p:blipFill>
        <p:spPr>
          <a:xfrm>
            <a:off x="8062762" y="2733784"/>
            <a:ext cx="3374265" cy="2247260"/>
          </a:xfrm>
          <a:prstGeom prst="rect">
            <a:avLst/>
          </a:prstGeom>
          <a:noFill/>
          <a:ln>
            <a:noFill/>
          </a:ln>
        </p:spPr>
      </p:pic>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8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GAMBLING DISORDER</a:t>
            </a:r>
            <a:endParaRPr/>
          </a:p>
        </p:txBody>
      </p:sp>
      <p:sp>
        <p:nvSpPr>
          <p:cNvPr id="396" name="Google Shape;396;p83"/>
          <p:cNvSpPr txBox="1"/>
          <p:nvPr>
            <p:ph idx="1" type="body"/>
          </p:nvPr>
        </p:nvSpPr>
        <p:spPr>
          <a:xfrm>
            <a:off x="1097280" y="1845734"/>
            <a:ext cx="5466806" cy="4023360"/>
          </a:xfrm>
          <a:prstGeom prst="rect">
            <a:avLst/>
          </a:prstGeom>
          <a:noFill/>
          <a:ln>
            <a:noFill/>
          </a:ln>
        </p:spPr>
        <p:txBody>
          <a:bodyPr anchorCtr="0" anchor="t" bIns="45700" lIns="0" spcFirstLastPara="1" rIns="0" wrap="square" tIns="45700">
            <a:normAutofit/>
          </a:bodyPr>
          <a:lstStyle/>
          <a:p>
            <a:pPr indent="-127000" lvl="0" marL="91440" rtl="0" algn="just">
              <a:lnSpc>
                <a:spcPct val="90000"/>
              </a:lnSpc>
              <a:spcBef>
                <a:spcPts val="0"/>
              </a:spcBef>
              <a:spcAft>
                <a:spcPts val="0"/>
              </a:spcAft>
              <a:buSzPts val="2000"/>
              <a:buFont typeface="Arial"/>
              <a:buChar char="•"/>
            </a:pPr>
            <a:r>
              <a:rPr lang="en-PH">
                <a:latin typeface="Arial"/>
                <a:ea typeface="Arial"/>
                <a:cs typeface="Arial"/>
                <a:sym typeface="Arial"/>
              </a:rPr>
              <a:t> Studies have found that the ventromedial prefrontal cortex and orbitofrontal cortex do not function as normal in those with gambling disorder. Poor impulse control and risky decisions are both processes that involve ventromedial prefrontal cortex and those individuals with higher problems in these areas also show poorer response to treatment and higher relapse rates.</a:t>
            </a:r>
            <a:endParaRPr/>
          </a:p>
          <a:p>
            <a:pPr indent="-127000" lvl="0" marL="91440" rtl="0" algn="just">
              <a:lnSpc>
                <a:spcPct val="90000"/>
              </a:lnSpc>
              <a:spcBef>
                <a:spcPts val="1400"/>
              </a:spcBef>
              <a:spcAft>
                <a:spcPts val="0"/>
              </a:spcAft>
              <a:buSzPts val="2000"/>
              <a:buFont typeface="Arial"/>
              <a:buChar char="•"/>
            </a:pPr>
            <a:r>
              <a:rPr lang="en-PH">
                <a:latin typeface="Arial"/>
                <a:ea typeface="Arial"/>
                <a:cs typeface="Arial"/>
                <a:sym typeface="Arial"/>
              </a:rPr>
              <a:t> Characteristics: denial of the problem, impulsivity, and continuing optimism (“One big win will cover my losses!”)</a:t>
            </a:r>
            <a:endParaRPr>
              <a:latin typeface="Arial"/>
              <a:ea typeface="Arial"/>
              <a:cs typeface="Arial"/>
              <a:sym typeface="Arial"/>
            </a:endParaRPr>
          </a:p>
          <a:p>
            <a:pPr indent="0" lvl="0" marL="91440" rtl="0" algn="just">
              <a:lnSpc>
                <a:spcPct val="90000"/>
              </a:lnSpc>
              <a:spcBef>
                <a:spcPts val="1400"/>
              </a:spcBef>
              <a:spcAft>
                <a:spcPts val="0"/>
              </a:spcAft>
              <a:buSzPts val="2000"/>
              <a:buFont typeface="Arial"/>
              <a:buNone/>
            </a:pPr>
            <a:r>
              <a:t/>
            </a:r>
            <a:endParaRPr>
              <a:latin typeface="Arial"/>
              <a:ea typeface="Arial"/>
              <a:cs typeface="Arial"/>
              <a:sym typeface="Arial"/>
            </a:endParaRPr>
          </a:p>
        </p:txBody>
      </p:sp>
      <p:pic>
        <p:nvPicPr>
          <p:cNvPr id="397" name="Google Shape;397;p83"/>
          <p:cNvPicPr preferRelativeResize="0"/>
          <p:nvPr/>
        </p:nvPicPr>
        <p:blipFill rotWithShape="1">
          <a:blip r:embed="rId3">
            <a:alphaModFix/>
          </a:blip>
          <a:srcRect b="6133" l="0" r="0" t="0"/>
          <a:stretch/>
        </p:blipFill>
        <p:spPr>
          <a:xfrm>
            <a:off x="7000277" y="2480866"/>
            <a:ext cx="4155403" cy="2367632"/>
          </a:xfrm>
          <a:prstGeom prst="rect">
            <a:avLst/>
          </a:prstGeom>
          <a:noFill/>
          <a:ln>
            <a:noFill/>
          </a:ln>
        </p:spPr>
      </p:pic>
    </p:spTree>
  </p:cSld>
  <p:clrMapOvr>
    <a:masterClrMapping/>
  </p:clrMapOvr>
  <p:transition spd="med">
    <p:push/>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8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Impulse-Control Disorders</a:t>
            </a:r>
            <a:endParaRPr/>
          </a:p>
        </p:txBody>
      </p:sp>
      <p:sp>
        <p:nvSpPr>
          <p:cNvPr id="403" name="Google Shape;403;p8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14300" lvl="0" marL="91440" rtl="0" algn="l">
              <a:lnSpc>
                <a:spcPct val="90000"/>
              </a:lnSpc>
              <a:spcBef>
                <a:spcPts val="0"/>
              </a:spcBef>
              <a:spcAft>
                <a:spcPts val="0"/>
              </a:spcAft>
              <a:buSzPts val="1800"/>
              <a:buChar char=" "/>
            </a:pPr>
            <a:r>
              <a:rPr b="1" lang="en-PH" sz="1800">
                <a:latin typeface="Arial"/>
                <a:ea typeface="Arial"/>
                <a:cs typeface="Arial"/>
                <a:sym typeface="Arial"/>
              </a:rPr>
              <a:t>Intermittent Explosive Disorder</a:t>
            </a:r>
            <a:endParaRPr sz="1800">
              <a:latin typeface="Arial"/>
              <a:ea typeface="Arial"/>
              <a:cs typeface="Arial"/>
              <a:sym typeface="Arial"/>
            </a:endParaRPr>
          </a:p>
          <a:p>
            <a:pPr indent="-114300" lvl="0" marL="91440" rtl="0" algn="l">
              <a:lnSpc>
                <a:spcPct val="107000"/>
              </a:lnSpc>
              <a:spcBef>
                <a:spcPts val="1400"/>
              </a:spcBef>
              <a:spcAft>
                <a:spcPts val="0"/>
              </a:spcAft>
              <a:buSzPts val="1800"/>
              <a:buFont typeface="Arial"/>
              <a:buChar char="•"/>
            </a:pPr>
            <a:r>
              <a:rPr lang="en-PH" sz="1800">
                <a:latin typeface="Arial"/>
                <a:ea typeface="Arial"/>
                <a:cs typeface="Arial"/>
                <a:sym typeface="Arial"/>
              </a:rPr>
              <a:t> Have episodes in which they act on aggressive impulses that result in serious assaults or destruction of property.</a:t>
            </a:r>
            <a:endParaRPr/>
          </a:p>
          <a:p>
            <a:pPr indent="-114300" lvl="0" marL="91440" rtl="0" algn="l">
              <a:lnSpc>
                <a:spcPct val="107000"/>
              </a:lnSpc>
              <a:spcBef>
                <a:spcPts val="1400"/>
              </a:spcBef>
              <a:spcAft>
                <a:spcPts val="0"/>
              </a:spcAft>
              <a:buSzPts val="1800"/>
              <a:buFont typeface="Arial"/>
              <a:buChar char="•"/>
            </a:pPr>
            <a:r>
              <a:rPr lang="en-PH" sz="1800">
                <a:latin typeface="Arial"/>
                <a:ea typeface="Arial"/>
                <a:cs typeface="Arial"/>
                <a:sym typeface="Arial"/>
              </a:rPr>
              <a:t> Lifetime prevalence of 7.3%</a:t>
            </a:r>
            <a:endParaRPr sz="1800">
              <a:latin typeface="Arial"/>
              <a:ea typeface="Arial"/>
              <a:cs typeface="Arial"/>
              <a:sym typeface="Arial"/>
            </a:endParaRPr>
          </a:p>
          <a:p>
            <a:pPr indent="-114300" lvl="0" marL="91440" rtl="0" algn="l">
              <a:lnSpc>
                <a:spcPct val="107000"/>
              </a:lnSpc>
              <a:spcBef>
                <a:spcPts val="1400"/>
              </a:spcBef>
              <a:spcAft>
                <a:spcPts val="0"/>
              </a:spcAft>
              <a:buSzPts val="1800"/>
              <a:buFont typeface="Arial"/>
              <a:buChar char="•"/>
            </a:pPr>
            <a:r>
              <a:rPr lang="en-PH" sz="1800">
                <a:latin typeface="Arial"/>
                <a:ea typeface="Arial"/>
                <a:cs typeface="Arial"/>
                <a:sym typeface="Arial"/>
              </a:rPr>
              <a:t> Recent studies have proposed that there is a disruption of the orbital frontal cortex’s in inhibiting amygdala activation combined with changes in the serotonin system in those with this disorder.</a:t>
            </a:r>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p:txBody>
      </p:sp>
    </p:spTree>
  </p:cSld>
  <p:clrMapOvr>
    <a:masterClrMapping/>
  </p:clrMapOvr>
  <p:transition spd="med">
    <p:push/>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8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Impulse-Control Disorders</a:t>
            </a:r>
            <a:endParaRPr/>
          </a:p>
        </p:txBody>
      </p:sp>
      <p:sp>
        <p:nvSpPr>
          <p:cNvPr id="409" name="Google Shape;409;p8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14300" lvl="0" marL="91440" rtl="0" algn="l">
              <a:lnSpc>
                <a:spcPct val="90000"/>
              </a:lnSpc>
              <a:spcBef>
                <a:spcPts val="0"/>
              </a:spcBef>
              <a:spcAft>
                <a:spcPts val="0"/>
              </a:spcAft>
              <a:buSzPts val="1800"/>
              <a:buChar char=" "/>
            </a:pPr>
            <a:r>
              <a:rPr b="1" lang="en-PH" sz="1800">
                <a:latin typeface="Arial"/>
                <a:ea typeface="Arial"/>
                <a:cs typeface="Arial"/>
                <a:sym typeface="Arial"/>
              </a:rPr>
              <a:t>Kleptomania</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A recurrent failure to resist urges to steal things that are not needed for personal use or their monetary value</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More common in women than in men and that it typically starts in adolescence</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People with kleptomania score high on assessments of impulsivity, reflecting their inability to judge the immediate gratification of stealing compared with the long-term negative consequences.</a:t>
            </a:r>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Patients with kleptomania often report having no memory (amnesia) about the act of shoplifting</a:t>
            </a:r>
            <a:endParaRPr sz="1800">
              <a:latin typeface="Calibri"/>
              <a:ea typeface="Calibri"/>
              <a:cs typeface="Calibri"/>
              <a:sym typeface="Calibri"/>
            </a:endParaRPr>
          </a:p>
          <a:p>
            <a:pPr indent="0" lvl="0" marL="91440" rtl="0" algn="l">
              <a:lnSpc>
                <a:spcPct val="90000"/>
              </a:lnSpc>
              <a:spcBef>
                <a:spcPts val="1400"/>
              </a:spcBef>
              <a:spcAft>
                <a:spcPts val="0"/>
              </a:spcAft>
              <a:buSzPts val="2000"/>
              <a:buNone/>
            </a:pPr>
            <a:r>
              <a:t/>
            </a:r>
            <a:endParaRPr/>
          </a:p>
        </p:txBody>
      </p:sp>
    </p:spTree>
  </p:cSld>
  <p:clrMapOvr>
    <a:masterClrMapping/>
  </p:clrMapOvr>
  <p:transition spd="med">
    <p:push/>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8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Impulse-Control Disorders</a:t>
            </a:r>
            <a:endParaRPr/>
          </a:p>
        </p:txBody>
      </p:sp>
      <p:sp>
        <p:nvSpPr>
          <p:cNvPr id="415" name="Google Shape;415;p8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14300" lvl="0" marL="91440" rtl="0" algn="l">
              <a:lnSpc>
                <a:spcPct val="90000"/>
              </a:lnSpc>
              <a:spcBef>
                <a:spcPts val="0"/>
              </a:spcBef>
              <a:spcAft>
                <a:spcPts val="0"/>
              </a:spcAft>
              <a:buSzPts val="1800"/>
              <a:buChar char=" "/>
            </a:pPr>
            <a:r>
              <a:rPr b="1" lang="en-PH" sz="1800">
                <a:latin typeface="Arial"/>
                <a:ea typeface="Arial"/>
                <a:cs typeface="Arial"/>
                <a:sym typeface="Arial"/>
              </a:rPr>
              <a:t>Pyromania</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Involves being preoccupied with fires and the associated equipment involved in setting and putting out these fires.</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Pyromania is diagnosed in only about 3% of arsonists</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Treatment is generally cognitive-behavioral and involves helping the person identify the signals that initiate the urges and teaching coping strategies to resist the temptation to start fires.</a:t>
            </a:r>
            <a:endParaRPr sz="1800">
              <a:latin typeface="Calibri"/>
              <a:ea typeface="Calibri"/>
              <a:cs typeface="Calibri"/>
              <a:sym typeface="Calibri"/>
            </a:endParaRPr>
          </a:p>
          <a:p>
            <a:pPr indent="0" lvl="0" marL="91440" rtl="0" algn="l">
              <a:lnSpc>
                <a:spcPct val="90000"/>
              </a:lnSpc>
              <a:spcBef>
                <a:spcPts val="2000"/>
              </a:spcBef>
              <a:spcAft>
                <a:spcPts val="0"/>
              </a:spcAft>
              <a:buSzPts val="2000"/>
              <a:buNone/>
            </a:pPr>
            <a:r>
              <a:t/>
            </a:r>
            <a:endParaRPr/>
          </a:p>
        </p:txBody>
      </p:sp>
    </p:spTree>
  </p:cSld>
  <p:clrMapOvr>
    <a:masterClrMapping/>
  </p:clrMapOvr>
  <p:transition spd="med">
    <p:push/>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9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Schizophrenia</a:t>
            </a:r>
            <a:endParaRPr b="1">
              <a:latin typeface="Arial"/>
              <a:ea typeface="Arial"/>
              <a:cs typeface="Arial"/>
              <a:sym typeface="Arial"/>
            </a:endParaRPr>
          </a:p>
        </p:txBody>
      </p:sp>
      <p:sp>
        <p:nvSpPr>
          <p:cNvPr id="421" name="Google Shape;421;p9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characterized by a broad spectrum of cognitive and emotional dysfunctions including delusions and hallucinations, disorganized speech and behavior, and inappropriate emotions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Eugen Bleuler coined the term schizophrenia, which comes from the combination of the Greek words for “split” (</a:t>
            </a:r>
            <a:r>
              <a:rPr i="1" lang="en-PH">
                <a:latin typeface="Arial"/>
                <a:ea typeface="Arial"/>
                <a:cs typeface="Arial"/>
                <a:sym typeface="Arial"/>
              </a:rPr>
              <a:t>skhizein</a:t>
            </a:r>
            <a:r>
              <a:rPr lang="en-PH">
                <a:latin typeface="Arial"/>
                <a:ea typeface="Arial"/>
                <a:cs typeface="Arial"/>
                <a:sym typeface="Arial"/>
              </a:rPr>
              <a:t>) and “mind” (</a:t>
            </a:r>
            <a:r>
              <a:rPr i="1" lang="en-PH">
                <a:latin typeface="Arial"/>
                <a:ea typeface="Arial"/>
                <a:cs typeface="Arial"/>
                <a:sym typeface="Arial"/>
              </a:rPr>
              <a:t>phren</a:t>
            </a:r>
            <a:r>
              <a:rPr lang="en-PH">
                <a:latin typeface="Arial"/>
                <a:ea typeface="Arial"/>
                <a:cs typeface="Arial"/>
                <a:sym typeface="Arial"/>
              </a:rPr>
              <a:t>)</a:t>
            </a:r>
            <a:endParaRPr/>
          </a:p>
          <a:p>
            <a:pPr indent="-127000" lvl="0" marL="91440" rtl="0" algn="l">
              <a:lnSpc>
                <a:spcPct val="90000"/>
              </a:lnSpc>
              <a:spcBef>
                <a:spcPts val="1400"/>
              </a:spcBef>
              <a:spcAft>
                <a:spcPts val="0"/>
              </a:spcAft>
              <a:buSzPts val="2000"/>
              <a:buChar char=" "/>
            </a:pPr>
            <a:r>
              <a:rPr b="1" lang="en-PH">
                <a:latin typeface="Arial"/>
                <a:ea typeface="Arial"/>
                <a:cs typeface="Arial"/>
                <a:sym typeface="Arial"/>
              </a:rPr>
              <a:t>4 A’s of Schizophrenia: </a:t>
            </a:r>
            <a:endParaRPr/>
          </a:p>
          <a:p>
            <a:pPr indent="-127000" lvl="0" marL="91440" rtl="0" algn="l">
              <a:lnSpc>
                <a:spcPct val="90000"/>
              </a:lnSpc>
              <a:spcBef>
                <a:spcPts val="1400"/>
              </a:spcBef>
              <a:spcAft>
                <a:spcPts val="0"/>
              </a:spcAft>
              <a:buSzPts val="2000"/>
              <a:buChar char=" "/>
            </a:pPr>
            <a:r>
              <a:rPr lang="en-PH">
                <a:latin typeface="Arial"/>
                <a:ea typeface="Arial"/>
                <a:cs typeface="Arial"/>
                <a:sym typeface="Arial"/>
              </a:rPr>
              <a:t>(1) affective disturbance </a:t>
            </a:r>
            <a:endParaRPr/>
          </a:p>
          <a:p>
            <a:pPr indent="-127000" lvl="0" marL="91440" rtl="0" algn="l">
              <a:lnSpc>
                <a:spcPct val="90000"/>
              </a:lnSpc>
              <a:spcBef>
                <a:spcPts val="1400"/>
              </a:spcBef>
              <a:spcAft>
                <a:spcPts val="0"/>
              </a:spcAft>
              <a:buSzPts val="2000"/>
              <a:buChar char=" "/>
            </a:pPr>
            <a:r>
              <a:rPr lang="en-PH">
                <a:latin typeface="Arial"/>
                <a:ea typeface="Arial"/>
                <a:cs typeface="Arial"/>
                <a:sym typeface="Arial"/>
              </a:rPr>
              <a:t>(2) ambivalence </a:t>
            </a:r>
            <a:endParaRPr/>
          </a:p>
          <a:p>
            <a:pPr indent="-127000" lvl="0" marL="91440" rtl="0" algn="l">
              <a:lnSpc>
                <a:spcPct val="90000"/>
              </a:lnSpc>
              <a:spcBef>
                <a:spcPts val="1400"/>
              </a:spcBef>
              <a:spcAft>
                <a:spcPts val="0"/>
              </a:spcAft>
              <a:buSzPts val="2000"/>
              <a:buChar char=" "/>
            </a:pPr>
            <a:r>
              <a:rPr lang="en-PH">
                <a:latin typeface="Arial"/>
                <a:ea typeface="Arial"/>
                <a:cs typeface="Arial"/>
                <a:sym typeface="Arial"/>
              </a:rPr>
              <a:t>(3) autism 						</a:t>
            </a:r>
            <a:endParaRPr/>
          </a:p>
          <a:p>
            <a:pPr indent="-127000" lvl="0" marL="91440" rtl="0" algn="l">
              <a:lnSpc>
                <a:spcPct val="90000"/>
              </a:lnSpc>
              <a:spcBef>
                <a:spcPts val="1400"/>
              </a:spcBef>
              <a:spcAft>
                <a:spcPts val="0"/>
              </a:spcAft>
              <a:buSzPts val="2000"/>
              <a:buChar char=" "/>
            </a:pPr>
            <a:r>
              <a:rPr lang="en-PH">
                <a:latin typeface="Arial"/>
                <a:ea typeface="Arial"/>
                <a:cs typeface="Arial"/>
                <a:sym typeface="Arial"/>
              </a:rPr>
              <a:t>(4) disturbance of thought association</a:t>
            </a:r>
            <a:endParaRPr/>
          </a:p>
          <a:p>
            <a:pPr indent="0" lvl="0" marL="91440" rtl="0" algn="l">
              <a:lnSpc>
                <a:spcPct val="90000"/>
              </a:lnSpc>
              <a:spcBef>
                <a:spcPts val="1400"/>
              </a:spcBef>
              <a:spcAft>
                <a:spcPts val="0"/>
              </a:spcAft>
              <a:buSzPts val="2000"/>
              <a:buNone/>
            </a:pPr>
            <a:r>
              <a:t/>
            </a:r>
            <a:endParaRPr>
              <a:latin typeface="Arial"/>
              <a:ea typeface="Arial"/>
              <a:cs typeface="Arial"/>
              <a:sym typeface="Arial"/>
            </a:endParaRPr>
          </a:p>
          <a:p>
            <a:pPr indent="0" lvl="0" marL="91440" rtl="0" algn="l">
              <a:lnSpc>
                <a:spcPct val="90000"/>
              </a:lnSpc>
              <a:spcBef>
                <a:spcPts val="14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9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Schizophrenia</a:t>
            </a:r>
            <a:endParaRPr/>
          </a:p>
        </p:txBody>
      </p:sp>
      <p:sp>
        <p:nvSpPr>
          <p:cNvPr id="427" name="Google Shape;427;p9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fontScale="92500" lnSpcReduction="20000"/>
          </a:bodyPr>
          <a:lstStyle/>
          <a:p>
            <a:pPr indent="-342900" lvl="0" marL="342900" rtl="0" algn="l">
              <a:lnSpc>
                <a:spcPct val="107000"/>
              </a:lnSpc>
              <a:spcBef>
                <a:spcPts val="0"/>
              </a:spcBef>
              <a:spcAft>
                <a:spcPts val="0"/>
              </a:spcAft>
              <a:buSzPct val="100000"/>
              <a:buFont typeface="Noto Sans Symbols"/>
              <a:buChar char="∙"/>
            </a:pPr>
            <a:r>
              <a:rPr lang="en-PH">
                <a:latin typeface="Arial"/>
                <a:ea typeface="Arial"/>
                <a:cs typeface="Arial"/>
                <a:sym typeface="Arial"/>
              </a:rPr>
              <a:t>Diagnosis of schizophrenia requires that two or more positive, negative, and/or disorganized symptoms be present for at least 1 month, with at least one of these symptoms including delusions, hallucinations, or disorganized speech.</a:t>
            </a:r>
            <a:endParaRPr/>
          </a:p>
          <a:p>
            <a:pPr indent="-342900" lvl="0" marL="342900" rtl="0" algn="l">
              <a:lnSpc>
                <a:spcPct val="107000"/>
              </a:lnSpc>
              <a:spcBef>
                <a:spcPts val="1400"/>
              </a:spcBef>
              <a:spcAft>
                <a:spcPts val="0"/>
              </a:spcAft>
              <a:buSzPct val="100000"/>
              <a:buFont typeface="Noto Sans Symbols"/>
              <a:buChar char="∙"/>
            </a:pPr>
            <a:r>
              <a:rPr lang="en-PH">
                <a:latin typeface="Arial"/>
                <a:ea typeface="Arial"/>
                <a:cs typeface="Arial"/>
                <a:sym typeface="Arial"/>
              </a:rPr>
              <a:t>Severity of symptoms: </a:t>
            </a:r>
            <a:endParaRPr/>
          </a:p>
          <a:p>
            <a:pPr indent="0" lvl="0" marL="0" rtl="0" algn="l">
              <a:lnSpc>
                <a:spcPct val="107000"/>
              </a:lnSpc>
              <a:spcBef>
                <a:spcPts val="2000"/>
              </a:spcBef>
              <a:spcAft>
                <a:spcPts val="0"/>
              </a:spcAft>
              <a:buSzPct val="100000"/>
              <a:buNone/>
            </a:pPr>
            <a:r>
              <a:rPr lang="en-PH">
                <a:latin typeface="Arial"/>
                <a:ea typeface="Arial"/>
                <a:cs typeface="Arial"/>
                <a:sym typeface="Arial"/>
              </a:rPr>
              <a:t>	0 - symptom is not present </a:t>
            </a:r>
            <a:endParaRPr/>
          </a:p>
          <a:p>
            <a:pPr indent="0" lvl="0" marL="0" rtl="0" algn="l">
              <a:lnSpc>
                <a:spcPct val="107000"/>
              </a:lnSpc>
              <a:spcBef>
                <a:spcPts val="2000"/>
              </a:spcBef>
              <a:spcAft>
                <a:spcPts val="0"/>
              </a:spcAft>
              <a:buSzPct val="100000"/>
              <a:buNone/>
            </a:pPr>
            <a:r>
              <a:rPr lang="en-PH">
                <a:latin typeface="Arial"/>
                <a:ea typeface="Arial"/>
                <a:cs typeface="Arial"/>
                <a:sym typeface="Arial"/>
              </a:rPr>
              <a:t>	1 - equivocal evidence (i.e., not sure) </a:t>
            </a:r>
            <a:endParaRPr/>
          </a:p>
          <a:p>
            <a:pPr indent="0" lvl="0" marL="0" rtl="0" algn="l">
              <a:lnSpc>
                <a:spcPct val="107000"/>
              </a:lnSpc>
              <a:spcBef>
                <a:spcPts val="2000"/>
              </a:spcBef>
              <a:spcAft>
                <a:spcPts val="0"/>
              </a:spcAft>
              <a:buSzPct val="100000"/>
              <a:buNone/>
            </a:pPr>
            <a:r>
              <a:rPr lang="en-PH">
                <a:latin typeface="Arial"/>
                <a:ea typeface="Arial"/>
                <a:cs typeface="Arial"/>
                <a:sym typeface="Arial"/>
              </a:rPr>
              <a:t>	2 - present but mild </a:t>
            </a:r>
            <a:endParaRPr/>
          </a:p>
          <a:p>
            <a:pPr indent="0" lvl="0" marL="0" rtl="0" algn="l">
              <a:lnSpc>
                <a:spcPct val="107000"/>
              </a:lnSpc>
              <a:spcBef>
                <a:spcPts val="2000"/>
              </a:spcBef>
              <a:spcAft>
                <a:spcPts val="0"/>
              </a:spcAft>
              <a:buSzPct val="100000"/>
              <a:buNone/>
            </a:pPr>
            <a:r>
              <a:rPr lang="en-PH">
                <a:latin typeface="Arial"/>
                <a:ea typeface="Arial"/>
                <a:cs typeface="Arial"/>
                <a:sym typeface="Arial"/>
              </a:rPr>
              <a:t>	3 - present and moderate</a:t>
            </a:r>
            <a:endParaRPr/>
          </a:p>
          <a:p>
            <a:pPr indent="0" lvl="0" marL="0" rtl="0" algn="l">
              <a:lnSpc>
                <a:spcPct val="107000"/>
              </a:lnSpc>
              <a:spcBef>
                <a:spcPts val="2000"/>
              </a:spcBef>
              <a:spcAft>
                <a:spcPts val="0"/>
              </a:spcAft>
              <a:buSzPct val="100000"/>
              <a:buNone/>
            </a:pPr>
            <a:r>
              <a:rPr lang="en-PH">
                <a:latin typeface="Arial"/>
                <a:ea typeface="Arial"/>
                <a:cs typeface="Arial"/>
                <a:sym typeface="Arial"/>
              </a:rPr>
              <a:t>	4 - present and severe</a:t>
            </a:r>
            <a:endParaRPr/>
          </a:p>
          <a:p>
            <a:pPr indent="0" lvl="0" marL="91440" rtl="0" algn="l">
              <a:lnSpc>
                <a:spcPct val="90000"/>
              </a:lnSpc>
              <a:spcBef>
                <a:spcPts val="2000"/>
              </a:spcBef>
              <a:spcAft>
                <a:spcPts val="0"/>
              </a:spcAft>
              <a:buSzPct val="100000"/>
              <a:buNone/>
            </a:pPr>
            <a:r>
              <a:t/>
            </a:r>
            <a:endParaRPr>
              <a:latin typeface="Arial"/>
              <a:ea typeface="Arial"/>
              <a:cs typeface="Arial"/>
              <a:sym typeface="Arial"/>
            </a:endParaRPr>
          </a:p>
        </p:txBody>
      </p:sp>
    </p:spTree>
  </p:cSld>
  <p:clrMapOvr>
    <a:masterClrMapping/>
  </p:clrMapOvr>
  <p:transition spd="med">
    <p:push/>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9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Phases of Schizophrenia</a:t>
            </a:r>
            <a:endParaRPr/>
          </a:p>
        </p:txBody>
      </p:sp>
      <p:sp>
        <p:nvSpPr>
          <p:cNvPr id="433" name="Google Shape;433;p9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14300" lvl="0" marL="91440" rtl="0" algn="l">
              <a:lnSpc>
                <a:spcPct val="107000"/>
              </a:lnSpc>
              <a:spcBef>
                <a:spcPts val="0"/>
              </a:spcBef>
              <a:spcAft>
                <a:spcPts val="0"/>
              </a:spcAft>
              <a:buSzPts val="1800"/>
              <a:buChar char=" "/>
            </a:pPr>
            <a:r>
              <a:rPr lang="en-PH" sz="1800">
                <a:latin typeface="Arial"/>
                <a:ea typeface="Arial"/>
                <a:cs typeface="Arial"/>
                <a:sym typeface="Arial"/>
              </a:rPr>
              <a:t>1. </a:t>
            </a:r>
            <a:r>
              <a:rPr b="1" lang="en-PH" sz="1800">
                <a:latin typeface="Arial"/>
                <a:ea typeface="Arial"/>
                <a:cs typeface="Arial"/>
                <a:sym typeface="Arial"/>
              </a:rPr>
              <a:t>Premorbid</a:t>
            </a:r>
            <a:r>
              <a:rPr lang="en-PH" sz="1800">
                <a:latin typeface="Arial"/>
                <a:ea typeface="Arial"/>
                <a:cs typeface="Arial"/>
                <a:sym typeface="Arial"/>
              </a:rPr>
              <a:t> - individual’s functioning prior to the disorder</a:t>
            </a:r>
            <a:endParaRPr sz="1800">
              <a:latin typeface="Calibri"/>
              <a:ea typeface="Calibri"/>
              <a:cs typeface="Calibri"/>
              <a:sym typeface="Calibri"/>
            </a:endParaRPr>
          </a:p>
          <a:p>
            <a:pPr indent="-114300" lvl="0" marL="91440" rtl="0" algn="l">
              <a:lnSpc>
                <a:spcPct val="107000"/>
              </a:lnSpc>
              <a:spcBef>
                <a:spcPts val="2000"/>
              </a:spcBef>
              <a:spcAft>
                <a:spcPts val="0"/>
              </a:spcAft>
              <a:buSzPts val="1800"/>
              <a:buChar char=" "/>
            </a:pPr>
            <a:r>
              <a:rPr lang="en-PH" sz="1800">
                <a:latin typeface="Arial"/>
                <a:ea typeface="Arial"/>
                <a:cs typeface="Arial"/>
                <a:sym typeface="Arial"/>
              </a:rPr>
              <a:t>2. </a:t>
            </a:r>
            <a:r>
              <a:rPr b="1" lang="en-PH" sz="1800">
                <a:latin typeface="Arial"/>
                <a:ea typeface="Arial"/>
                <a:cs typeface="Arial"/>
                <a:sym typeface="Arial"/>
              </a:rPr>
              <a:t>Prodromal</a:t>
            </a:r>
            <a:r>
              <a:rPr lang="en-PH" sz="1800">
                <a:latin typeface="Arial"/>
                <a:ea typeface="Arial"/>
                <a:cs typeface="Arial"/>
                <a:sym typeface="Arial"/>
              </a:rPr>
              <a:t> - a 1 to 2-year period before the serious symptoms occur but when less severe yet unusual behaviors start to show themselves such as ideas of reference and magical thinking</a:t>
            </a:r>
            <a:endParaRPr sz="1800">
              <a:latin typeface="Calibri"/>
              <a:ea typeface="Calibri"/>
              <a:cs typeface="Calibri"/>
              <a:sym typeface="Calibri"/>
            </a:endParaRPr>
          </a:p>
          <a:p>
            <a:pPr indent="-114300" lvl="0" marL="91440" rtl="0" algn="l">
              <a:lnSpc>
                <a:spcPct val="107000"/>
              </a:lnSpc>
              <a:spcBef>
                <a:spcPts val="2000"/>
              </a:spcBef>
              <a:spcAft>
                <a:spcPts val="0"/>
              </a:spcAft>
              <a:buSzPts val="1800"/>
              <a:buChar char=" "/>
            </a:pPr>
            <a:r>
              <a:rPr lang="en-PH" sz="1800">
                <a:latin typeface="Arial"/>
                <a:ea typeface="Arial"/>
                <a:cs typeface="Arial"/>
                <a:sym typeface="Arial"/>
              </a:rPr>
              <a:t>3. </a:t>
            </a:r>
            <a:r>
              <a:rPr b="1" lang="en-PH" sz="1800">
                <a:latin typeface="Arial"/>
                <a:ea typeface="Arial"/>
                <a:cs typeface="Arial"/>
                <a:sym typeface="Arial"/>
              </a:rPr>
              <a:t>Active</a:t>
            </a:r>
            <a:r>
              <a:rPr lang="en-PH" sz="1800">
                <a:latin typeface="Arial"/>
                <a:ea typeface="Arial"/>
                <a:cs typeface="Arial"/>
                <a:sym typeface="Arial"/>
              </a:rPr>
              <a:t> – a.k.a “onset phase”, positive, negative or disorganized symptoms are “full-blown”</a:t>
            </a:r>
            <a:endParaRPr sz="1800">
              <a:latin typeface="Calibri"/>
              <a:ea typeface="Calibri"/>
              <a:cs typeface="Calibri"/>
              <a:sym typeface="Calibri"/>
            </a:endParaRPr>
          </a:p>
          <a:p>
            <a:pPr indent="-114300" lvl="0" marL="91440" rtl="0" algn="l">
              <a:lnSpc>
                <a:spcPct val="107000"/>
              </a:lnSpc>
              <a:spcBef>
                <a:spcPts val="2000"/>
              </a:spcBef>
              <a:spcAft>
                <a:spcPts val="0"/>
              </a:spcAft>
              <a:buSzPts val="1800"/>
              <a:buChar char=" "/>
            </a:pPr>
            <a:r>
              <a:rPr lang="en-PH" sz="1800">
                <a:latin typeface="Arial"/>
                <a:ea typeface="Arial"/>
                <a:cs typeface="Arial"/>
                <a:sym typeface="Arial"/>
              </a:rPr>
              <a:t>4. </a:t>
            </a:r>
            <a:r>
              <a:rPr b="1" lang="en-PH" sz="1800">
                <a:latin typeface="Arial"/>
                <a:ea typeface="Arial"/>
                <a:cs typeface="Arial"/>
                <a:sym typeface="Arial"/>
              </a:rPr>
              <a:t>Residual</a:t>
            </a:r>
            <a:r>
              <a:rPr lang="en-PH" sz="1800">
                <a:latin typeface="Arial"/>
                <a:ea typeface="Arial"/>
                <a:cs typeface="Arial"/>
                <a:sym typeface="Arial"/>
              </a:rPr>
              <a:t> – periods of remission, could be partial or complete.</a:t>
            </a:r>
            <a:endParaRPr sz="1800">
              <a:latin typeface="Calibri"/>
              <a:ea typeface="Calibri"/>
              <a:cs typeface="Calibri"/>
              <a:sym typeface="Calibri"/>
            </a:endParaRPr>
          </a:p>
          <a:p>
            <a:pPr indent="0" lvl="0" marL="91440" rtl="0" algn="l">
              <a:lnSpc>
                <a:spcPct val="90000"/>
              </a:lnSpc>
              <a:spcBef>
                <a:spcPts val="2000"/>
              </a:spcBef>
              <a:spcAft>
                <a:spcPts val="0"/>
              </a:spcAft>
              <a:buSzPts val="2000"/>
              <a:buNone/>
            </a:pPr>
            <a:r>
              <a:t/>
            </a:r>
            <a:endParaRPr/>
          </a:p>
        </p:txBody>
      </p:sp>
    </p:spTree>
  </p:cSld>
  <p:clrMapOvr>
    <a:masterClrMapping/>
  </p:clrMapOvr>
  <p:transition spd="med">
    <p:push/>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94"/>
          <p:cNvPicPr preferRelativeResize="0"/>
          <p:nvPr/>
        </p:nvPicPr>
        <p:blipFill rotWithShape="1">
          <a:blip r:embed="rId3">
            <a:alphaModFix/>
          </a:blip>
          <a:srcRect b="0" l="0" r="0" t="0"/>
          <a:stretch/>
        </p:blipFill>
        <p:spPr>
          <a:xfrm>
            <a:off x="1333087" y="549137"/>
            <a:ext cx="9525825" cy="5563082"/>
          </a:xfrm>
          <a:prstGeom prst="rect">
            <a:avLst/>
          </a:prstGeom>
          <a:noFill/>
          <a:ln>
            <a:noFill/>
          </a:ln>
        </p:spPr>
      </p:pic>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99"/>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Positive Symptoms</a:t>
            </a:r>
            <a:endParaRPr/>
          </a:p>
        </p:txBody>
      </p:sp>
      <p:sp>
        <p:nvSpPr>
          <p:cNvPr id="445" name="Google Shape;445;p99"/>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Autofit/>
          </a:bodyPr>
          <a:lstStyle/>
          <a:p>
            <a:pPr indent="-127000" lvl="0" marL="91440" rtl="0" algn="l">
              <a:lnSpc>
                <a:spcPct val="90000"/>
              </a:lnSpc>
              <a:spcBef>
                <a:spcPts val="0"/>
              </a:spcBef>
              <a:spcAft>
                <a:spcPts val="0"/>
              </a:spcAft>
              <a:buSzPts val="2000"/>
              <a:buChar char=" "/>
            </a:pPr>
            <a:r>
              <a:rPr b="1" lang="en-PH">
                <a:latin typeface="Arial"/>
                <a:ea typeface="Arial"/>
                <a:cs typeface="Arial"/>
                <a:sym typeface="Arial"/>
              </a:rPr>
              <a:t>Delusions</a:t>
            </a:r>
            <a:endParaRPr>
              <a:latin typeface="Arial"/>
              <a:ea typeface="Arial"/>
              <a:cs typeface="Arial"/>
              <a:sym typeface="Arial"/>
            </a:endParaRPr>
          </a:p>
          <a:p>
            <a:pPr indent="-342900" lvl="0" marL="342900" rtl="0" algn="l">
              <a:lnSpc>
                <a:spcPct val="107000"/>
              </a:lnSpc>
              <a:spcBef>
                <a:spcPts val="1400"/>
              </a:spcBef>
              <a:spcAft>
                <a:spcPts val="0"/>
              </a:spcAft>
              <a:buSzPts val="2000"/>
              <a:buFont typeface="Noto Sans Symbols"/>
              <a:buChar char="∙"/>
            </a:pPr>
            <a:r>
              <a:rPr b="1" lang="en-PH">
                <a:latin typeface="Arial"/>
                <a:ea typeface="Arial"/>
                <a:cs typeface="Arial"/>
                <a:sym typeface="Arial"/>
              </a:rPr>
              <a:t>Delusion of grandeur</a:t>
            </a:r>
            <a:r>
              <a:rPr lang="en-PH">
                <a:latin typeface="Arial"/>
                <a:ea typeface="Arial"/>
                <a:cs typeface="Arial"/>
                <a:sym typeface="Arial"/>
              </a:rPr>
              <a:t> - a mistaken belief that the person is famous or powerful</a:t>
            </a:r>
            <a:endParaRPr/>
          </a:p>
          <a:p>
            <a:pPr indent="-342900" lvl="0" marL="342900" rtl="0" algn="l">
              <a:lnSpc>
                <a:spcPct val="107000"/>
              </a:lnSpc>
              <a:spcBef>
                <a:spcPts val="1400"/>
              </a:spcBef>
              <a:spcAft>
                <a:spcPts val="0"/>
              </a:spcAft>
              <a:buSzPts val="2000"/>
              <a:buFont typeface="Noto Sans Symbols"/>
              <a:buChar char="∙"/>
            </a:pPr>
            <a:r>
              <a:rPr b="1" lang="en-PH">
                <a:latin typeface="Arial"/>
                <a:ea typeface="Arial"/>
                <a:cs typeface="Arial"/>
                <a:sym typeface="Arial"/>
              </a:rPr>
              <a:t>Delusion of persecution </a:t>
            </a:r>
            <a:r>
              <a:rPr lang="en-PH">
                <a:latin typeface="Arial"/>
                <a:ea typeface="Arial"/>
                <a:cs typeface="Arial"/>
                <a:sym typeface="Arial"/>
              </a:rPr>
              <a:t>- others are “out to get them.”</a:t>
            </a:r>
            <a:endParaRPr/>
          </a:p>
          <a:p>
            <a:pPr indent="-342900" lvl="0" marL="342900" rtl="0" algn="l">
              <a:lnSpc>
                <a:spcPct val="107000"/>
              </a:lnSpc>
              <a:spcBef>
                <a:spcPts val="1400"/>
              </a:spcBef>
              <a:spcAft>
                <a:spcPts val="0"/>
              </a:spcAft>
              <a:buSzPts val="2000"/>
              <a:buFont typeface="Noto Sans Symbols"/>
              <a:buChar char="∙"/>
            </a:pPr>
            <a:r>
              <a:rPr b="1" lang="en-PH">
                <a:latin typeface="Arial"/>
                <a:ea typeface="Arial"/>
                <a:cs typeface="Arial"/>
                <a:sym typeface="Arial"/>
              </a:rPr>
              <a:t>Capgras</a:t>
            </a:r>
            <a:r>
              <a:rPr lang="en-PH">
                <a:latin typeface="Arial"/>
                <a:ea typeface="Arial"/>
                <a:cs typeface="Arial"/>
                <a:sym typeface="Arial"/>
              </a:rPr>
              <a:t>,</a:t>
            </a:r>
            <a:r>
              <a:rPr b="1" lang="en-PH">
                <a:latin typeface="Arial"/>
                <a:ea typeface="Arial"/>
                <a:cs typeface="Arial"/>
                <a:sym typeface="Arial"/>
              </a:rPr>
              <a:t> syndrome</a:t>
            </a:r>
            <a:r>
              <a:rPr lang="en-PH">
                <a:latin typeface="Arial"/>
                <a:ea typeface="Arial"/>
                <a:cs typeface="Arial"/>
                <a:sym typeface="Arial"/>
              </a:rPr>
              <a:t> - the person believes someone he or she knows has been replaced by a double</a:t>
            </a:r>
            <a:endParaRPr/>
          </a:p>
          <a:p>
            <a:pPr indent="-342900" lvl="0" marL="342900" rtl="0" algn="l">
              <a:lnSpc>
                <a:spcPct val="107000"/>
              </a:lnSpc>
              <a:spcBef>
                <a:spcPts val="1400"/>
              </a:spcBef>
              <a:spcAft>
                <a:spcPts val="0"/>
              </a:spcAft>
              <a:buSzPts val="2000"/>
              <a:buFont typeface="Noto Sans Symbols"/>
              <a:buChar char="∙"/>
            </a:pPr>
            <a:r>
              <a:rPr b="1" lang="en-PH">
                <a:latin typeface="Arial"/>
                <a:ea typeface="Arial"/>
                <a:cs typeface="Arial"/>
                <a:sym typeface="Arial"/>
              </a:rPr>
              <a:t>Cotard’s</a:t>
            </a:r>
            <a:r>
              <a:rPr lang="en-PH">
                <a:latin typeface="Arial"/>
                <a:ea typeface="Arial"/>
                <a:cs typeface="Arial"/>
                <a:sym typeface="Arial"/>
              </a:rPr>
              <a:t> </a:t>
            </a:r>
            <a:r>
              <a:rPr b="1" lang="en-PH">
                <a:latin typeface="Arial"/>
                <a:ea typeface="Arial"/>
                <a:cs typeface="Arial"/>
                <a:sym typeface="Arial"/>
              </a:rPr>
              <a:t>syndrome </a:t>
            </a:r>
            <a:r>
              <a:rPr lang="en-PH">
                <a:latin typeface="Arial"/>
                <a:ea typeface="Arial"/>
                <a:cs typeface="Arial"/>
                <a:sym typeface="Arial"/>
              </a:rPr>
              <a:t>- the person believes he or she is dead</a:t>
            </a:r>
            <a:endParaRPr/>
          </a:p>
          <a:p>
            <a:pPr indent="-342900" lvl="0" marL="342900" rtl="0" algn="l">
              <a:lnSpc>
                <a:spcPct val="107000"/>
              </a:lnSpc>
              <a:spcBef>
                <a:spcPts val="1400"/>
              </a:spcBef>
              <a:spcAft>
                <a:spcPts val="0"/>
              </a:spcAft>
              <a:buSzPts val="2000"/>
              <a:buFont typeface="Noto Sans Symbols"/>
              <a:buChar char="∙"/>
            </a:pPr>
            <a:r>
              <a:rPr b="1" lang="en-PH">
                <a:latin typeface="Arial"/>
                <a:ea typeface="Arial"/>
                <a:cs typeface="Arial"/>
                <a:sym typeface="Arial"/>
              </a:rPr>
              <a:t>Motivational view - </a:t>
            </a:r>
            <a:r>
              <a:rPr lang="en-PH">
                <a:latin typeface="Arial"/>
                <a:ea typeface="Arial"/>
                <a:cs typeface="Arial"/>
                <a:sym typeface="Arial"/>
              </a:rPr>
              <a:t>beliefs are attempts to deal with and relieve anxiety and stress. </a:t>
            </a:r>
            <a:endParaRPr/>
          </a:p>
          <a:p>
            <a:pPr indent="-342900" lvl="0" marL="342900" rtl="0" algn="l">
              <a:lnSpc>
                <a:spcPct val="107000"/>
              </a:lnSpc>
              <a:spcBef>
                <a:spcPts val="2000"/>
              </a:spcBef>
              <a:spcAft>
                <a:spcPts val="0"/>
              </a:spcAft>
              <a:buSzPts val="2000"/>
              <a:buFont typeface="Noto Sans Symbols"/>
              <a:buChar char="∙"/>
            </a:pPr>
            <a:r>
              <a:rPr b="1" lang="en-PH">
                <a:latin typeface="Arial"/>
                <a:ea typeface="Arial"/>
                <a:cs typeface="Arial"/>
                <a:sym typeface="Arial"/>
              </a:rPr>
              <a:t>Deficit view </a:t>
            </a:r>
            <a:r>
              <a:rPr lang="en-PH">
                <a:latin typeface="Arial"/>
                <a:ea typeface="Arial"/>
                <a:cs typeface="Arial"/>
                <a:sym typeface="Arial"/>
              </a:rPr>
              <a:t>- sees these beliefs as resulting from brain dysfunction that creates these disordered cognitions or perception.</a:t>
            </a:r>
            <a:endParaRPr>
              <a:latin typeface="Arial"/>
              <a:ea typeface="Arial"/>
              <a:cs typeface="Arial"/>
              <a:sym typeface="Arial"/>
            </a:endParaRPr>
          </a:p>
        </p:txBody>
      </p:sp>
    </p:spTree>
  </p:cSld>
  <p:clrMapOvr>
    <a:masterClrMapping/>
  </p:clrMapOvr>
  <p:transition spd="med">
    <p:push/>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10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Positive Symptoms</a:t>
            </a:r>
            <a:endParaRPr/>
          </a:p>
        </p:txBody>
      </p:sp>
      <p:sp>
        <p:nvSpPr>
          <p:cNvPr id="451" name="Google Shape;451;p10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p>
            <a:pPr indent="-120650" lvl="0" marL="91440" rtl="0" algn="l">
              <a:lnSpc>
                <a:spcPct val="90000"/>
              </a:lnSpc>
              <a:spcBef>
                <a:spcPts val="0"/>
              </a:spcBef>
              <a:spcAft>
                <a:spcPts val="0"/>
              </a:spcAft>
              <a:buSzPts val="1900"/>
              <a:buChar char=" "/>
            </a:pPr>
            <a:r>
              <a:rPr b="1" lang="en-PH" sz="1900">
                <a:latin typeface="Arial"/>
                <a:ea typeface="Arial"/>
                <a:cs typeface="Arial"/>
                <a:sym typeface="Arial"/>
              </a:rPr>
              <a:t>Hallucinations</a:t>
            </a:r>
            <a:endParaRPr/>
          </a:p>
          <a:p>
            <a:pPr indent="-342900" lvl="0" marL="342900" rtl="0" algn="l">
              <a:lnSpc>
                <a:spcPct val="107000"/>
              </a:lnSpc>
              <a:spcBef>
                <a:spcPts val="1400"/>
              </a:spcBef>
              <a:spcAft>
                <a:spcPts val="0"/>
              </a:spcAft>
              <a:buSzPts val="1900"/>
              <a:buFont typeface="Noto Sans Symbols"/>
              <a:buChar char="∙"/>
            </a:pPr>
            <a:r>
              <a:rPr lang="en-PH" sz="1900">
                <a:latin typeface="Arial"/>
                <a:ea typeface="Arial"/>
                <a:cs typeface="Arial"/>
                <a:sym typeface="Arial"/>
              </a:rPr>
              <a:t>Experience of sensory events without any input from the surrounding environment</a:t>
            </a:r>
            <a:endParaRPr/>
          </a:p>
          <a:p>
            <a:pPr indent="-342900" lvl="0" marL="342900" rtl="0" algn="l">
              <a:lnSpc>
                <a:spcPct val="107000"/>
              </a:lnSpc>
              <a:spcBef>
                <a:spcPts val="1400"/>
              </a:spcBef>
              <a:spcAft>
                <a:spcPts val="0"/>
              </a:spcAft>
              <a:buSzPts val="1900"/>
              <a:buFont typeface="Noto Sans Symbols"/>
              <a:buChar char="∙"/>
            </a:pPr>
            <a:r>
              <a:rPr lang="en-PH" sz="1900">
                <a:latin typeface="Arial"/>
                <a:ea typeface="Arial"/>
                <a:cs typeface="Arial"/>
                <a:sym typeface="Arial"/>
              </a:rPr>
              <a:t>Auditory hallucination is the most common form experienced by people with schizophrenia</a:t>
            </a:r>
            <a:endParaRPr/>
          </a:p>
          <a:p>
            <a:pPr indent="-342900" lvl="0" marL="342900" rtl="0" algn="l">
              <a:lnSpc>
                <a:spcPct val="107000"/>
              </a:lnSpc>
              <a:spcBef>
                <a:spcPts val="1400"/>
              </a:spcBef>
              <a:spcAft>
                <a:spcPts val="0"/>
              </a:spcAft>
              <a:buSzPts val="1900"/>
              <a:buFont typeface="Noto Sans Symbols"/>
              <a:buChar char="∙"/>
            </a:pPr>
            <a:r>
              <a:rPr lang="en-PH" sz="1900">
                <a:latin typeface="Arial"/>
                <a:ea typeface="Arial"/>
                <a:cs typeface="Arial"/>
                <a:sym typeface="Arial"/>
              </a:rPr>
              <a:t>People who experience hallucinations appear to have intrusive thoughts, but they believe they are coming from somewhere or someone else</a:t>
            </a:r>
            <a:endParaRPr/>
          </a:p>
          <a:p>
            <a:pPr indent="-342900" lvl="0" marL="342900" rtl="0" algn="l">
              <a:lnSpc>
                <a:spcPct val="107000"/>
              </a:lnSpc>
              <a:spcBef>
                <a:spcPts val="1400"/>
              </a:spcBef>
              <a:spcAft>
                <a:spcPts val="0"/>
              </a:spcAft>
              <a:buSzPts val="1900"/>
              <a:buFont typeface="Noto Sans Symbols"/>
              <a:buChar char="∙"/>
            </a:pPr>
            <a:r>
              <a:rPr b="1" lang="en-PH" sz="1900">
                <a:latin typeface="Arial"/>
                <a:ea typeface="Arial"/>
                <a:cs typeface="Arial"/>
                <a:sym typeface="Arial"/>
              </a:rPr>
              <a:t>Broca’s area </a:t>
            </a:r>
            <a:r>
              <a:rPr lang="en-PH" sz="1900">
                <a:latin typeface="Arial"/>
                <a:ea typeface="Arial"/>
                <a:cs typeface="Arial"/>
                <a:sym typeface="Arial"/>
              </a:rPr>
              <a:t>– part of the brain most active during hallucinations; is known to be involved in speech production</a:t>
            </a:r>
            <a:endParaRPr/>
          </a:p>
          <a:p>
            <a:pPr indent="-342900" lvl="0" marL="342900" rtl="0" algn="l">
              <a:lnSpc>
                <a:spcPct val="107000"/>
              </a:lnSpc>
              <a:spcBef>
                <a:spcPts val="1400"/>
              </a:spcBef>
              <a:spcAft>
                <a:spcPts val="0"/>
              </a:spcAft>
              <a:buSzPts val="1900"/>
              <a:buFont typeface="Noto Sans Symbols"/>
              <a:buChar char="∙"/>
            </a:pPr>
            <a:r>
              <a:rPr b="1" lang="en-PH" sz="1900">
                <a:latin typeface="Arial"/>
                <a:ea typeface="Arial"/>
                <a:cs typeface="Arial"/>
                <a:sym typeface="Arial"/>
              </a:rPr>
              <a:t>Wernicke’s area </a:t>
            </a:r>
            <a:r>
              <a:rPr lang="en-PH" sz="1900">
                <a:latin typeface="Arial"/>
                <a:ea typeface="Arial"/>
                <a:cs typeface="Arial"/>
                <a:sym typeface="Arial"/>
              </a:rPr>
              <a:t>– involves in language comprehension; people who are hallucinating are not hearing the voices of others but are listening to their own thoughts or their own voices and cannot recognize the difference</a:t>
            </a:r>
            <a:endParaRPr/>
          </a:p>
          <a:p>
            <a:pPr indent="0" lvl="0" marL="91440" rtl="0" algn="l">
              <a:lnSpc>
                <a:spcPct val="90000"/>
              </a:lnSpc>
              <a:spcBef>
                <a:spcPts val="2000"/>
              </a:spcBef>
              <a:spcAft>
                <a:spcPts val="0"/>
              </a:spcAft>
              <a:buSzPts val="1900"/>
              <a:buNone/>
            </a:pPr>
            <a:r>
              <a:t/>
            </a:r>
            <a:endParaRPr sz="1900">
              <a:latin typeface="Arial"/>
              <a:ea typeface="Arial"/>
              <a:cs typeface="Arial"/>
              <a:sym typeface="Arial"/>
            </a:endParaRPr>
          </a:p>
        </p:txBody>
      </p:sp>
    </p:spTree>
  </p:cSld>
  <p:clrMapOvr>
    <a:masterClrMapping/>
  </p:clrMapOvr>
  <p:transition spd="med">
    <p:push/>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103"/>
          <p:cNvSpPr txBox="1"/>
          <p:nvPr/>
        </p:nvSpPr>
        <p:spPr>
          <a:xfrm>
            <a:off x="1299409" y="1181375"/>
            <a:ext cx="8390022" cy="3757311"/>
          </a:xfrm>
          <a:prstGeom prst="rect">
            <a:avLst/>
          </a:prstGeom>
          <a:noFill/>
          <a:ln>
            <a:noFill/>
          </a:ln>
        </p:spPr>
        <p:txBody>
          <a:bodyPr anchorCtr="0" anchor="t" bIns="45700" lIns="91425" spcFirstLastPara="1" rIns="91425" wrap="square" tIns="45700">
            <a:spAutoFit/>
          </a:bodyPr>
          <a:lstStyle/>
          <a:p>
            <a:pPr indent="0" lvl="0" marL="457200" marR="0" rtl="0" algn="just">
              <a:lnSpc>
                <a:spcPct val="107000"/>
              </a:lnSpc>
              <a:spcBef>
                <a:spcPts val="0"/>
              </a:spcBef>
              <a:spcAft>
                <a:spcPts val="0"/>
              </a:spcAft>
              <a:buNone/>
            </a:pPr>
            <a:r>
              <a:rPr lang="en-PH" sz="2800">
                <a:solidFill>
                  <a:schemeClr val="dk1"/>
                </a:solidFill>
                <a:latin typeface="Arial"/>
                <a:ea typeface="Arial"/>
                <a:cs typeface="Arial"/>
                <a:sym typeface="Arial"/>
              </a:rPr>
              <a:t>Example of Alogia:</a:t>
            </a:r>
            <a:endParaRPr/>
          </a:p>
          <a:p>
            <a:pPr indent="0" lvl="0" marL="457200" marR="0" rtl="0" algn="just">
              <a:lnSpc>
                <a:spcPct val="107000"/>
              </a:lnSpc>
              <a:spcBef>
                <a:spcPts val="0"/>
              </a:spcBef>
              <a:spcAft>
                <a:spcPts val="0"/>
              </a:spcAft>
              <a:buNone/>
            </a:pPr>
            <a:r>
              <a:t/>
            </a:r>
            <a:endParaRPr sz="2800">
              <a:solidFill>
                <a:schemeClr val="dk1"/>
              </a:solidFill>
              <a:latin typeface="Arial"/>
              <a:ea typeface="Arial"/>
              <a:cs typeface="Arial"/>
              <a:sym typeface="Arial"/>
            </a:endParaRPr>
          </a:p>
          <a:p>
            <a:pPr indent="0" lvl="0" marL="457200" marR="0" rtl="0" algn="just">
              <a:lnSpc>
                <a:spcPct val="107000"/>
              </a:lnSpc>
              <a:spcBef>
                <a:spcPts val="0"/>
              </a:spcBef>
              <a:spcAft>
                <a:spcPts val="0"/>
              </a:spcAft>
              <a:buNone/>
            </a:pPr>
            <a:r>
              <a:rPr lang="en-PH" sz="2800">
                <a:solidFill>
                  <a:schemeClr val="dk1"/>
                </a:solidFill>
                <a:latin typeface="Arial"/>
                <a:ea typeface="Arial"/>
                <a:cs typeface="Arial"/>
                <a:sym typeface="Arial"/>
              </a:rPr>
              <a:t>Interviewer: Do you have any children? </a:t>
            </a:r>
            <a:endParaRPr sz="2800">
              <a:solidFill>
                <a:schemeClr val="dk1"/>
              </a:solidFill>
              <a:latin typeface="Calibri"/>
              <a:ea typeface="Calibri"/>
              <a:cs typeface="Calibri"/>
              <a:sym typeface="Calibri"/>
            </a:endParaRPr>
          </a:p>
          <a:p>
            <a:pPr indent="0" lvl="0" marL="457200" marR="0" rtl="0" algn="just">
              <a:lnSpc>
                <a:spcPct val="107000"/>
              </a:lnSpc>
              <a:spcBef>
                <a:spcPts val="0"/>
              </a:spcBef>
              <a:spcAft>
                <a:spcPts val="0"/>
              </a:spcAft>
              <a:buNone/>
            </a:pPr>
            <a:r>
              <a:rPr lang="en-PH" sz="2800">
                <a:solidFill>
                  <a:schemeClr val="dk1"/>
                </a:solidFill>
                <a:latin typeface="Arial"/>
                <a:ea typeface="Arial"/>
                <a:cs typeface="Arial"/>
                <a:sym typeface="Arial"/>
              </a:rPr>
              <a:t>Client: Yes. </a:t>
            </a:r>
            <a:endParaRPr sz="2800">
              <a:solidFill>
                <a:schemeClr val="dk1"/>
              </a:solidFill>
              <a:latin typeface="Calibri"/>
              <a:ea typeface="Calibri"/>
              <a:cs typeface="Calibri"/>
              <a:sym typeface="Calibri"/>
            </a:endParaRPr>
          </a:p>
          <a:p>
            <a:pPr indent="0" lvl="0" marL="457200" marR="0" rtl="0" algn="just">
              <a:lnSpc>
                <a:spcPct val="107000"/>
              </a:lnSpc>
              <a:spcBef>
                <a:spcPts val="0"/>
              </a:spcBef>
              <a:spcAft>
                <a:spcPts val="0"/>
              </a:spcAft>
              <a:buNone/>
            </a:pPr>
            <a:r>
              <a:rPr lang="en-PH" sz="2800">
                <a:solidFill>
                  <a:schemeClr val="dk1"/>
                </a:solidFill>
                <a:latin typeface="Arial"/>
                <a:ea typeface="Arial"/>
                <a:cs typeface="Arial"/>
                <a:sym typeface="Arial"/>
              </a:rPr>
              <a:t>I: How many children do you have? </a:t>
            </a:r>
            <a:endParaRPr sz="2800">
              <a:solidFill>
                <a:schemeClr val="dk1"/>
              </a:solidFill>
              <a:latin typeface="Calibri"/>
              <a:ea typeface="Calibri"/>
              <a:cs typeface="Calibri"/>
              <a:sym typeface="Calibri"/>
            </a:endParaRPr>
          </a:p>
          <a:p>
            <a:pPr indent="0" lvl="0" marL="457200" marR="0" rtl="0" algn="just">
              <a:lnSpc>
                <a:spcPct val="107000"/>
              </a:lnSpc>
              <a:spcBef>
                <a:spcPts val="0"/>
              </a:spcBef>
              <a:spcAft>
                <a:spcPts val="0"/>
              </a:spcAft>
              <a:buNone/>
            </a:pPr>
            <a:r>
              <a:rPr lang="en-PH" sz="2800">
                <a:solidFill>
                  <a:schemeClr val="dk1"/>
                </a:solidFill>
                <a:latin typeface="Arial"/>
                <a:ea typeface="Arial"/>
                <a:cs typeface="Arial"/>
                <a:sym typeface="Arial"/>
              </a:rPr>
              <a:t>C: Two. </a:t>
            </a:r>
            <a:endParaRPr sz="2800">
              <a:solidFill>
                <a:schemeClr val="dk1"/>
              </a:solidFill>
              <a:latin typeface="Calibri"/>
              <a:ea typeface="Calibri"/>
              <a:cs typeface="Calibri"/>
              <a:sym typeface="Calibri"/>
            </a:endParaRPr>
          </a:p>
          <a:p>
            <a:pPr indent="0" lvl="0" marL="457200" marR="0" rtl="0" algn="just">
              <a:lnSpc>
                <a:spcPct val="107000"/>
              </a:lnSpc>
              <a:spcBef>
                <a:spcPts val="0"/>
              </a:spcBef>
              <a:spcAft>
                <a:spcPts val="0"/>
              </a:spcAft>
              <a:buNone/>
            </a:pPr>
            <a:r>
              <a:rPr lang="en-PH" sz="2800">
                <a:solidFill>
                  <a:schemeClr val="dk1"/>
                </a:solidFill>
                <a:latin typeface="Arial"/>
                <a:ea typeface="Arial"/>
                <a:cs typeface="Arial"/>
                <a:sym typeface="Arial"/>
              </a:rPr>
              <a:t>I: How old are they? </a:t>
            </a:r>
            <a:endParaRPr sz="2800">
              <a:solidFill>
                <a:schemeClr val="dk1"/>
              </a:solidFill>
              <a:latin typeface="Calibri"/>
              <a:ea typeface="Calibri"/>
              <a:cs typeface="Calibri"/>
              <a:sym typeface="Calibri"/>
            </a:endParaRPr>
          </a:p>
          <a:p>
            <a:pPr indent="0" lvl="0" marL="457200" marR="0" rtl="0" algn="just">
              <a:lnSpc>
                <a:spcPct val="107000"/>
              </a:lnSpc>
              <a:spcBef>
                <a:spcPts val="0"/>
              </a:spcBef>
              <a:spcAft>
                <a:spcPts val="0"/>
              </a:spcAft>
              <a:buNone/>
            </a:pPr>
            <a:r>
              <a:rPr lang="en-PH" sz="2800">
                <a:solidFill>
                  <a:schemeClr val="dk1"/>
                </a:solidFill>
                <a:latin typeface="Arial"/>
                <a:ea typeface="Arial"/>
                <a:cs typeface="Arial"/>
                <a:sym typeface="Arial"/>
              </a:rPr>
              <a:t>C: Six and twelve.</a:t>
            </a:r>
            <a:endParaRPr sz="2800">
              <a:solidFill>
                <a:schemeClr val="dk1"/>
              </a:solidFill>
              <a:latin typeface="Calibri"/>
              <a:ea typeface="Calibri"/>
              <a:cs typeface="Calibri"/>
              <a:sym typeface="Calibri"/>
            </a:endParaRPr>
          </a:p>
        </p:txBody>
      </p:sp>
    </p:spTree>
  </p:cSld>
  <p:clrMapOvr>
    <a:masterClrMapping/>
  </p:clrMapOvr>
  <p:transition spd="med">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0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NEGATIVE SYMPTOMS</a:t>
            </a:r>
            <a:endParaRPr/>
          </a:p>
        </p:txBody>
      </p:sp>
      <p:sp>
        <p:nvSpPr>
          <p:cNvPr id="463" name="Google Shape;463;p10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342900" lvl="0" marL="342900" rtl="0" algn="l">
              <a:lnSpc>
                <a:spcPct val="107000"/>
              </a:lnSpc>
              <a:spcBef>
                <a:spcPts val="0"/>
              </a:spcBef>
              <a:spcAft>
                <a:spcPts val="0"/>
              </a:spcAft>
              <a:buSzPts val="1800"/>
              <a:buFont typeface="Noto Sans Symbols"/>
              <a:buChar char="∙"/>
            </a:pPr>
            <a:r>
              <a:rPr b="1" lang="en-PH" sz="1800">
                <a:latin typeface="Arial"/>
                <a:ea typeface="Arial"/>
                <a:cs typeface="Arial"/>
                <a:sym typeface="Arial"/>
              </a:rPr>
              <a:t>Avolition </a:t>
            </a:r>
            <a:r>
              <a:rPr lang="en-PH" sz="1800">
                <a:latin typeface="Arial"/>
                <a:ea typeface="Arial"/>
                <a:cs typeface="Arial"/>
                <a:sym typeface="Arial"/>
              </a:rPr>
              <a:t>is the inability to initiate and persist in activities; people with this symptom show little interest in performing even the most basic day-to-day functions, including those associated with personal hygiene.</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b="1" lang="en-PH" sz="1800">
                <a:latin typeface="Arial"/>
                <a:ea typeface="Arial"/>
                <a:cs typeface="Arial"/>
                <a:sym typeface="Arial"/>
              </a:rPr>
              <a:t>Alogia</a:t>
            </a:r>
            <a:r>
              <a:rPr lang="en-PH" sz="1800">
                <a:latin typeface="Arial"/>
                <a:ea typeface="Arial"/>
                <a:cs typeface="Arial"/>
                <a:sym typeface="Arial"/>
              </a:rPr>
              <a:t> refers to the relative absence of speech</a:t>
            </a:r>
            <a:endParaRPr/>
          </a:p>
          <a:p>
            <a:pPr indent="-342900" lvl="0" marL="342900" rtl="0" algn="l">
              <a:lnSpc>
                <a:spcPct val="107000"/>
              </a:lnSpc>
              <a:spcBef>
                <a:spcPts val="1400"/>
              </a:spcBef>
              <a:spcAft>
                <a:spcPts val="0"/>
              </a:spcAft>
              <a:buSzPts val="1800"/>
              <a:buFont typeface="Noto Sans Symbols"/>
              <a:buChar char="∙"/>
            </a:pPr>
            <a:r>
              <a:rPr b="1" lang="en-PH" sz="1800">
                <a:latin typeface="Arial"/>
                <a:ea typeface="Arial"/>
                <a:cs typeface="Arial"/>
                <a:sym typeface="Arial"/>
              </a:rPr>
              <a:t>Anhedonia</a:t>
            </a:r>
            <a:r>
              <a:rPr lang="en-PH" sz="1800">
                <a:latin typeface="Arial"/>
                <a:ea typeface="Arial"/>
                <a:cs typeface="Arial"/>
                <a:sym typeface="Arial"/>
              </a:rPr>
              <a:t> is the presumed lack of pleasure</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b="1" lang="en-PH" sz="1800">
                <a:latin typeface="Arial"/>
                <a:ea typeface="Arial"/>
                <a:cs typeface="Arial"/>
                <a:sym typeface="Arial"/>
              </a:rPr>
              <a:t>Asociality </a:t>
            </a:r>
            <a:r>
              <a:rPr lang="en-PH" sz="1800">
                <a:latin typeface="Arial"/>
                <a:ea typeface="Arial"/>
                <a:cs typeface="Arial"/>
                <a:sym typeface="Arial"/>
              </a:rPr>
              <a:t>refers</a:t>
            </a:r>
            <a:r>
              <a:rPr b="1" lang="en-PH" sz="1800">
                <a:latin typeface="Arial"/>
                <a:ea typeface="Arial"/>
                <a:cs typeface="Arial"/>
                <a:sym typeface="Arial"/>
              </a:rPr>
              <a:t> </a:t>
            </a:r>
            <a:r>
              <a:rPr lang="en-PH" sz="1800">
                <a:latin typeface="Arial"/>
                <a:ea typeface="Arial"/>
                <a:cs typeface="Arial"/>
                <a:sym typeface="Arial"/>
              </a:rPr>
              <a:t>to the lack of interest in social interaction</a:t>
            </a:r>
            <a:endParaRPr sz="1800">
              <a:latin typeface="Calibri"/>
              <a:ea typeface="Calibri"/>
              <a:cs typeface="Calibri"/>
              <a:sym typeface="Calibri"/>
            </a:endParaRPr>
          </a:p>
          <a:p>
            <a:pPr indent="-342900" lvl="0" marL="342900" rtl="0" algn="l">
              <a:lnSpc>
                <a:spcPct val="107000"/>
              </a:lnSpc>
              <a:spcBef>
                <a:spcPts val="1400"/>
              </a:spcBef>
              <a:spcAft>
                <a:spcPts val="0"/>
              </a:spcAft>
              <a:buSzPts val="1800"/>
              <a:buFont typeface="Noto Sans Symbols"/>
              <a:buChar char="∙"/>
            </a:pPr>
            <a:r>
              <a:rPr b="1" lang="en-PH" sz="1800">
                <a:latin typeface="Arial"/>
                <a:ea typeface="Arial"/>
                <a:cs typeface="Arial"/>
                <a:sym typeface="Arial"/>
              </a:rPr>
              <a:t>Affective Flattening</a:t>
            </a:r>
            <a:r>
              <a:rPr lang="en-PH" sz="1800">
                <a:latin typeface="Arial"/>
                <a:ea typeface="Arial"/>
                <a:cs typeface="Arial"/>
                <a:sym typeface="Arial"/>
              </a:rPr>
              <a:t> is a symptom wherein individuals do not show emotions when you would normally expect them to. </a:t>
            </a:r>
            <a:endParaRPr/>
          </a:p>
        </p:txBody>
      </p:sp>
    </p:spTree>
  </p:cSld>
  <p:clrMapOvr>
    <a:masterClrMapping/>
  </p:clrMapOvr>
  <p:transition spd="med">
    <p:push/>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0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DISORGANIZED SYMPTOMS</a:t>
            </a:r>
            <a:endParaRPr/>
          </a:p>
        </p:txBody>
      </p:sp>
      <p:sp>
        <p:nvSpPr>
          <p:cNvPr id="470" name="Google Shape;470;p105"/>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Autofit/>
          </a:bodyPr>
          <a:lstStyle/>
          <a:p>
            <a:pPr indent="-342900" lvl="0" marL="342900" rtl="0" algn="l">
              <a:lnSpc>
                <a:spcPct val="107000"/>
              </a:lnSpc>
              <a:spcBef>
                <a:spcPts val="0"/>
              </a:spcBef>
              <a:spcAft>
                <a:spcPts val="0"/>
              </a:spcAft>
              <a:buSzPts val="1600"/>
              <a:buFont typeface="Noto Sans Symbols"/>
              <a:buChar char="∙"/>
            </a:pPr>
            <a:r>
              <a:rPr lang="en-PH" sz="1600">
                <a:latin typeface="Arial"/>
                <a:ea typeface="Arial"/>
                <a:cs typeface="Arial"/>
                <a:sym typeface="Arial"/>
              </a:rPr>
              <a:t>These include a variety of erratic behaviors that affect speech, motor behavior, and emotional reactions.</a:t>
            </a:r>
            <a:endParaRPr/>
          </a:p>
          <a:p>
            <a:pPr indent="-342900" lvl="0" marL="342900" rtl="0" algn="l">
              <a:lnSpc>
                <a:spcPct val="107000"/>
              </a:lnSpc>
              <a:spcBef>
                <a:spcPts val="1400"/>
              </a:spcBef>
              <a:spcAft>
                <a:spcPts val="0"/>
              </a:spcAft>
              <a:buSzPts val="1600"/>
              <a:buFont typeface="Noto Sans Symbols"/>
              <a:buChar char="∙"/>
            </a:pPr>
            <a:r>
              <a:rPr b="1" lang="en-PH" sz="1600">
                <a:latin typeface="Arial"/>
                <a:ea typeface="Arial"/>
                <a:cs typeface="Arial"/>
                <a:sym typeface="Arial"/>
              </a:rPr>
              <a:t>Disorganized Speech -</a:t>
            </a:r>
            <a:r>
              <a:rPr lang="en-PH" sz="1600">
                <a:latin typeface="Arial"/>
                <a:ea typeface="Arial"/>
                <a:cs typeface="Arial"/>
                <a:sym typeface="Arial"/>
              </a:rPr>
              <a:t> people with schizophrenia often lack insight and awareness that they have a problem.</a:t>
            </a:r>
            <a:endParaRPr/>
          </a:p>
          <a:p>
            <a:pPr indent="-342900" lvl="0" marL="342900" rtl="0" algn="l">
              <a:lnSpc>
                <a:spcPct val="107000"/>
              </a:lnSpc>
              <a:spcBef>
                <a:spcPts val="1400"/>
              </a:spcBef>
              <a:spcAft>
                <a:spcPts val="0"/>
              </a:spcAft>
              <a:buSzPts val="1600"/>
              <a:buFont typeface="Noto Sans Symbols"/>
              <a:buChar char="∙"/>
            </a:pPr>
            <a:r>
              <a:rPr b="1" lang="en-PH" sz="1600">
                <a:latin typeface="Arial"/>
                <a:ea typeface="Arial"/>
                <a:cs typeface="Arial"/>
                <a:sym typeface="Arial"/>
              </a:rPr>
              <a:t>Tangentiality - </a:t>
            </a:r>
            <a:r>
              <a:rPr lang="en-PH" sz="1600">
                <a:latin typeface="Arial"/>
                <a:ea typeface="Arial"/>
                <a:cs typeface="Arial"/>
                <a:sym typeface="Arial"/>
              </a:rPr>
              <a:t>going off on a tangent instead of answering a specific question. </a:t>
            </a:r>
            <a:endParaRPr/>
          </a:p>
          <a:p>
            <a:pPr indent="-342900" lvl="0" marL="342900" rtl="0" algn="l">
              <a:lnSpc>
                <a:spcPct val="107000"/>
              </a:lnSpc>
              <a:spcBef>
                <a:spcPts val="1400"/>
              </a:spcBef>
              <a:spcAft>
                <a:spcPts val="0"/>
              </a:spcAft>
              <a:buSzPts val="1600"/>
              <a:buFont typeface="Noto Sans Symbols"/>
              <a:buChar char="∙"/>
            </a:pPr>
            <a:r>
              <a:rPr b="1" lang="en-PH" sz="1600">
                <a:latin typeface="Arial"/>
                <a:ea typeface="Arial"/>
                <a:cs typeface="Arial"/>
                <a:sym typeface="Arial"/>
              </a:rPr>
              <a:t>Loose association or derailment </a:t>
            </a:r>
            <a:r>
              <a:rPr lang="en-PH" sz="1600">
                <a:latin typeface="Arial"/>
                <a:ea typeface="Arial"/>
                <a:cs typeface="Arial"/>
                <a:sym typeface="Arial"/>
              </a:rPr>
              <a:t>- abruptly changes the topic of conversation to unrelated areas</a:t>
            </a:r>
            <a:endParaRPr/>
          </a:p>
          <a:p>
            <a:pPr indent="-342900" lvl="0" marL="342900" rtl="0" algn="l">
              <a:lnSpc>
                <a:spcPct val="107000"/>
              </a:lnSpc>
              <a:spcBef>
                <a:spcPts val="1400"/>
              </a:spcBef>
              <a:spcAft>
                <a:spcPts val="0"/>
              </a:spcAft>
              <a:buSzPts val="1600"/>
              <a:buFont typeface="Noto Sans Symbols"/>
              <a:buChar char="∙"/>
            </a:pPr>
            <a:r>
              <a:rPr b="1" lang="en-PH" sz="1600">
                <a:latin typeface="Arial"/>
                <a:ea typeface="Arial"/>
                <a:cs typeface="Arial"/>
                <a:sym typeface="Arial"/>
              </a:rPr>
              <a:t>Inappropriate affect - </a:t>
            </a:r>
            <a:r>
              <a:rPr lang="en-PH" sz="1600">
                <a:latin typeface="Arial"/>
                <a:ea typeface="Arial"/>
                <a:cs typeface="Arial"/>
                <a:sym typeface="Arial"/>
              </a:rPr>
              <a:t>laughing or crying at improper times. </a:t>
            </a:r>
            <a:endParaRPr/>
          </a:p>
          <a:p>
            <a:pPr indent="-342900" lvl="0" marL="342900" rtl="0" algn="l">
              <a:lnSpc>
                <a:spcPct val="107000"/>
              </a:lnSpc>
              <a:spcBef>
                <a:spcPts val="1400"/>
              </a:spcBef>
              <a:spcAft>
                <a:spcPts val="0"/>
              </a:spcAft>
              <a:buSzPts val="1600"/>
              <a:buFont typeface="Noto Sans Symbols"/>
              <a:buChar char="∙"/>
            </a:pPr>
            <a:r>
              <a:rPr b="1" lang="en-PH" sz="1600">
                <a:latin typeface="Arial"/>
                <a:ea typeface="Arial"/>
                <a:cs typeface="Arial"/>
                <a:sym typeface="Arial"/>
              </a:rPr>
              <a:t>Disorganized behavior - </a:t>
            </a:r>
            <a:r>
              <a:rPr lang="en-PH" sz="1600">
                <a:latin typeface="Arial"/>
                <a:ea typeface="Arial"/>
                <a:cs typeface="Arial"/>
                <a:sym typeface="Arial"/>
              </a:rPr>
              <a:t>exhibit bizarre behaviors in public</a:t>
            </a:r>
            <a:endParaRPr/>
          </a:p>
          <a:p>
            <a:pPr indent="-342900" lvl="0" marL="342900" rtl="0" algn="l">
              <a:lnSpc>
                <a:spcPct val="107000"/>
              </a:lnSpc>
              <a:spcBef>
                <a:spcPts val="1400"/>
              </a:spcBef>
              <a:spcAft>
                <a:spcPts val="0"/>
              </a:spcAft>
              <a:buSzPts val="1600"/>
              <a:buFont typeface="Noto Sans Symbols"/>
              <a:buChar char="∙"/>
            </a:pPr>
            <a:r>
              <a:rPr b="1" lang="en-PH" sz="1600">
                <a:latin typeface="Arial"/>
                <a:ea typeface="Arial"/>
                <a:cs typeface="Arial"/>
                <a:sym typeface="Arial"/>
              </a:rPr>
              <a:t>catatonic immobility </a:t>
            </a:r>
            <a:r>
              <a:rPr lang="en-PH" sz="1600">
                <a:latin typeface="Arial"/>
                <a:ea typeface="Arial"/>
                <a:cs typeface="Arial"/>
                <a:sym typeface="Arial"/>
              </a:rPr>
              <a:t>- people hold unusual postures, as if they were fearful of something terrible happening if they moved</a:t>
            </a:r>
            <a:endParaRPr/>
          </a:p>
          <a:p>
            <a:pPr indent="-342900" lvl="0" marL="342900" rtl="0" algn="l">
              <a:lnSpc>
                <a:spcPct val="107000"/>
              </a:lnSpc>
              <a:spcBef>
                <a:spcPts val="1400"/>
              </a:spcBef>
              <a:spcAft>
                <a:spcPts val="0"/>
              </a:spcAft>
              <a:buSzPts val="1600"/>
              <a:buFont typeface="Noto Sans Symbols"/>
              <a:buChar char="∙"/>
            </a:pPr>
            <a:r>
              <a:rPr b="1" lang="en-PH" sz="1600">
                <a:latin typeface="Arial"/>
                <a:ea typeface="Arial"/>
                <a:cs typeface="Arial"/>
                <a:sym typeface="Arial"/>
              </a:rPr>
              <a:t>waxy flexibility</a:t>
            </a:r>
            <a:r>
              <a:rPr lang="en-PH" sz="1600">
                <a:latin typeface="Arial"/>
                <a:ea typeface="Arial"/>
                <a:cs typeface="Arial"/>
                <a:sym typeface="Arial"/>
              </a:rPr>
              <a:t> - the tendency to keep their bodies and limbs in the position they are put in by someone else</a:t>
            </a:r>
            <a:endParaRPr/>
          </a:p>
          <a:p>
            <a:pPr indent="0" lvl="0" marL="91440" rtl="0" algn="l">
              <a:lnSpc>
                <a:spcPct val="90000"/>
              </a:lnSpc>
              <a:spcBef>
                <a:spcPts val="1400"/>
              </a:spcBef>
              <a:spcAft>
                <a:spcPts val="0"/>
              </a:spcAft>
              <a:buSzPts val="1600"/>
              <a:buNone/>
            </a:pPr>
            <a:r>
              <a:t/>
            </a:r>
            <a:endParaRPr sz="1600">
              <a:latin typeface="Arial"/>
              <a:ea typeface="Arial"/>
              <a:cs typeface="Arial"/>
              <a:sym typeface="Arial"/>
            </a:endParaRPr>
          </a:p>
        </p:txBody>
      </p:sp>
    </p:spTree>
  </p:cSld>
  <p:clrMapOvr>
    <a:masterClrMapping/>
  </p:clrMapOvr>
  <p:transition spd="med">
    <p:push/>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10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Other Psychotic Disorders</a:t>
            </a:r>
            <a:endParaRPr/>
          </a:p>
        </p:txBody>
      </p:sp>
      <p:sp>
        <p:nvSpPr>
          <p:cNvPr id="476" name="Google Shape;476;p10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Noto Sans Symbols"/>
              <a:buChar char="⮚"/>
            </a:pPr>
            <a:r>
              <a:rPr lang="en-PH" sz="2400">
                <a:latin typeface="Arial"/>
                <a:ea typeface="Arial"/>
                <a:cs typeface="Arial"/>
                <a:sym typeface="Arial"/>
              </a:rPr>
              <a:t> Schizophreniform disorder</a:t>
            </a:r>
            <a:endParaRPr/>
          </a:p>
          <a:p>
            <a:pPr indent="-152400" lvl="0" marL="91440" rtl="0" algn="l">
              <a:lnSpc>
                <a:spcPct val="90000"/>
              </a:lnSpc>
              <a:spcBef>
                <a:spcPts val="1400"/>
              </a:spcBef>
              <a:spcAft>
                <a:spcPts val="0"/>
              </a:spcAft>
              <a:buSzPts val="2400"/>
              <a:buFont typeface="Noto Sans Symbols"/>
              <a:buChar char="⮚"/>
            </a:pPr>
            <a:r>
              <a:rPr lang="en-PH" sz="2400">
                <a:latin typeface="Arial"/>
                <a:ea typeface="Arial"/>
                <a:cs typeface="Arial"/>
                <a:sym typeface="Arial"/>
              </a:rPr>
              <a:t> Schizoaffective disorder</a:t>
            </a:r>
            <a:endParaRPr/>
          </a:p>
          <a:p>
            <a:pPr indent="-152400" lvl="0" marL="91440" rtl="0" algn="l">
              <a:lnSpc>
                <a:spcPct val="90000"/>
              </a:lnSpc>
              <a:spcBef>
                <a:spcPts val="1400"/>
              </a:spcBef>
              <a:spcAft>
                <a:spcPts val="0"/>
              </a:spcAft>
              <a:buSzPts val="2400"/>
              <a:buFont typeface="Noto Sans Symbols"/>
              <a:buChar char="⮚"/>
            </a:pPr>
            <a:r>
              <a:rPr lang="en-PH" sz="2400">
                <a:latin typeface="Arial"/>
                <a:ea typeface="Arial"/>
                <a:cs typeface="Arial"/>
                <a:sym typeface="Arial"/>
              </a:rPr>
              <a:t> Delusional disorder</a:t>
            </a:r>
            <a:endParaRPr/>
          </a:p>
          <a:p>
            <a:pPr indent="-152400" lvl="0" marL="91440" rtl="0" algn="l">
              <a:lnSpc>
                <a:spcPct val="90000"/>
              </a:lnSpc>
              <a:spcBef>
                <a:spcPts val="1400"/>
              </a:spcBef>
              <a:spcAft>
                <a:spcPts val="0"/>
              </a:spcAft>
              <a:buSzPts val="2400"/>
              <a:buFont typeface="Noto Sans Symbols"/>
              <a:buChar char="⮚"/>
            </a:pPr>
            <a:r>
              <a:rPr lang="en-PH" sz="2400">
                <a:latin typeface="Arial"/>
                <a:ea typeface="Arial"/>
                <a:cs typeface="Arial"/>
                <a:sym typeface="Arial"/>
              </a:rPr>
              <a:t> Shared psychotic disorder (folie à deux)</a:t>
            </a:r>
            <a:endParaRPr/>
          </a:p>
          <a:p>
            <a:pPr indent="-152400" lvl="0" marL="91440" rtl="0" algn="l">
              <a:lnSpc>
                <a:spcPct val="90000"/>
              </a:lnSpc>
              <a:spcBef>
                <a:spcPts val="1400"/>
              </a:spcBef>
              <a:spcAft>
                <a:spcPts val="0"/>
              </a:spcAft>
              <a:buSzPts val="2400"/>
              <a:buFont typeface="Noto Sans Symbols"/>
              <a:buChar char="⮚"/>
            </a:pPr>
            <a:r>
              <a:rPr lang="en-PH" sz="2400">
                <a:latin typeface="Arial"/>
                <a:ea typeface="Arial"/>
                <a:cs typeface="Arial"/>
                <a:sym typeface="Arial"/>
              </a:rPr>
              <a:t> Brief Psychotic disorder</a:t>
            </a:r>
            <a:endParaRPr sz="2400">
              <a:latin typeface="Calibri"/>
              <a:ea typeface="Calibri"/>
              <a:cs typeface="Calibri"/>
              <a:sym typeface="Calibri"/>
            </a:endParaRPr>
          </a:p>
          <a:p>
            <a:pPr indent="-152400" lvl="0" marL="91440" rtl="0" algn="l">
              <a:lnSpc>
                <a:spcPct val="90000"/>
              </a:lnSpc>
              <a:spcBef>
                <a:spcPts val="1400"/>
              </a:spcBef>
              <a:spcAft>
                <a:spcPts val="0"/>
              </a:spcAft>
              <a:buSzPts val="2400"/>
              <a:buFont typeface="Noto Sans Symbols"/>
              <a:buChar char="⮚"/>
            </a:pPr>
            <a:r>
              <a:rPr lang="en-PH" sz="2400">
                <a:latin typeface="Arial"/>
                <a:ea typeface="Arial"/>
                <a:cs typeface="Arial"/>
                <a:sym typeface="Arial"/>
              </a:rPr>
              <a:t> Attenuated Psychosis Syndrome</a:t>
            </a:r>
            <a:endParaRPr sz="2400">
              <a:latin typeface="Calibri"/>
              <a:ea typeface="Calibri"/>
              <a:cs typeface="Calibri"/>
              <a:sym typeface="Calibri"/>
            </a:endParaRPr>
          </a:p>
          <a:p>
            <a:pPr indent="0" lvl="0" marL="91440" rtl="0" algn="l">
              <a:lnSpc>
                <a:spcPct val="90000"/>
              </a:lnSpc>
              <a:spcBef>
                <a:spcPts val="1400"/>
              </a:spcBef>
              <a:spcAft>
                <a:spcPts val="0"/>
              </a:spcAft>
              <a:buSzPts val="2400"/>
              <a:buFont typeface="Noto Sans Symbols"/>
              <a:buNone/>
            </a:pPr>
            <a:r>
              <a:t/>
            </a:r>
            <a:endParaRPr sz="2400"/>
          </a:p>
        </p:txBody>
      </p:sp>
    </p:spTree>
  </p:cSld>
  <p:clrMapOvr>
    <a:masterClrMapping/>
  </p:clrMapOvr>
  <p:transition spd="med">
    <p:push/>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1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Schizophreniform</a:t>
            </a:r>
            <a:r>
              <a:rPr lang="en-PH">
                <a:latin typeface="Arial"/>
                <a:ea typeface="Arial"/>
                <a:cs typeface="Arial"/>
                <a:sym typeface="Arial"/>
              </a:rPr>
              <a:t> </a:t>
            </a:r>
            <a:r>
              <a:rPr b="1" lang="en-PH">
                <a:latin typeface="Arial"/>
                <a:ea typeface="Arial"/>
                <a:cs typeface="Arial"/>
                <a:sym typeface="Arial"/>
              </a:rPr>
              <a:t>disorder</a:t>
            </a:r>
            <a:endParaRPr/>
          </a:p>
        </p:txBody>
      </p:sp>
      <p:sp>
        <p:nvSpPr>
          <p:cNvPr id="482" name="Google Shape;482;p11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Lifetime prevalence is approximately 0.2%</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The diagnostic criteria includes onset of psychotic symptoms within 4 weeks of the first noticeable change in usual behavior, confusion at the height of the psychotic episode, good premorbid (before the psychotic episode) social and occupational functioning, and the absence of blunted or flat affect.</a:t>
            </a:r>
            <a:endParaRPr/>
          </a:p>
          <a:p>
            <a:pPr indent="0" lvl="0" marL="91440" rtl="0" algn="l">
              <a:lnSpc>
                <a:spcPct val="90000"/>
              </a:lnSpc>
              <a:spcBef>
                <a:spcPts val="14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111"/>
          <p:cNvPicPr preferRelativeResize="0"/>
          <p:nvPr/>
        </p:nvPicPr>
        <p:blipFill rotWithShape="1">
          <a:blip r:embed="rId3">
            <a:alphaModFix/>
          </a:blip>
          <a:srcRect b="0" l="0" r="0" t="0"/>
          <a:stretch/>
        </p:blipFill>
        <p:spPr>
          <a:xfrm>
            <a:off x="4237149" y="406220"/>
            <a:ext cx="3717702" cy="5692633"/>
          </a:xfrm>
          <a:prstGeom prst="rect">
            <a:avLst/>
          </a:prstGeom>
          <a:noFill/>
          <a:ln>
            <a:noFill/>
          </a:ln>
        </p:spPr>
      </p:pic>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1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Schizoaffective disorder</a:t>
            </a:r>
            <a:endParaRPr/>
          </a:p>
        </p:txBody>
      </p:sp>
      <p:sp>
        <p:nvSpPr>
          <p:cNvPr id="493" name="Google Shape;493;p11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DSM-5 criteria for schizoaffective disorder require, in addition to the presence of a mood disorder, delusions or hallucinations for at least 2 weeks in the absence of prominent mood symptoms</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The prognosis is that individuals tend not to get better on their own and are likely to continue experiencing major life difficulties for many years.</a:t>
            </a:r>
            <a:endParaRPr>
              <a:latin typeface="Arial"/>
              <a:ea typeface="Arial"/>
              <a:cs typeface="Arial"/>
              <a:sym typeface="Arial"/>
            </a:endParaRPr>
          </a:p>
        </p:txBody>
      </p:sp>
    </p:spTree>
  </p:cSld>
  <p:clrMapOvr>
    <a:masterClrMapping/>
  </p:clrMapOvr>
  <p:transition spd="med">
    <p:push/>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Delusional disorder</a:t>
            </a:r>
            <a:endParaRPr/>
          </a:p>
        </p:txBody>
      </p:sp>
      <p:sp>
        <p:nvSpPr>
          <p:cNvPr id="500" name="Google Shape;500;p11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p>
            <a:pPr indent="-107950" lvl="0" marL="91440" rtl="0" algn="l">
              <a:lnSpc>
                <a:spcPct val="90000"/>
              </a:lnSpc>
              <a:spcBef>
                <a:spcPts val="0"/>
              </a:spcBef>
              <a:spcAft>
                <a:spcPts val="0"/>
              </a:spcAft>
              <a:buSzPts val="1700"/>
              <a:buFont typeface="Arial"/>
              <a:buChar char="•"/>
            </a:pPr>
            <a:r>
              <a:rPr lang="en-PH" sz="1700">
                <a:latin typeface="Arial"/>
                <a:ea typeface="Arial"/>
                <a:cs typeface="Arial"/>
                <a:sym typeface="Arial"/>
              </a:rPr>
              <a:t> Persistent belief that is contrary to reality, in the absence of other characteristics of schizophrenia; they may become socially isolated because they are suspicious of others. </a:t>
            </a:r>
            <a:endParaRPr/>
          </a:p>
          <a:p>
            <a:pPr indent="-107950" lvl="0" marL="91440" rtl="0" algn="l">
              <a:lnSpc>
                <a:spcPct val="90000"/>
              </a:lnSpc>
              <a:spcBef>
                <a:spcPts val="1400"/>
              </a:spcBef>
              <a:spcAft>
                <a:spcPts val="0"/>
              </a:spcAft>
              <a:buSzPts val="1700"/>
              <a:buFont typeface="Arial"/>
              <a:buChar char="•"/>
            </a:pPr>
            <a:r>
              <a:rPr lang="en-PH" sz="1700">
                <a:latin typeface="Arial"/>
                <a:ea typeface="Arial"/>
                <a:cs typeface="Arial"/>
                <a:sym typeface="Arial"/>
              </a:rPr>
              <a:t>The delusions are often long-standing, sometimes persisting over several years.</a:t>
            </a:r>
            <a:endParaRPr/>
          </a:p>
          <a:p>
            <a:pPr indent="-107950" lvl="0" marL="91440" rtl="0" algn="l">
              <a:lnSpc>
                <a:spcPct val="90000"/>
              </a:lnSpc>
              <a:spcBef>
                <a:spcPts val="1400"/>
              </a:spcBef>
              <a:spcAft>
                <a:spcPts val="0"/>
              </a:spcAft>
              <a:buSzPts val="1700"/>
              <a:buFont typeface="Arial"/>
              <a:buChar char="•"/>
            </a:pPr>
            <a:r>
              <a:rPr lang="en-PH" sz="1700">
                <a:latin typeface="Arial"/>
                <a:ea typeface="Arial"/>
                <a:cs typeface="Arial"/>
                <a:sym typeface="Arial"/>
              </a:rPr>
              <a:t> In delusional disorder, the imagined events could be happening but aren’t (e.g., mistakenly believing you are being followed); In schizophrenia, imagined events are outside the realm of possibility.</a:t>
            </a:r>
            <a:endParaRPr/>
          </a:p>
          <a:p>
            <a:pPr indent="0" lvl="0" marL="0" rtl="0" algn="l">
              <a:lnSpc>
                <a:spcPct val="90000"/>
              </a:lnSpc>
              <a:spcBef>
                <a:spcPts val="1400"/>
              </a:spcBef>
              <a:spcAft>
                <a:spcPts val="0"/>
              </a:spcAft>
              <a:buSzPts val="1700"/>
              <a:buNone/>
            </a:pPr>
            <a:r>
              <a:rPr lang="en-PH" sz="1700">
                <a:latin typeface="Arial"/>
                <a:ea typeface="Arial"/>
                <a:cs typeface="Arial"/>
                <a:sym typeface="Arial"/>
              </a:rPr>
              <a:t>Delusional subtypes: </a:t>
            </a:r>
            <a:endParaRPr/>
          </a:p>
          <a:p>
            <a:pPr indent="-107950" lvl="0" marL="91440" rtl="0" algn="l">
              <a:lnSpc>
                <a:spcPct val="90000"/>
              </a:lnSpc>
              <a:spcBef>
                <a:spcPts val="1400"/>
              </a:spcBef>
              <a:spcAft>
                <a:spcPts val="0"/>
              </a:spcAft>
              <a:buSzPts val="1700"/>
              <a:buFont typeface="Arial"/>
              <a:buChar char="•"/>
            </a:pPr>
            <a:r>
              <a:rPr b="1" lang="en-PH" sz="1700">
                <a:latin typeface="Arial"/>
                <a:ea typeface="Arial"/>
                <a:cs typeface="Arial"/>
                <a:sym typeface="Arial"/>
              </a:rPr>
              <a:t> erotomania</a:t>
            </a:r>
            <a:r>
              <a:rPr lang="en-PH" sz="1700">
                <a:latin typeface="Arial"/>
                <a:ea typeface="Arial"/>
                <a:cs typeface="Arial"/>
                <a:sym typeface="Arial"/>
              </a:rPr>
              <a:t> - the irrational belief that one is loved by another person, usually of higher status.</a:t>
            </a:r>
            <a:endParaRPr/>
          </a:p>
          <a:p>
            <a:pPr indent="-107950" lvl="0" marL="91440" rtl="0" algn="l">
              <a:lnSpc>
                <a:spcPct val="90000"/>
              </a:lnSpc>
              <a:spcBef>
                <a:spcPts val="1400"/>
              </a:spcBef>
              <a:spcAft>
                <a:spcPts val="0"/>
              </a:spcAft>
              <a:buSzPts val="1700"/>
              <a:buFont typeface="Arial"/>
              <a:buChar char="•"/>
            </a:pPr>
            <a:r>
              <a:rPr b="1" lang="en-PH" sz="1700">
                <a:latin typeface="Arial"/>
                <a:ea typeface="Arial"/>
                <a:cs typeface="Arial"/>
                <a:sym typeface="Arial"/>
              </a:rPr>
              <a:t> grandiose</a:t>
            </a:r>
            <a:r>
              <a:rPr lang="en-PH" sz="1700">
                <a:latin typeface="Arial"/>
                <a:ea typeface="Arial"/>
                <a:cs typeface="Arial"/>
                <a:sym typeface="Arial"/>
              </a:rPr>
              <a:t> - involves believing in one’s inflated worth, power, knowledge, identity, or special relationship to a deity or famous person.</a:t>
            </a:r>
            <a:endParaRPr/>
          </a:p>
          <a:p>
            <a:pPr indent="-107950" lvl="0" marL="91440" rtl="0" algn="l">
              <a:lnSpc>
                <a:spcPct val="90000"/>
              </a:lnSpc>
              <a:spcBef>
                <a:spcPts val="1400"/>
              </a:spcBef>
              <a:spcAft>
                <a:spcPts val="0"/>
              </a:spcAft>
              <a:buSzPts val="1700"/>
              <a:buFont typeface="Arial"/>
              <a:buChar char="•"/>
            </a:pPr>
            <a:r>
              <a:rPr b="1" lang="en-PH" sz="1700">
                <a:latin typeface="Arial"/>
                <a:ea typeface="Arial"/>
                <a:cs typeface="Arial"/>
                <a:sym typeface="Arial"/>
              </a:rPr>
              <a:t> jealous</a:t>
            </a:r>
            <a:r>
              <a:rPr lang="en-PH" sz="1700">
                <a:latin typeface="Arial"/>
                <a:ea typeface="Arial"/>
                <a:cs typeface="Arial"/>
                <a:sym typeface="Arial"/>
              </a:rPr>
              <a:t> - believes the sexual partner is unfaithful.</a:t>
            </a:r>
            <a:endParaRPr/>
          </a:p>
          <a:p>
            <a:pPr indent="-107950" lvl="0" marL="91440" rtl="0" algn="l">
              <a:lnSpc>
                <a:spcPct val="90000"/>
              </a:lnSpc>
              <a:spcBef>
                <a:spcPts val="1400"/>
              </a:spcBef>
              <a:spcAft>
                <a:spcPts val="0"/>
              </a:spcAft>
              <a:buSzPts val="1700"/>
              <a:buFont typeface="Arial"/>
              <a:buChar char="•"/>
            </a:pPr>
            <a:r>
              <a:rPr b="1" lang="en-PH" sz="1700">
                <a:latin typeface="Arial"/>
                <a:ea typeface="Arial"/>
                <a:cs typeface="Arial"/>
                <a:sym typeface="Arial"/>
              </a:rPr>
              <a:t> persecutory</a:t>
            </a:r>
            <a:r>
              <a:rPr lang="en-PH" sz="1700">
                <a:latin typeface="Arial"/>
                <a:ea typeface="Arial"/>
                <a:cs typeface="Arial"/>
                <a:sym typeface="Arial"/>
              </a:rPr>
              <a:t> - involves believing oneself (or someone close) is being malevolently treated in some way. </a:t>
            </a:r>
            <a:endParaRPr/>
          </a:p>
          <a:p>
            <a:pPr indent="-107950" lvl="0" marL="91440" rtl="0" algn="l">
              <a:lnSpc>
                <a:spcPct val="90000"/>
              </a:lnSpc>
              <a:spcBef>
                <a:spcPts val="1400"/>
              </a:spcBef>
              <a:spcAft>
                <a:spcPts val="0"/>
              </a:spcAft>
              <a:buSzPts val="1700"/>
              <a:buFont typeface="Arial"/>
              <a:buChar char="•"/>
            </a:pPr>
            <a:r>
              <a:rPr b="1" lang="en-PH" sz="1700">
                <a:latin typeface="Arial"/>
                <a:ea typeface="Arial"/>
                <a:cs typeface="Arial"/>
                <a:sym typeface="Arial"/>
              </a:rPr>
              <a:t> somatic</a:t>
            </a:r>
            <a:r>
              <a:rPr lang="en-PH" sz="1700">
                <a:latin typeface="Arial"/>
                <a:ea typeface="Arial"/>
                <a:cs typeface="Arial"/>
                <a:sym typeface="Arial"/>
              </a:rPr>
              <a:t> - the person feels afflicted by a physical defect or general medical condition.</a:t>
            </a:r>
            <a:endParaRPr/>
          </a:p>
          <a:p>
            <a:pPr indent="0" lvl="0" marL="91440" rtl="0" algn="l">
              <a:lnSpc>
                <a:spcPct val="90000"/>
              </a:lnSpc>
              <a:spcBef>
                <a:spcPts val="1400"/>
              </a:spcBef>
              <a:spcAft>
                <a:spcPts val="0"/>
              </a:spcAft>
              <a:buSzPts val="1700"/>
              <a:buFont typeface="Arial"/>
              <a:buNone/>
            </a:pPr>
            <a:r>
              <a:t/>
            </a:r>
            <a:endParaRPr sz="1700">
              <a:latin typeface="Arial"/>
              <a:ea typeface="Arial"/>
              <a:cs typeface="Arial"/>
              <a:sym typeface="Arial"/>
            </a:endParaRPr>
          </a:p>
          <a:p>
            <a:pPr indent="0" lvl="0" marL="91440" rtl="0" algn="l">
              <a:lnSpc>
                <a:spcPct val="90000"/>
              </a:lnSpc>
              <a:spcBef>
                <a:spcPts val="1400"/>
              </a:spcBef>
              <a:spcAft>
                <a:spcPts val="0"/>
              </a:spcAft>
              <a:buSzPts val="1700"/>
              <a:buFont typeface="Arial"/>
              <a:buNone/>
            </a:pPr>
            <a:r>
              <a:t/>
            </a:r>
            <a:endParaRPr sz="1700">
              <a:latin typeface="Arial"/>
              <a:ea typeface="Arial"/>
              <a:cs typeface="Arial"/>
              <a:sym typeface="Arial"/>
            </a:endParaRPr>
          </a:p>
        </p:txBody>
      </p:sp>
    </p:spTree>
  </p:cSld>
  <p:clrMapOvr>
    <a:masterClrMapping/>
  </p:clrMapOvr>
  <p:transition spd="med">
    <p:push/>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116"/>
          <p:cNvSpPr txBox="1"/>
          <p:nvPr/>
        </p:nvSpPr>
        <p:spPr>
          <a:xfrm>
            <a:off x="933450" y="1233655"/>
            <a:ext cx="9505950" cy="2927596"/>
          </a:xfrm>
          <a:prstGeom prst="rect">
            <a:avLst/>
          </a:prstGeom>
          <a:noFill/>
          <a:ln>
            <a:noFill/>
          </a:ln>
        </p:spPr>
        <p:txBody>
          <a:bodyPr anchorCtr="0" anchor="t" bIns="45700" lIns="91425" spcFirstLastPara="1" rIns="91425" wrap="square" tIns="45700">
            <a:spAutoFit/>
          </a:bodyPr>
          <a:lstStyle/>
          <a:p>
            <a:pPr indent="0" lvl="0" marL="457200" marR="0" rtl="0" algn="l">
              <a:lnSpc>
                <a:spcPct val="107000"/>
              </a:lnSpc>
              <a:spcBef>
                <a:spcPts val="0"/>
              </a:spcBef>
              <a:spcAft>
                <a:spcPts val="0"/>
              </a:spcAft>
              <a:buNone/>
            </a:pPr>
            <a:r>
              <a:rPr lang="en-PH" sz="2800">
                <a:solidFill>
                  <a:schemeClr val="dk1"/>
                </a:solidFill>
                <a:latin typeface="Arial"/>
                <a:ea typeface="Arial"/>
                <a:cs typeface="Arial"/>
                <a:sym typeface="Arial"/>
              </a:rPr>
              <a:t>RATIONALIZATION:</a:t>
            </a:r>
            <a:endParaRPr/>
          </a:p>
          <a:p>
            <a:pPr indent="0" lvl="0" marL="457200" marR="0" rtl="0" algn="l">
              <a:lnSpc>
                <a:spcPct val="107000"/>
              </a:lnSpc>
              <a:spcBef>
                <a:spcPts val="800"/>
              </a:spcBef>
              <a:spcAft>
                <a:spcPts val="0"/>
              </a:spcAft>
              <a:buNone/>
            </a:pPr>
            <a:r>
              <a:rPr lang="en-PH" sz="2800">
                <a:solidFill>
                  <a:schemeClr val="dk1"/>
                </a:solidFill>
                <a:latin typeface="Arial"/>
                <a:ea typeface="Arial"/>
                <a:cs typeface="Arial"/>
                <a:sym typeface="Arial"/>
              </a:rPr>
              <a:t>The correct answer is B. Shared psychotic disorder a.k.a folie à deux</a:t>
            </a:r>
            <a:r>
              <a:rPr lang="en-PH" sz="2800">
                <a:solidFill>
                  <a:srgbClr val="1F2328"/>
                </a:solidFill>
                <a:latin typeface="Arial"/>
                <a:ea typeface="Arial"/>
                <a:cs typeface="Arial"/>
                <a:sym typeface="Arial"/>
              </a:rPr>
              <a:t> is a subtype of delusional disorder </a:t>
            </a:r>
            <a:r>
              <a:rPr lang="en-PH" sz="2800">
                <a:solidFill>
                  <a:schemeClr val="dk1"/>
                </a:solidFill>
                <a:latin typeface="Arial"/>
                <a:ea typeface="Arial"/>
                <a:cs typeface="Arial"/>
                <a:sym typeface="Arial"/>
              </a:rPr>
              <a:t>that are shared by two or more individuals. In this case, Macy developed delusion as a result of being a close friend to Nancy who initially has the delusion.</a:t>
            </a:r>
            <a:endParaRPr/>
          </a:p>
        </p:txBody>
      </p:sp>
    </p:spTree>
  </p:cSld>
  <p:clrMapOvr>
    <a:masterClrMapping/>
  </p:clrMapOvr>
  <p:transition spd="med">
    <p:push/>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1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Delusional disorder</a:t>
            </a:r>
            <a:endParaRPr/>
          </a:p>
        </p:txBody>
      </p:sp>
      <p:sp>
        <p:nvSpPr>
          <p:cNvPr id="511" name="Google Shape;511;p1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Shared psychotic disorder (</a:t>
            </a:r>
            <a:r>
              <a:rPr b="1" lang="en-PH">
                <a:latin typeface="Arial"/>
                <a:ea typeface="Arial"/>
                <a:cs typeface="Arial"/>
                <a:sym typeface="Arial"/>
              </a:rPr>
              <a:t>folie à deux</a:t>
            </a:r>
            <a:r>
              <a:rPr lang="en-PH">
                <a:latin typeface="Arial"/>
                <a:ea typeface="Arial"/>
                <a:cs typeface="Arial"/>
                <a:sym typeface="Arial"/>
              </a:rPr>
              <a:t>) is the condition in which an individual develops delusions simply as a result of a close relationship with a delusional individual.</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Delusional disorder seems to afflict more females than males (55% and 45%, respectively, of the affected population).</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A number of other disorders can cause delusions, and their presence should be ruled out before diagnosing delusional disorder</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substance-induced psychotic disorder - abuse of amphetamines, alcohol, and cocaine can cause delusions </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psychotic disorder associated with another medical condition – brain tumor</a:t>
            </a:r>
            <a:endParaRPr/>
          </a:p>
          <a:p>
            <a:pPr indent="0" lvl="0" marL="91440" rtl="0" algn="l">
              <a:lnSpc>
                <a:spcPct val="90000"/>
              </a:lnSpc>
              <a:spcBef>
                <a:spcPts val="1400"/>
              </a:spcBef>
              <a:spcAft>
                <a:spcPts val="0"/>
              </a:spcAft>
              <a:buSzPts val="2000"/>
              <a:buFont typeface="Arial"/>
              <a:buNone/>
            </a:pPr>
            <a:r>
              <a:t/>
            </a:r>
            <a:endParaRPr>
              <a:latin typeface="Arial"/>
              <a:ea typeface="Arial"/>
              <a:cs typeface="Arial"/>
              <a:sym typeface="Arial"/>
            </a:endParaRPr>
          </a:p>
          <a:p>
            <a:pPr indent="0" lvl="0" marL="91440" rtl="0" algn="l">
              <a:lnSpc>
                <a:spcPct val="90000"/>
              </a:lnSpc>
              <a:spcBef>
                <a:spcPts val="14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Other Psychotic disorder</a:t>
            </a:r>
            <a:endParaRPr/>
          </a:p>
        </p:txBody>
      </p:sp>
      <p:sp>
        <p:nvSpPr>
          <p:cNvPr id="517" name="Google Shape;517;p11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14300" lvl="0" marL="91440" rtl="0" algn="l">
              <a:lnSpc>
                <a:spcPct val="107000"/>
              </a:lnSpc>
              <a:spcBef>
                <a:spcPts val="0"/>
              </a:spcBef>
              <a:spcAft>
                <a:spcPts val="0"/>
              </a:spcAft>
              <a:buSzPts val="1800"/>
              <a:buChar char=" "/>
            </a:pPr>
            <a:r>
              <a:rPr b="1" lang="en-PH" sz="1800">
                <a:latin typeface="Arial"/>
                <a:ea typeface="Arial"/>
                <a:cs typeface="Arial"/>
                <a:sym typeface="Arial"/>
              </a:rPr>
              <a:t>Brief Psychotic disorder</a:t>
            </a:r>
            <a:endParaRPr sz="1800">
              <a:latin typeface="Arial"/>
              <a:ea typeface="Arial"/>
              <a:cs typeface="Arial"/>
              <a:sym typeface="Arial"/>
            </a:endParaRPr>
          </a:p>
          <a:p>
            <a:pPr indent="-342900" lvl="0" marL="342900" rtl="0" algn="l">
              <a:lnSpc>
                <a:spcPct val="107000"/>
              </a:lnSpc>
              <a:spcBef>
                <a:spcPts val="2000"/>
              </a:spcBef>
              <a:spcAft>
                <a:spcPts val="0"/>
              </a:spcAft>
              <a:buSzPts val="1800"/>
              <a:buFont typeface="Noto Sans Symbols"/>
              <a:buChar char="∙"/>
            </a:pPr>
            <a:r>
              <a:rPr lang="en-PH" sz="1800">
                <a:latin typeface="Arial"/>
                <a:ea typeface="Arial"/>
                <a:cs typeface="Arial"/>
                <a:sym typeface="Arial"/>
              </a:rPr>
              <a:t>which is characterized by the presence of one or more positive symptoms such as delusions, hallucinations, or disorganized speech or behavior lasting 1 month or less</a:t>
            </a:r>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often precipitated by extremely stressful situations.</a:t>
            </a:r>
            <a:endParaRPr/>
          </a:p>
          <a:p>
            <a:pPr indent="-114300" lvl="0" marL="91440" rtl="0" algn="l">
              <a:lnSpc>
                <a:spcPct val="107000"/>
              </a:lnSpc>
              <a:spcBef>
                <a:spcPts val="2000"/>
              </a:spcBef>
              <a:spcAft>
                <a:spcPts val="0"/>
              </a:spcAft>
              <a:buSzPts val="1800"/>
              <a:buChar char=" "/>
            </a:pPr>
            <a:r>
              <a:rPr b="1" lang="en-PH" sz="1800">
                <a:latin typeface="Arial"/>
                <a:ea typeface="Arial"/>
                <a:cs typeface="Arial"/>
                <a:sym typeface="Arial"/>
              </a:rPr>
              <a:t>Attenuated Psychosis Syndrome</a:t>
            </a:r>
            <a:endParaRPr sz="1800">
              <a:latin typeface="Arial"/>
              <a:ea typeface="Arial"/>
              <a:cs typeface="Arial"/>
              <a:sym typeface="Arial"/>
            </a:endParaRPr>
          </a:p>
          <a:p>
            <a:pPr indent="-342900" lvl="0" marL="342900" rtl="0" algn="l">
              <a:lnSpc>
                <a:spcPct val="107000"/>
              </a:lnSpc>
              <a:spcBef>
                <a:spcPts val="2000"/>
              </a:spcBef>
              <a:spcAft>
                <a:spcPts val="0"/>
              </a:spcAft>
              <a:buSzPts val="1800"/>
              <a:buFont typeface="Noto Sans Symbols"/>
              <a:buChar char="∙"/>
            </a:pPr>
            <a:r>
              <a:rPr lang="en-PH" sz="1800">
                <a:latin typeface="Arial"/>
                <a:ea typeface="Arial"/>
                <a:cs typeface="Arial"/>
                <a:sym typeface="Arial"/>
              </a:rPr>
              <a:t>They can be at high risk for developing schizophrenia and may be at an early stage of the disorder (prodromal)</a:t>
            </a:r>
            <a:endParaRPr/>
          </a:p>
          <a:p>
            <a:pPr indent="-342900" lvl="0" marL="342900" rtl="0" algn="l">
              <a:lnSpc>
                <a:spcPct val="107000"/>
              </a:lnSpc>
              <a:spcBef>
                <a:spcPts val="1400"/>
              </a:spcBef>
              <a:spcAft>
                <a:spcPts val="0"/>
              </a:spcAft>
              <a:buSzPts val="1800"/>
              <a:buFont typeface="Noto Sans Symbols"/>
              <a:buChar char="∙"/>
            </a:pPr>
            <a:r>
              <a:rPr lang="en-PH" sz="1800">
                <a:latin typeface="Arial"/>
                <a:ea typeface="Arial"/>
                <a:cs typeface="Arial"/>
                <a:sym typeface="Arial"/>
              </a:rPr>
              <a:t>These people may have some of the symptoms of schizophrenia but are aware of the troubling and bizarre nature of these symptoms</a:t>
            </a:r>
            <a:endParaRPr/>
          </a:p>
          <a:p>
            <a:pPr indent="0" lvl="0" marL="91440" rtl="0" algn="l">
              <a:lnSpc>
                <a:spcPct val="90000"/>
              </a:lnSpc>
              <a:spcBef>
                <a:spcPts val="20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CAUSES</a:t>
            </a:r>
            <a:endParaRPr/>
          </a:p>
        </p:txBody>
      </p:sp>
      <p:sp>
        <p:nvSpPr>
          <p:cNvPr id="524" name="Google Shape;524;p11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14300" lvl="0" marL="91440" rtl="0" algn="l">
              <a:lnSpc>
                <a:spcPct val="107000"/>
              </a:lnSpc>
              <a:spcBef>
                <a:spcPts val="0"/>
              </a:spcBef>
              <a:spcAft>
                <a:spcPts val="0"/>
              </a:spcAft>
              <a:buSzPts val="1800"/>
              <a:buChar char=" "/>
            </a:pPr>
            <a:r>
              <a:rPr lang="en-PH" sz="1800">
                <a:latin typeface="Arial"/>
                <a:ea typeface="Arial"/>
                <a:cs typeface="Arial"/>
                <a:sym typeface="Arial"/>
              </a:rPr>
              <a:t>(1) the possible genes involved in schizophrenia, </a:t>
            </a:r>
            <a:endParaRPr sz="1800">
              <a:latin typeface="Calibri"/>
              <a:ea typeface="Calibri"/>
              <a:cs typeface="Calibri"/>
              <a:sym typeface="Calibri"/>
            </a:endParaRPr>
          </a:p>
          <a:p>
            <a:pPr indent="-114300" lvl="0" marL="91440" rtl="0" algn="l">
              <a:lnSpc>
                <a:spcPct val="107000"/>
              </a:lnSpc>
              <a:spcBef>
                <a:spcPts val="2000"/>
              </a:spcBef>
              <a:spcAft>
                <a:spcPts val="0"/>
              </a:spcAft>
              <a:buSzPts val="1800"/>
              <a:buChar char=" "/>
            </a:pPr>
            <a:r>
              <a:rPr lang="en-PH" sz="1800">
                <a:latin typeface="Arial"/>
                <a:ea typeface="Arial"/>
                <a:cs typeface="Arial"/>
                <a:sym typeface="Arial"/>
              </a:rPr>
              <a:t>(2) the chemical action of the drugs that help many people with this disorder, </a:t>
            </a:r>
            <a:endParaRPr sz="1800">
              <a:latin typeface="Calibri"/>
              <a:ea typeface="Calibri"/>
              <a:cs typeface="Calibri"/>
              <a:sym typeface="Calibri"/>
            </a:endParaRPr>
          </a:p>
          <a:p>
            <a:pPr indent="-114300" lvl="0" marL="91440" rtl="0" algn="l">
              <a:lnSpc>
                <a:spcPct val="107000"/>
              </a:lnSpc>
              <a:spcBef>
                <a:spcPts val="2000"/>
              </a:spcBef>
              <a:spcAft>
                <a:spcPts val="0"/>
              </a:spcAft>
              <a:buSzPts val="1800"/>
              <a:buChar char=" "/>
            </a:pPr>
            <a:r>
              <a:rPr lang="en-PH" sz="1800">
                <a:latin typeface="Arial"/>
                <a:ea typeface="Arial"/>
                <a:cs typeface="Arial"/>
                <a:sym typeface="Arial"/>
              </a:rPr>
              <a:t>(3) abnormalities in the working of the brains of people with schizophrenia, and </a:t>
            </a:r>
            <a:endParaRPr sz="1800">
              <a:latin typeface="Calibri"/>
              <a:ea typeface="Calibri"/>
              <a:cs typeface="Calibri"/>
              <a:sym typeface="Calibri"/>
            </a:endParaRPr>
          </a:p>
          <a:p>
            <a:pPr indent="-114300" lvl="0" marL="91440" rtl="0" algn="l">
              <a:lnSpc>
                <a:spcPct val="107000"/>
              </a:lnSpc>
              <a:spcBef>
                <a:spcPts val="2000"/>
              </a:spcBef>
              <a:spcAft>
                <a:spcPts val="0"/>
              </a:spcAft>
              <a:buSzPts val="1800"/>
              <a:buChar char=" "/>
            </a:pPr>
            <a:r>
              <a:rPr lang="en-PH" sz="1800">
                <a:latin typeface="Arial"/>
                <a:ea typeface="Arial"/>
                <a:cs typeface="Arial"/>
                <a:sym typeface="Arial"/>
              </a:rPr>
              <a:t>(4) environmental risk factors that may precipitate the onset of the symptoms</a:t>
            </a:r>
            <a:endParaRPr sz="1800">
              <a:latin typeface="Calibri"/>
              <a:ea typeface="Calibri"/>
              <a:cs typeface="Calibri"/>
              <a:sym typeface="Calibri"/>
            </a:endParaRPr>
          </a:p>
          <a:p>
            <a:pPr indent="-114300" lvl="0" marL="91440" rtl="0" algn="l">
              <a:lnSpc>
                <a:spcPct val="90000"/>
              </a:lnSpc>
              <a:spcBef>
                <a:spcPts val="2000"/>
              </a:spcBef>
              <a:spcAft>
                <a:spcPts val="0"/>
              </a:spcAft>
              <a:buSzPts val="1800"/>
              <a:buChar char=" "/>
            </a:pPr>
            <a:r>
              <a:rPr b="1" lang="en-PH" sz="1800">
                <a:latin typeface="Arial"/>
                <a:ea typeface="Arial"/>
                <a:cs typeface="Arial"/>
                <a:sym typeface="Arial"/>
              </a:rPr>
              <a:t>Genetic Influence</a:t>
            </a:r>
            <a:r>
              <a:rPr lang="en-PH" sz="1800">
                <a:latin typeface="Arial"/>
                <a:ea typeface="Arial"/>
                <a:cs typeface="Arial"/>
                <a:sym typeface="Arial"/>
              </a:rPr>
              <a:t>: Genes are responsible for making some individuals vulnerable to schizophrenia</a:t>
            </a:r>
            <a:endParaRPr/>
          </a:p>
          <a:p>
            <a:pPr indent="-114300" lvl="0" marL="91440" rtl="0" algn="l">
              <a:lnSpc>
                <a:spcPct val="90000"/>
              </a:lnSpc>
              <a:spcBef>
                <a:spcPts val="1400"/>
              </a:spcBef>
              <a:spcAft>
                <a:spcPts val="0"/>
              </a:spcAft>
              <a:buSzPts val="1800"/>
              <a:buChar char=" "/>
            </a:pPr>
            <a:r>
              <a:rPr b="1" lang="en-PH" sz="1800">
                <a:latin typeface="Arial"/>
                <a:ea typeface="Arial"/>
                <a:cs typeface="Arial"/>
                <a:sym typeface="Arial"/>
              </a:rPr>
              <a:t>Neurobiological</a:t>
            </a:r>
            <a:r>
              <a:rPr lang="en-PH" sz="1800">
                <a:latin typeface="Arial"/>
                <a:ea typeface="Arial"/>
                <a:cs typeface="Arial"/>
                <a:sym typeface="Arial"/>
              </a:rPr>
              <a:t> </a:t>
            </a:r>
            <a:r>
              <a:rPr b="1" lang="en-PH" sz="1800">
                <a:latin typeface="Arial"/>
                <a:ea typeface="Arial"/>
                <a:cs typeface="Arial"/>
                <a:sym typeface="Arial"/>
              </a:rPr>
              <a:t>Influences</a:t>
            </a:r>
            <a:r>
              <a:rPr lang="en-PH" sz="1800">
                <a:latin typeface="Arial"/>
                <a:ea typeface="Arial"/>
                <a:cs typeface="Arial"/>
                <a:sym typeface="Arial"/>
              </a:rPr>
              <a:t>: high</a:t>
            </a:r>
            <a:r>
              <a:rPr lang="en-PH" sz="1800">
                <a:latin typeface="Calibri"/>
                <a:ea typeface="Calibri"/>
                <a:cs typeface="Calibri"/>
                <a:sym typeface="Calibri"/>
              </a:rPr>
              <a:t> </a:t>
            </a:r>
            <a:r>
              <a:rPr lang="en-PH" sz="1800">
                <a:latin typeface="Arial"/>
                <a:ea typeface="Arial"/>
                <a:cs typeface="Arial"/>
                <a:sym typeface="Arial"/>
              </a:rPr>
              <a:t>dopamine = positive symptoms whereas low dopamine = negative symptoms; alterations in prefrontal activity involving glutamate transmission </a:t>
            </a:r>
            <a:endParaRPr/>
          </a:p>
          <a:p>
            <a:pPr indent="0" lvl="0" marL="91440" rtl="0" algn="l">
              <a:lnSpc>
                <a:spcPct val="90000"/>
              </a:lnSpc>
              <a:spcBef>
                <a:spcPts val="1400"/>
              </a:spcBef>
              <a:spcAft>
                <a:spcPts val="0"/>
              </a:spcAft>
              <a:buSzPts val="1800"/>
              <a:buNone/>
            </a:pPr>
            <a:r>
              <a:t/>
            </a:r>
            <a:endParaRPr sz="1800">
              <a:latin typeface="Arial"/>
              <a:ea typeface="Arial"/>
              <a:cs typeface="Arial"/>
              <a:sym typeface="Arial"/>
            </a:endParaRPr>
          </a:p>
          <a:p>
            <a:pPr indent="0" lvl="0" marL="91440" rtl="0" algn="l">
              <a:lnSpc>
                <a:spcPct val="90000"/>
              </a:lnSpc>
              <a:spcBef>
                <a:spcPts val="1400"/>
              </a:spcBef>
              <a:spcAft>
                <a:spcPts val="0"/>
              </a:spcAft>
              <a:buSzPts val="2000"/>
              <a:buNone/>
            </a:pPr>
            <a:r>
              <a:t/>
            </a:r>
            <a:endParaRPr/>
          </a:p>
        </p:txBody>
      </p:sp>
    </p:spTree>
  </p:cSld>
  <p:clrMapOvr>
    <a:masterClrMapping/>
  </p:clrMapOvr>
  <p:transition spd="med">
    <p:push/>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CAUSES</a:t>
            </a:r>
            <a:endParaRPr/>
          </a:p>
        </p:txBody>
      </p:sp>
      <p:sp>
        <p:nvSpPr>
          <p:cNvPr id="530" name="Google Shape;530;p122"/>
          <p:cNvSpPr txBox="1"/>
          <p:nvPr>
            <p:ph idx="1" type="body"/>
          </p:nvPr>
        </p:nvSpPr>
        <p:spPr>
          <a:xfrm>
            <a:off x="1097280" y="1845734"/>
            <a:ext cx="10058400" cy="4023300"/>
          </a:xfrm>
          <a:prstGeom prst="rect">
            <a:avLst/>
          </a:prstGeom>
          <a:noFill/>
          <a:ln>
            <a:noFill/>
          </a:ln>
        </p:spPr>
        <p:txBody>
          <a:bodyPr anchorCtr="0" anchor="t" bIns="45700" lIns="0" spcFirstLastPara="1" rIns="0" wrap="square" tIns="45700">
            <a:normAutofit/>
          </a:bodyPr>
          <a:lstStyle/>
          <a:p>
            <a:pPr indent="0" lvl="0" marL="0" rtl="0" algn="l">
              <a:lnSpc>
                <a:spcPct val="107000"/>
              </a:lnSpc>
              <a:spcBef>
                <a:spcPts val="0"/>
              </a:spcBef>
              <a:spcAft>
                <a:spcPts val="0"/>
              </a:spcAft>
              <a:buSzPts val="1800"/>
              <a:buNone/>
            </a:pPr>
            <a:r>
              <a:rPr b="1" lang="en-PH" sz="1800">
                <a:latin typeface="Arial"/>
                <a:ea typeface="Arial"/>
                <a:cs typeface="Arial"/>
                <a:sym typeface="Arial"/>
              </a:rPr>
              <a:t>Psychological and Social</a:t>
            </a:r>
            <a:r>
              <a:rPr lang="en-PH" sz="1800">
                <a:latin typeface="Arial"/>
                <a:ea typeface="Arial"/>
                <a:cs typeface="Arial"/>
                <a:sym typeface="Arial"/>
              </a:rPr>
              <a:t> </a:t>
            </a:r>
            <a:r>
              <a:rPr b="1" lang="en-PH" sz="1800">
                <a:latin typeface="Arial"/>
                <a:ea typeface="Arial"/>
                <a:cs typeface="Arial"/>
                <a:sym typeface="Arial"/>
              </a:rPr>
              <a:t>Influences</a:t>
            </a:r>
            <a:r>
              <a:rPr lang="en-PH" sz="1800">
                <a:latin typeface="Arial"/>
                <a:ea typeface="Arial"/>
                <a:cs typeface="Arial"/>
                <a:sym typeface="Arial"/>
              </a:rPr>
              <a:t>: Living in a large city is associated with an increased risk of developing schizophrenia—suggesting the stress of urban living may precipitate its onset.</a:t>
            </a:r>
            <a:endParaRPr sz="1800">
              <a:latin typeface="Calibri"/>
              <a:ea typeface="Calibri"/>
              <a:cs typeface="Calibri"/>
              <a:sym typeface="Calibri"/>
            </a:endParaRPr>
          </a:p>
          <a:p>
            <a:pPr indent="0" lvl="0" marL="0" rtl="0" algn="l">
              <a:lnSpc>
                <a:spcPct val="107000"/>
              </a:lnSpc>
              <a:spcBef>
                <a:spcPts val="1400"/>
              </a:spcBef>
              <a:spcAft>
                <a:spcPts val="0"/>
              </a:spcAft>
              <a:buSzPts val="1800"/>
              <a:buNone/>
            </a:pPr>
            <a:r>
              <a:rPr lang="en-PH" sz="1800">
                <a:latin typeface="Arial"/>
                <a:ea typeface="Arial"/>
                <a:cs typeface="Arial"/>
                <a:sym typeface="Arial"/>
              </a:rPr>
              <a:t>Stress - activates vulnerability and increases relapse risk</a:t>
            </a:r>
            <a:endParaRPr sz="1800">
              <a:latin typeface="Calibri"/>
              <a:ea typeface="Calibri"/>
              <a:cs typeface="Calibri"/>
              <a:sym typeface="Calibri"/>
            </a:endParaRPr>
          </a:p>
          <a:p>
            <a:pPr indent="0" lvl="0" marL="0" rtl="0" algn="l">
              <a:lnSpc>
                <a:spcPct val="90000"/>
              </a:lnSpc>
              <a:spcBef>
                <a:spcPts val="2000"/>
              </a:spcBef>
              <a:spcAft>
                <a:spcPts val="0"/>
              </a:spcAft>
              <a:buSzPts val="1800"/>
              <a:buNone/>
            </a:pPr>
            <a:r>
              <a:rPr b="1" lang="en-PH" sz="1800">
                <a:latin typeface="Arial"/>
                <a:ea typeface="Arial"/>
                <a:cs typeface="Arial"/>
                <a:sym typeface="Arial"/>
              </a:rPr>
              <a:t>Schizophrenogenic</a:t>
            </a:r>
            <a:r>
              <a:rPr lang="en-PH" sz="1800">
                <a:latin typeface="Arial"/>
                <a:ea typeface="Arial"/>
                <a:cs typeface="Arial"/>
                <a:sym typeface="Arial"/>
              </a:rPr>
              <a:t> </a:t>
            </a:r>
            <a:r>
              <a:rPr b="1" lang="en-PH" sz="1800">
                <a:latin typeface="Arial"/>
                <a:ea typeface="Arial"/>
                <a:cs typeface="Arial"/>
                <a:sym typeface="Arial"/>
              </a:rPr>
              <a:t>mother - </a:t>
            </a:r>
            <a:r>
              <a:rPr lang="en-PH" sz="1800">
                <a:latin typeface="Arial"/>
                <a:ea typeface="Arial"/>
                <a:cs typeface="Arial"/>
                <a:sym typeface="Arial"/>
              </a:rPr>
              <a:t> used to describe a mother whose cold, dominant, and rejecting nature was thought to cause schizophrenia in her children.</a:t>
            </a:r>
            <a:endParaRPr/>
          </a:p>
          <a:p>
            <a:pPr indent="0" lvl="0" marL="0" rtl="0" algn="l">
              <a:lnSpc>
                <a:spcPct val="90000"/>
              </a:lnSpc>
              <a:spcBef>
                <a:spcPts val="1400"/>
              </a:spcBef>
              <a:spcAft>
                <a:spcPts val="0"/>
              </a:spcAft>
              <a:buSzPts val="1800"/>
              <a:buNone/>
            </a:pPr>
            <a:r>
              <a:rPr b="1" lang="en-PH" sz="1800">
                <a:latin typeface="Arial"/>
                <a:ea typeface="Arial"/>
                <a:cs typeface="Arial"/>
                <a:sym typeface="Arial"/>
              </a:rPr>
              <a:t>double bind communication</a:t>
            </a:r>
            <a:r>
              <a:rPr lang="en-PH" sz="1800">
                <a:latin typeface="Arial"/>
                <a:ea typeface="Arial"/>
                <a:cs typeface="Arial"/>
                <a:sym typeface="Arial"/>
              </a:rPr>
              <a:t> was used to portray a communication style that produced conflicting messages, which, in turn, caused schizophrenia to develop.</a:t>
            </a:r>
            <a:endParaRPr sz="1800">
              <a:latin typeface="Calibri"/>
              <a:ea typeface="Calibri"/>
              <a:cs typeface="Calibri"/>
              <a:sym typeface="Calibri"/>
            </a:endParaRPr>
          </a:p>
          <a:p>
            <a:pPr indent="0" lvl="0" marL="0" rtl="0" algn="l">
              <a:lnSpc>
                <a:spcPct val="90000"/>
              </a:lnSpc>
              <a:spcBef>
                <a:spcPts val="1400"/>
              </a:spcBef>
              <a:spcAft>
                <a:spcPts val="0"/>
              </a:spcAft>
              <a:buSzPts val="1800"/>
              <a:buNone/>
            </a:pPr>
            <a:r>
              <a:rPr b="1" lang="en-PH" sz="1800">
                <a:latin typeface="Arial"/>
                <a:ea typeface="Arial"/>
                <a:cs typeface="Arial"/>
                <a:sym typeface="Arial"/>
              </a:rPr>
              <a:t>expressed emotion</a:t>
            </a:r>
            <a:r>
              <a:rPr lang="en-PH" sz="1800">
                <a:latin typeface="Arial"/>
                <a:ea typeface="Arial"/>
                <a:cs typeface="Arial"/>
                <a:sym typeface="Arial"/>
              </a:rPr>
              <a:t> (EE) - ratings of high expressed emotion in a family are a good predictor of relapse among people with chronic schizophrenia.</a:t>
            </a:r>
            <a:endParaRPr sz="1800">
              <a:latin typeface="Calibri"/>
              <a:ea typeface="Calibri"/>
              <a:cs typeface="Calibri"/>
              <a:sym typeface="Calibri"/>
            </a:endParaRPr>
          </a:p>
          <a:p>
            <a:pPr indent="0" lvl="0" marL="0" rtl="0" algn="l">
              <a:lnSpc>
                <a:spcPct val="90000"/>
              </a:lnSpc>
              <a:spcBef>
                <a:spcPts val="1400"/>
              </a:spcBef>
              <a:spcAft>
                <a:spcPts val="0"/>
              </a:spcAft>
              <a:buSzPts val="2000"/>
              <a:buNone/>
            </a:pPr>
            <a:r>
              <a:t/>
            </a:r>
            <a:endParaRPr/>
          </a:p>
        </p:txBody>
      </p:sp>
    </p:spTree>
  </p:cSld>
  <p:clrMapOvr>
    <a:masterClrMapping/>
  </p:clrMapOvr>
  <p:transition spd="med">
    <p:push/>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1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a:buNone/>
            </a:pPr>
            <a:r>
              <a:rPr b="1" lang="en-PH">
                <a:latin typeface="Arial"/>
                <a:ea typeface="Arial"/>
                <a:cs typeface="Arial"/>
                <a:sym typeface="Arial"/>
              </a:rPr>
              <a:t>TREATMENT</a:t>
            </a:r>
            <a:endParaRPr/>
          </a:p>
        </p:txBody>
      </p:sp>
      <p:sp>
        <p:nvSpPr>
          <p:cNvPr id="536" name="Google Shape;536;p12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n-PH">
                <a:latin typeface="Arial"/>
                <a:ea typeface="Arial"/>
                <a:cs typeface="Arial"/>
                <a:sym typeface="Arial"/>
              </a:rPr>
              <a:t> Antipsychotic medications such as neuroleptics, help people think more clearly and reduce hallucinations and delusions (e.g., risperidone and olanzapine)</a:t>
            </a:r>
            <a:endParaRPr/>
          </a:p>
          <a:p>
            <a:pPr indent="-127000" lvl="0" marL="91440" rtl="0" algn="l">
              <a:lnSpc>
                <a:spcPct val="90000"/>
              </a:lnSpc>
              <a:spcBef>
                <a:spcPts val="1400"/>
              </a:spcBef>
              <a:spcAft>
                <a:spcPts val="0"/>
              </a:spcAft>
              <a:buSzPts val="2000"/>
              <a:buFont typeface="Arial"/>
              <a:buChar char="•"/>
            </a:pPr>
            <a:r>
              <a:rPr b="1" lang="en-PH">
                <a:latin typeface="Arial"/>
                <a:ea typeface="Arial"/>
                <a:cs typeface="Arial"/>
                <a:sym typeface="Arial"/>
              </a:rPr>
              <a:t> transcranial magnetic stimulation -</a:t>
            </a:r>
            <a:r>
              <a:rPr lang="en-PH">
                <a:latin typeface="Arial"/>
                <a:ea typeface="Arial"/>
                <a:cs typeface="Arial"/>
                <a:sym typeface="Arial"/>
              </a:rPr>
              <a:t> uses wire coils to repeatedly generate magnetic fields—up to 50 times per second—that pass through the skull to the brain. This input seems to interrupt temporarily the normal communication to that part of the brain </a:t>
            </a:r>
            <a:endParaRPr/>
          </a:p>
          <a:p>
            <a:pPr indent="-127000" lvl="0" marL="91440" rtl="0" algn="l">
              <a:lnSpc>
                <a:spcPct val="90000"/>
              </a:lnSpc>
              <a:spcBef>
                <a:spcPts val="1400"/>
              </a:spcBef>
              <a:spcAft>
                <a:spcPts val="0"/>
              </a:spcAft>
              <a:buSzPts val="2000"/>
              <a:buFont typeface="Arial"/>
              <a:buChar char="•"/>
            </a:pPr>
            <a:r>
              <a:rPr lang="en-PH">
                <a:latin typeface="Arial"/>
                <a:ea typeface="Arial"/>
                <a:cs typeface="Arial"/>
                <a:sym typeface="Arial"/>
              </a:rPr>
              <a:t> Modafinil is a cognitive enhancer with low abuse potential. This drug may improve cognitive functions, such as memory and problem solving. Some limited research also suggests that the drug may improve emotion processing in schizophrenia.</a:t>
            </a:r>
            <a:endParaRPr/>
          </a:p>
          <a:p>
            <a:pPr indent="0" lvl="0" marL="91440" rtl="0" algn="l">
              <a:lnSpc>
                <a:spcPct val="90000"/>
              </a:lnSpc>
              <a:spcBef>
                <a:spcPts val="1400"/>
              </a:spcBef>
              <a:spcAft>
                <a:spcPts val="0"/>
              </a:spcAft>
              <a:buSzPts val="2000"/>
              <a:buNone/>
            </a:pPr>
            <a:r>
              <a:t/>
            </a:r>
            <a:endParaRPr>
              <a:latin typeface="Arial"/>
              <a:ea typeface="Arial"/>
              <a:cs typeface="Arial"/>
              <a:sym typeface="Arial"/>
            </a:endParaRPr>
          </a:p>
        </p:txBody>
      </p:sp>
    </p:spTree>
  </p:cSld>
  <p:clrMapOvr>
    <a:masterClrMapping/>
  </p:clrMapOvr>
  <p:transition spd="med">
    <p:push/>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124"/>
          <p:cNvSpPr txBox="1"/>
          <p:nvPr/>
        </p:nvSpPr>
        <p:spPr>
          <a:xfrm>
            <a:off x="1197427" y="1073221"/>
            <a:ext cx="8240486" cy="369017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200000"/>
              </a:lnSpc>
              <a:spcBef>
                <a:spcPts val="0"/>
              </a:spcBef>
              <a:spcAft>
                <a:spcPts val="0"/>
              </a:spcAft>
              <a:buNone/>
            </a:pPr>
            <a:r>
              <a:rPr b="1" lang="en-PH" sz="2000">
                <a:solidFill>
                  <a:schemeClr val="dk1"/>
                </a:solidFill>
                <a:latin typeface="Arial"/>
                <a:ea typeface="Arial"/>
                <a:cs typeface="Arial"/>
                <a:sym typeface="Arial"/>
              </a:rPr>
              <a:t>REFERENCES</a:t>
            </a:r>
            <a:r>
              <a:rPr lang="en-PH" sz="2000">
                <a:solidFill>
                  <a:schemeClr val="dk1"/>
                </a:solidFill>
                <a:latin typeface="Arial"/>
                <a:ea typeface="Arial"/>
                <a:cs typeface="Arial"/>
                <a:sym typeface="Arial"/>
              </a:rPr>
              <a:t>:</a:t>
            </a:r>
            <a:endParaRPr/>
          </a:p>
          <a:p>
            <a:pPr indent="-457200" lvl="0" marL="457200" marR="0" rtl="0" algn="just">
              <a:lnSpc>
                <a:spcPct val="200000"/>
              </a:lnSpc>
              <a:spcBef>
                <a:spcPts val="0"/>
              </a:spcBef>
              <a:spcAft>
                <a:spcPts val="0"/>
              </a:spcAft>
              <a:buNone/>
            </a:pPr>
            <a:r>
              <a:rPr lang="en-PH" sz="2000">
                <a:solidFill>
                  <a:schemeClr val="dk1"/>
                </a:solidFill>
                <a:latin typeface="Arial"/>
                <a:ea typeface="Arial"/>
                <a:cs typeface="Arial"/>
                <a:sym typeface="Arial"/>
              </a:rPr>
              <a:t>Barlow, D. H., Durand, V. M., &amp; Hofmann, S. G. (2016). </a:t>
            </a:r>
            <a:r>
              <a:rPr i="1" lang="en-PH" sz="2000">
                <a:solidFill>
                  <a:schemeClr val="dk1"/>
                </a:solidFill>
                <a:latin typeface="Arial"/>
                <a:ea typeface="Arial"/>
                <a:cs typeface="Arial"/>
                <a:sym typeface="Arial"/>
              </a:rPr>
              <a:t>Abnormal Psychology: An Integrative Approach, 8</a:t>
            </a:r>
            <a:r>
              <a:rPr baseline="30000" i="1" lang="en-PH" sz="2000">
                <a:solidFill>
                  <a:schemeClr val="dk1"/>
                </a:solidFill>
                <a:latin typeface="Arial"/>
                <a:ea typeface="Arial"/>
                <a:cs typeface="Arial"/>
                <a:sym typeface="Arial"/>
              </a:rPr>
              <a:t>th</a:t>
            </a:r>
            <a:r>
              <a:rPr i="1" lang="en-PH" sz="2000">
                <a:solidFill>
                  <a:schemeClr val="dk1"/>
                </a:solidFill>
                <a:latin typeface="Arial"/>
                <a:ea typeface="Arial"/>
                <a:cs typeface="Arial"/>
                <a:sym typeface="Arial"/>
              </a:rPr>
              <a:t> edition</a:t>
            </a:r>
            <a:r>
              <a:rPr lang="en-PH" sz="2000">
                <a:solidFill>
                  <a:schemeClr val="dk1"/>
                </a:solidFill>
                <a:latin typeface="Arial"/>
                <a:ea typeface="Arial"/>
                <a:cs typeface="Arial"/>
                <a:sym typeface="Arial"/>
              </a:rPr>
              <a:t>. Cengage Learning.</a:t>
            </a:r>
            <a:endParaRPr/>
          </a:p>
          <a:p>
            <a:pPr indent="-457200" lvl="0" marL="457200" marR="0" rtl="0" algn="just">
              <a:lnSpc>
                <a:spcPct val="200000"/>
              </a:lnSpc>
              <a:spcBef>
                <a:spcPts val="0"/>
              </a:spcBef>
              <a:spcAft>
                <a:spcPts val="0"/>
              </a:spcAft>
              <a:buNone/>
            </a:pPr>
            <a:r>
              <a:rPr b="0" i="0" lang="en-PH" sz="2000">
                <a:solidFill>
                  <a:schemeClr val="dk1"/>
                </a:solidFill>
                <a:latin typeface="Arial"/>
                <a:ea typeface="Arial"/>
                <a:cs typeface="Arial"/>
                <a:sym typeface="Arial"/>
              </a:rPr>
              <a:t>American Psychiatric Association (2013) Diagnostic and Statistical Manual of Mental Disorders (5th ed.)</a:t>
            </a:r>
            <a:endParaRPr sz="2000">
              <a:solidFill>
                <a:schemeClr val="dk1"/>
              </a:solidFill>
              <a:latin typeface="Arial"/>
              <a:ea typeface="Arial"/>
              <a:cs typeface="Arial"/>
              <a:sym typeface="Arial"/>
            </a:endParaRPr>
          </a:p>
        </p:txBody>
      </p:sp>
    </p:spTree>
  </p:cSld>
  <p:clrMapOvr>
    <a:masterClrMapping/>
  </p:clrMapOvr>
  <p:transition spd="med">
    <p:push/>
  </p:transition>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2023-05-30T07:25:47Z</dcterms:created>
  <dc:creator>gsgreciaaa@outlook.com</dc:creator>
</cp:coreProperties>
</file>