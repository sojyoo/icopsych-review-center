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1"/>
  </p:notesMasterIdLst>
  <p:sldIdLst>
    <p:sldId id="367" r:id="rId2"/>
    <p:sldId id="292" r:id="rId3"/>
    <p:sldId id="293" r:id="rId4"/>
    <p:sldId id="294" r:id="rId5"/>
    <p:sldId id="300" r:id="rId6"/>
    <p:sldId id="301" r:id="rId7"/>
    <p:sldId id="302" r:id="rId8"/>
    <p:sldId id="362" r:id="rId9"/>
    <p:sldId id="305" r:id="rId10"/>
    <p:sldId id="306" r:id="rId11"/>
    <p:sldId id="307" r:id="rId12"/>
    <p:sldId id="267" r:id="rId13"/>
    <p:sldId id="270" r:id="rId14"/>
    <p:sldId id="268" r:id="rId15"/>
    <p:sldId id="288" r:id="rId16"/>
    <p:sldId id="264" r:id="rId17"/>
    <p:sldId id="287" r:id="rId18"/>
    <p:sldId id="364" r:id="rId19"/>
    <p:sldId id="363" r:id="rId20"/>
    <p:sldId id="269" r:id="rId21"/>
    <p:sldId id="272" r:id="rId22"/>
    <p:sldId id="273" r:id="rId23"/>
    <p:sldId id="280" r:id="rId24"/>
    <p:sldId id="275" r:id="rId25"/>
    <p:sldId id="285" r:id="rId26"/>
    <p:sldId id="279" r:id="rId27"/>
    <p:sldId id="289" r:id="rId28"/>
    <p:sldId id="290" r:id="rId29"/>
    <p:sldId id="323" r:id="rId30"/>
    <p:sldId id="325" r:id="rId31"/>
    <p:sldId id="328" r:id="rId32"/>
    <p:sldId id="329" r:id="rId33"/>
    <p:sldId id="331" r:id="rId34"/>
    <p:sldId id="326" r:id="rId35"/>
    <p:sldId id="327" r:id="rId36"/>
    <p:sldId id="332" r:id="rId37"/>
    <p:sldId id="333" r:id="rId38"/>
    <p:sldId id="335" r:id="rId39"/>
    <p:sldId id="308" r:id="rId40"/>
    <p:sldId id="315" r:id="rId41"/>
    <p:sldId id="310" r:id="rId42"/>
    <p:sldId id="317" r:id="rId43"/>
    <p:sldId id="318" r:id="rId44"/>
    <p:sldId id="319" r:id="rId45"/>
    <p:sldId id="320" r:id="rId46"/>
    <p:sldId id="321" r:id="rId47"/>
    <p:sldId id="322" r:id="rId48"/>
    <p:sldId id="337" r:id="rId49"/>
    <p:sldId id="341" r:id="rId50"/>
    <p:sldId id="342" r:id="rId51"/>
    <p:sldId id="344" r:id="rId52"/>
    <p:sldId id="343" r:id="rId53"/>
    <p:sldId id="338" r:id="rId54"/>
    <p:sldId id="346" r:id="rId55"/>
    <p:sldId id="348" r:id="rId56"/>
    <p:sldId id="349" r:id="rId57"/>
    <p:sldId id="366" r:id="rId58"/>
    <p:sldId id="350" r:id="rId59"/>
    <p:sldId id="351" r:id="rId60"/>
    <p:sldId id="352" r:id="rId61"/>
    <p:sldId id="353" r:id="rId62"/>
    <p:sldId id="354" r:id="rId63"/>
    <p:sldId id="355" r:id="rId64"/>
    <p:sldId id="356" r:id="rId65"/>
    <p:sldId id="357" r:id="rId66"/>
    <p:sldId id="358" r:id="rId67"/>
    <p:sldId id="365" r:id="rId68"/>
    <p:sldId id="359" r:id="rId69"/>
    <p:sldId id="360"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shua" initials="j" lastIdx="1" clrIdx="0">
    <p:extLst>
      <p:ext uri="{19B8F6BF-5375-455C-9EA6-DF929625EA0E}">
        <p15:presenceInfo xmlns:p15="http://schemas.microsoft.com/office/powerpoint/2012/main" userId="f729bf9d66c60f0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67" d="100"/>
          <a:sy n="67" d="100"/>
        </p:scale>
        <p:origin x="798"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5-17T10:46:08.618"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0DC882-43B5-4377-864B-F8DDB51C5065}" type="datetimeFigureOut">
              <a:rPr lang="en-PH" smtClean="0"/>
              <a:t>17/05/2025</a:t>
            </a:fld>
            <a:endParaRPr lang="en-PH"/>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9E6EF14-1BD8-489A-AC00-2DA3B632FEAA}" type="slidenum">
              <a:rPr lang="en-PH" smtClean="0"/>
              <a:t>‹#›</a:t>
            </a:fld>
            <a:endParaRPr lang="en-PH"/>
          </a:p>
        </p:txBody>
      </p:sp>
    </p:spTree>
    <p:extLst>
      <p:ext uri="{BB962C8B-B14F-4D97-AF65-F5344CB8AC3E}">
        <p14:creationId xmlns:p14="http://schemas.microsoft.com/office/powerpoint/2010/main" val="2949396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C923AC2E-91F1-45B7-A964-3FF24C51EFF1}" type="datetimeFigureOut">
              <a:rPr lang="en-PH" smtClean="0"/>
              <a:t>17/05/2025</a:t>
            </a:fld>
            <a:endParaRPr lang="en-PH"/>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PH"/>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687B3F12-2558-44A1-926A-E229007DF9C0}" type="slidenum">
              <a:rPr lang="en-PH" smtClean="0"/>
              <a:t>‹#›</a:t>
            </a:fld>
            <a:endParaRPr lang="en-PH"/>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C923AC2E-91F1-45B7-A964-3FF24C51EFF1}" type="datetimeFigureOut">
              <a:rPr lang="en-PH" smtClean="0"/>
              <a:t>17/05/2025</a:t>
            </a:fld>
            <a:endParaRPr lang="en-PH"/>
          </a:p>
        </p:txBody>
      </p:sp>
      <p:sp>
        <p:nvSpPr>
          <p:cNvPr id="9" name="Slide Number Placeholder 8"/>
          <p:cNvSpPr>
            <a:spLocks noGrp="1"/>
          </p:cNvSpPr>
          <p:nvPr>
            <p:ph type="sldNum" sz="quarter" idx="15"/>
          </p:nvPr>
        </p:nvSpPr>
        <p:spPr/>
        <p:txBody>
          <a:bodyPr rtlCol="0"/>
          <a:lstStyle/>
          <a:p>
            <a:fld id="{687B3F12-2558-44A1-926A-E229007DF9C0}" type="slidenum">
              <a:rPr lang="en-PH" smtClean="0"/>
              <a:t>‹#›</a:t>
            </a:fld>
            <a:endParaRPr lang="en-PH"/>
          </a:p>
        </p:txBody>
      </p:sp>
      <p:sp>
        <p:nvSpPr>
          <p:cNvPr id="10" name="Footer Placeholder 9"/>
          <p:cNvSpPr>
            <a:spLocks noGrp="1"/>
          </p:cNvSpPr>
          <p:nvPr>
            <p:ph type="ftr" sz="quarter" idx="16"/>
          </p:nvPr>
        </p:nvSpPr>
        <p:spPr/>
        <p:txBody>
          <a:bodyPr rtlCol="0"/>
          <a:lstStyle/>
          <a:p>
            <a:endParaRPr lang="en-PH"/>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C923AC2E-91F1-45B7-A964-3FF24C51EFF1}" type="datetimeFigureOut">
              <a:rPr lang="en-PH" smtClean="0"/>
              <a:t>17/05/2025</a:t>
            </a:fld>
            <a:endParaRPr lang="en-PH"/>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PH"/>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687B3F12-2558-44A1-926A-E229007DF9C0}" type="slidenum">
              <a:rPr lang="en-PH" smtClean="0"/>
              <a:t>‹#›</a:t>
            </a:fld>
            <a:endParaRPr lang="en-PH"/>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C923AC2E-91F1-45B7-A964-3FF24C51EFF1}" type="datetimeFigureOut">
              <a:rPr lang="en-PH" smtClean="0"/>
              <a:t>17/05/2025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687B3F12-2558-44A1-926A-E229007DF9C0}" type="slidenum">
              <a:rPr lang="en-PH" smtClean="0"/>
              <a:t>‹#›</a:t>
            </a:fld>
            <a:endParaRPr lang="en-PH"/>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C923AC2E-91F1-45B7-A964-3FF24C51EFF1}" type="datetimeFigureOut">
              <a:rPr lang="en-PH" smtClean="0"/>
              <a:t>17/05/2025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687B3F12-2558-44A1-926A-E229007DF9C0}" type="slidenum">
              <a:rPr lang="en-PH" smtClean="0"/>
              <a:t>‹#›</a:t>
            </a:fld>
            <a:endParaRPr lang="en-PH"/>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C923AC2E-91F1-45B7-A964-3FF24C51EFF1}" type="datetimeFigureOut">
              <a:rPr lang="en-PH" smtClean="0"/>
              <a:t>17/05/2025</a:t>
            </a:fld>
            <a:endParaRPr lang="en-PH"/>
          </a:p>
        </p:txBody>
      </p:sp>
      <p:sp>
        <p:nvSpPr>
          <p:cNvPr id="7" name="Slide Number Placeholder 6"/>
          <p:cNvSpPr>
            <a:spLocks noGrp="1"/>
          </p:cNvSpPr>
          <p:nvPr>
            <p:ph type="sldNum" sz="quarter" idx="11"/>
          </p:nvPr>
        </p:nvSpPr>
        <p:spPr/>
        <p:txBody>
          <a:bodyPr rtlCol="0"/>
          <a:lstStyle/>
          <a:p>
            <a:fld id="{687B3F12-2558-44A1-926A-E229007DF9C0}" type="slidenum">
              <a:rPr lang="en-PH" smtClean="0"/>
              <a:t>‹#›</a:t>
            </a:fld>
            <a:endParaRPr lang="en-PH"/>
          </a:p>
        </p:txBody>
      </p:sp>
      <p:sp>
        <p:nvSpPr>
          <p:cNvPr id="8" name="Footer Placeholder 7"/>
          <p:cNvSpPr>
            <a:spLocks noGrp="1"/>
          </p:cNvSpPr>
          <p:nvPr>
            <p:ph type="ftr" sz="quarter" idx="12"/>
          </p:nvPr>
        </p:nvSpPr>
        <p:spPr/>
        <p:txBody>
          <a:bodyPr rtlCol="0"/>
          <a:lstStyle/>
          <a:p>
            <a:endParaRPr lang="en-PH"/>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23AC2E-91F1-45B7-A964-3FF24C51EFF1}" type="datetimeFigureOut">
              <a:rPr lang="en-PH" smtClean="0"/>
              <a:t>17/05/2025</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687B3F12-2558-44A1-926A-E229007DF9C0}" type="slidenum">
              <a:rPr lang="en-PH" smtClean="0"/>
              <a:t>‹#›</a:t>
            </a:fld>
            <a:endParaRPr lang="en-PH"/>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C923AC2E-91F1-45B7-A964-3FF24C51EFF1}" type="datetimeFigureOut">
              <a:rPr lang="en-PH" smtClean="0"/>
              <a:t>17/05/2025</a:t>
            </a:fld>
            <a:endParaRPr lang="en-PH"/>
          </a:p>
        </p:txBody>
      </p:sp>
      <p:sp>
        <p:nvSpPr>
          <p:cNvPr id="22" name="Slide Number Placeholder 21"/>
          <p:cNvSpPr>
            <a:spLocks noGrp="1"/>
          </p:cNvSpPr>
          <p:nvPr>
            <p:ph type="sldNum" sz="quarter" idx="15"/>
          </p:nvPr>
        </p:nvSpPr>
        <p:spPr/>
        <p:txBody>
          <a:bodyPr rtlCol="0"/>
          <a:lstStyle/>
          <a:p>
            <a:fld id="{687B3F12-2558-44A1-926A-E229007DF9C0}" type="slidenum">
              <a:rPr lang="en-PH" smtClean="0"/>
              <a:t>‹#›</a:t>
            </a:fld>
            <a:endParaRPr lang="en-PH"/>
          </a:p>
        </p:txBody>
      </p:sp>
      <p:sp>
        <p:nvSpPr>
          <p:cNvPr id="23" name="Footer Placeholder 22"/>
          <p:cNvSpPr>
            <a:spLocks noGrp="1"/>
          </p:cNvSpPr>
          <p:nvPr>
            <p:ph type="ftr" sz="quarter" idx="16"/>
          </p:nvPr>
        </p:nvSpPr>
        <p:spPr/>
        <p:txBody>
          <a:bodyPr rtlCol="0"/>
          <a:lstStyle/>
          <a:p>
            <a:endParaRPr lang="en-PH"/>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C923AC2E-91F1-45B7-A964-3FF24C51EFF1}" type="datetimeFigureOut">
              <a:rPr lang="en-PH" smtClean="0"/>
              <a:t>17/05/2025</a:t>
            </a:fld>
            <a:endParaRPr lang="en-PH"/>
          </a:p>
        </p:txBody>
      </p:sp>
      <p:sp>
        <p:nvSpPr>
          <p:cNvPr id="18" name="Slide Number Placeholder 17"/>
          <p:cNvSpPr>
            <a:spLocks noGrp="1"/>
          </p:cNvSpPr>
          <p:nvPr>
            <p:ph type="sldNum" sz="quarter" idx="11"/>
          </p:nvPr>
        </p:nvSpPr>
        <p:spPr/>
        <p:txBody>
          <a:bodyPr rtlCol="0"/>
          <a:lstStyle/>
          <a:p>
            <a:fld id="{687B3F12-2558-44A1-926A-E229007DF9C0}" type="slidenum">
              <a:rPr lang="en-PH" smtClean="0"/>
              <a:t>‹#›</a:t>
            </a:fld>
            <a:endParaRPr lang="en-PH"/>
          </a:p>
        </p:txBody>
      </p:sp>
      <p:sp>
        <p:nvSpPr>
          <p:cNvPr id="21" name="Footer Placeholder 20"/>
          <p:cNvSpPr>
            <a:spLocks noGrp="1"/>
          </p:cNvSpPr>
          <p:nvPr>
            <p:ph type="ftr" sz="quarter" idx="12"/>
          </p:nvPr>
        </p:nvSpPr>
        <p:spPr/>
        <p:txBody>
          <a:bodyPr rtlCol="0"/>
          <a:lstStyle/>
          <a:p>
            <a:endParaRPr lang="en-PH"/>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923AC2E-91F1-45B7-A964-3FF24C51EFF1}" type="datetimeFigureOut">
              <a:rPr lang="en-PH" smtClean="0"/>
              <a:t>17/05/2025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7B3F12-2558-44A1-926A-E229007DF9C0}" type="slidenum">
              <a:rPr lang="en-PH" smtClean="0"/>
              <a:t>‹#›</a:t>
            </a:fld>
            <a:endParaRPr lang="en-PH"/>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923AC2E-91F1-45B7-A964-3FF24C51EFF1}" type="datetimeFigureOut">
              <a:rPr lang="en-PH" smtClean="0"/>
              <a:t>17/05/2025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687B3F12-2558-44A1-926A-E229007DF9C0}" type="slidenum">
              <a:rPr lang="en-PH" smtClean="0"/>
              <a:t>‹#›</a:t>
            </a:fld>
            <a:endParaRPr lang="en-PH"/>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C923AC2E-91F1-45B7-A964-3FF24C51EFF1}" type="datetimeFigureOut">
              <a:rPr lang="en-PH" smtClean="0"/>
              <a:t>17/05/2025</a:t>
            </a:fld>
            <a:endParaRPr lang="en-PH"/>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PH"/>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687B3F12-2558-44A1-926A-E229007DF9C0}" type="slidenum">
              <a:rPr lang="en-PH" smtClean="0"/>
              <a:t>‹#›</a:t>
            </a:fld>
            <a:endParaRPr lang="en-PH"/>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jp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hyperlink" Target="https://www.nhs.uk/conditions/phobias/"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selectivemutismcenter.org/individual-treatment/"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healthline.com/health/adhd" TargetMode="External"/><Relationship Id="rId2" Type="http://schemas.openxmlformats.org/officeDocument/2006/relationships/hyperlink" Target="https://www.healthline.com/health/depression"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alm on X: &quot;Mental Health Check-in: How are you feeling? We ...">
            <a:extLst>
              <a:ext uri="{FF2B5EF4-FFF2-40B4-BE49-F238E27FC236}">
                <a16:creationId xmlns:a16="http://schemas.microsoft.com/office/drawing/2014/main" id="{100D61D7-00C0-4D81-9BCB-C9015E420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536" y="0"/>
            <a:ext cx="950505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650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idx="4294967295"/>
          </p:nvPr>
        </p:nvSpPr>
        <p:spPr>
          <a:xfrm>
            <a:off x="0" y="4868863"/>
            <a:ext cx="8748713" cy="1506537"/>
          </a:xfrm>
        </p:spPr>
        <p:txBody>
          <a:bodyPr>
            <a:noAutofit/>
          </a:bodyPr>
          <a:lstStyle/>
          <a:p>
            <a:r>
              <a:rPr lang="en-US" sz="4000" dirty="0"/>
              <a:t>NEURO</a:t>
            </a:r>
            <a:br>
              <a:rPr lang="en-US" sz="4000" dirty="0"/>
            </a:br>
            <a:r>
              <a:rPr lang="en-US" sz="4000" dirty="0"/>
              <a:t>DEVELOPMENTAL DISORDERS</a:t>
            </a:r>
            <a:endParaRPr lang="en-PH" sz="4000" dirty="0"/>
          </a:p>
        </p:txBody>
      </p:sp>
      <p:pic>
        <p:nvPicPr>
          <p:cNvPr id="1028" name="Picture 4" descr="Understanding Neurodevelopmental Disorders | Structural Learning">
            <a:extLst>
              <a:ext uri="{FF2B5EF4-FFF2-40B4-BE49-F238E27FC236}">
                <a16:creationId xmlns:a16="http://schemas.microsoft.com/office/drawing/2014/main" id="{5C10779F-4A77-4346-B9CB-55A3976A7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7424"/>
            <a:ext cx="9144000" cy="5256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409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ea typeface="+mn-lt"/>
                <a:cs typeface="+mn-lt"/>
              </a:rPr>
              <a:t>Neuro developmental disorders </a:t>
            </a:r>
            <a:endParaRPr lang="en-PH" sz="2400" b="1" dirty="0"/>
          </a:p>
        </p:txBody>
      </p:sp>
      <p:sp>
        <p:nvSpPr>
          <p:cNvPr id="3" name="Content Placeholder 2"/>
          <p:cNvSpPr>
            <a:spLocks noGrp="1"/>
          </p:cNvSpPr>
          <p:nvPr>
            <p:ph sz="quarter" idx="1"/>
          </p:nvPr>
        </p:nvSpPr>
        <p:spPr/>
        <p:txBody>
          <a:bodyPr>
            <a:normAutofit/>
          </a:bodyPr>
          <a:lstStyle/>
          <a:p>
            <a:pPr algn="just"/>
            <a:r>
              <a:rPr lang="en-US" b="1" dirty="0"/>
              <a:t> </a:t>
            </a:r>
            <a:r>
              <a:rPr lang="en-US" dirty="0"/>
              <a:t>are a group of disorders that affect the development of nervous system , leading to abnormal brain function which may affect </a:t>
            </a:r>
            <a:r>
              <a:rPr lang="en-US" b="1" dirty="0"/>
              <a:t>emotion, learning ability, self control </a:t>
            </a:r>
            <a:r>
              <a:rPr lang="en-US" dirty="0"/>
              <a:t>and</a:t>
            </a:r>
            <a:r>
              <a:rPr lang="en-US" b="1" dirty="0"/>
              <a:t> memory.</a:t>
            </a:r>
            <a:r>
              <a:rPr lang="en-US" dirty="0"/>
              <a:t> The effects of neurodevelopmental disorders tend to last for a person's lifetime</a:t>
            </a:r>
            <a:endParaRPr lang="en-US" dirty="0">
              <a:ea typeface="+mn-lt"/>
              <a:cs typeface="+mn-lt"/>
            </a:endParaRPr>
          </a:p>
          <a:p>
            <a:pPr algn="just"/>
            <a:endParaRPr lang="en-US" dirty="0">
              <a:ea typeface="+mn-lt"/>
              <a:cs typeface="+mn-lt"/>
            </a:endParaRPr>
          </a:p>
          <a:p>
            <a:pPr algn="just"/>
            <a:r>
              <a:rPr lang="en-US" dirty="0">
                <a:ea typeface="+mn-lt"/>
                <a:cs typeface="+mn-lt"/>
              </a:rPr>
              <a:t> are conditions that affect how your brain functions. They range from mild impairments, allowing those affected to live fairly normal lives, to severe disorders that require lifelong care</a:t>
            </a:r>
          </a:p>
        </p:txBody>
      </p:sp>
    </p:spTree>
    <p:extLst>
      <p:ext uri="{BB962C8B-B14F-4D97-AF65-F5344CB8AC3E}">
        <p14:creationId xmlns:p14="http://schemas.microsoft.com/office/powerpoint/2010/main" val="179527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NEURO</a:t>
            </a:r>
            <a:br>
              <a:rPr lang="en-US" sz="3200" dirty="0"/>
            </a:br>
            <a:r>
              <a:rPr lang="en-US" sz="3200" dirty="0"/>
              <a:t>DEVELOPMENTAL DISORDERS</a:t>
            </a:r>
            <a:endParaRPr lang="en-PH" dirty="0"/>
          </a:p>
        </p:txBody>
      </p:sp>
      <p:sp>
        <p:nvSpPr>
          <p:cNvPr id="3" name="Content Placeholder 2"/>
          <p:cNvSpPr>
            <a:spLocks noGrp="1"/>
          </p:cNvSpPr>
          <p:nvPr>
            <p:ph sz="quarter" idx="1"/>
          </p:nvPr>
        </p:nvSpPr>
        <p:spPr/>
        <p:txBody>
          <a:bodyPr/>
          <a:lstStyle/>
          <a:p>
            <a:r>
              <a:rPr lang="en-US" dirty="0">
                <a:ea typeface="+mn-lt"/>
                <a:cs typeface="+mn-lt"/>
              </a:rPr>
              <a:t>Attention Deficit Hyperactivity Disorder (ADHD)</a:t>
            </a:r>
          </a:p>
          <a:p>
            <a:r>
              <a:rPr lang="en-US" dirty="0">
                <a:ea typeface="+mn-lt"/>
                <a:cs typeface="+mn-lt"/>
              </a:rPr>
              <a:t>Intellectual disability (ID) or intellectual and developmental disability (IDD), previously called mental retardation</a:t>
            </a:r>
            <a:endParaRPr lang="en-US" dirty="0"/>
          </a:p>
          <a:p>
            <a:r>
              <a:rPr lang="en-US" dirty="0">
                <a:ea typeface="+mn-lt"/>
                <a:cs typeface="+mn-lt"/>
              </a:rPr>
              <a:t>Specific learning disorders.</a:t>
            </a:r>
            <a:endParaRPr lang="en-US" dirty="0"/>
          </a:p>
          <a:p>
            <a:r>
              <a:rPr lang="en-US" dirty="0">
                <a:ea typeface="+mn-lt"/>
                <a:cs typeface="+mn-lt"/>
              </a:rPr>
              <a:t>Autistic spectrum disorders</a:t>
            </a:r>
          </a:p>
          <a:p>
            <a:r>
              <a:rPr lang="en-US" dirty="0">
                <a:ea typeface="+mn-lt"/>
                <a:cs typeface="+mn-lt"/>
              </a:rPr>
              <a:t>Stuttering, Selective Mutism, Tic Disorder</a:t>
            </a:r>
            <a:endParaRPr lang="en-US" dirty="0"/>
          </a:p>
          <a:p>
            <a:endParaRPr lang="en-PH" dirty="0"/>
          </a:p>
        </p:txBody>
      </p:sp>
    </p:spTree>
    <p:extLst>
      <p:ext uri="{BB962C8B-B14F-4D97-AF65-F5344CB8AC3E}">
        <p14:creationId xmlns:p14="http://schemas.microsoft.com/office/powerpoint/2010/main" val="505995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pic>
        <p:nvPicPr>
          <p:cNvPr id="4" name="Picture 4" descr="A picture containing text&#10;&#10;Description automatically generated">
            <a:extLst>
              <a:ext uri="{FF2B5EF4-FFF2-40B4-BE49-F238E27FC236}">
                <a16:creationId xmlns:a16="http://schemas.microsoft.com/office/drawing/2014/main" id="{46295E1E-A0F9-416C-BC02-B430974ADC29}"/>
              </a:ext>
            </a:extLst>
          </p:cNvPr>
          <p:cNvPicPr>
            <a:picLocks noGrp="1" noChangeAspect="1"/>
          </p:cNvPicPr>
          <p:nvPr>
            <p:ph sz="quarter" idx="1"/>
          </p:nvPr>
        </p:nvPicPr>
        <p:blipFill>
          <a:blip r:embed="rId2"/>
          <a:stretch>
            <a:fillRect/>
          </a:stretch>
        </p:blipFill>
        <p:spPr>
          <a:xfrm>
            <a:off x="-9988" y="-7462"/>
            <a:ext cx="9116469" cy="6865462"/>
          </a:xfrm>
          <a:prstGeom prst="rect">
            <a:avLst/>
          </a:prstGeom>
        </p:spPr>
      </p:pic>
    </p:spTree>
    <p:extLst>
      <p:ext uri="{BB962C8B-B14F-4D97-AF65-F5344CB8AC3E}">
        <p14:creationId xmlns:p14="http://schemas.microsoft.com/office/powerpoint/2010/main" val="95730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a typeface="+mn-lt"/>
                <a:cs typeface="+mn-lt"/>
              </a:rPr>
              <a:t>Attention Deficit/ Hyperactivity Disorder or ADHD</a:t>
            </a:r>
            <a:endParaRPr lang="en-PH" dirty="0"/>
          </a:p>
        </p:txBody>
      </p:sp>
      <p:pic>
        <p:nvPicPr>
          <p:cNvPr id="4" name="Picture 4" descr="A group of people around each other&#10;&#10;Description automatically generated">
            <a:extLst>
              <a:ext uri="{FF2B5EF4-FFF2-40B4-BE49-F238E27FC236}">
                <a16:creationId xmlns:a16="http://schemas.microsoft.com/office/drawing/2014/main" id="{7B77B9BA-8F37-423B-BB98-876E898C871F}"/>
              </a:ext>
            </a:extLst>
          </p:cNvPr>
          <p:cNvPicPr>
            <a:picLocks noGrp="1" noChangeAspect="1"/>
          </p:cNvPicPr>
          <p:nvPr>
            <p:ph sz="quarter" idx="1"/>
          </p:nvPr>
        </p:nvPicPr>
        <p:blipFill>
          <a:blip r:embed="rId2"/>
          <a:stretch>
            <a:fillRect/>
          </a:stretch>
        </p:blipFill>
        <p:spPr>
          <a:xfrm>
            <a:off x="751175" y="2636912"/>
            <a:ext cx="7467600" cy="3919989"/>
          </a:xfrm>
        </p:spPr>
      </p:pic>
      <p:sp>
        <p:nvSpPr>
          <p:cNvPr id="6" name="TextBox 5"/>
          <p:cNvSpPr txBox="1"/>
          <p:nvPr/>
        </p:nvSpPr>
        <p:spPr>
          <a:xfrm>
            <a:off x="755576" y="1844824"/>
            <a:ext cx="6840760" cy="2215991"/>
          </a:xfrm>
          <a:prstGeom prst="rect">
            <a:avLst/>
          </a:prstGeom>
          <a:noFill/>
        </p:spPr>
        <p:txBody>
          <a:bodyPr wrap="square" rtlCol="0">
            <a:spAutoFit/>
          </a:bodyPr>
          <a:lstStyle/>
          <a:p>
            <a:r>
              <a:rPr lang="en-US" dirty="0">
                <a:ea typeface="+mn-lt"/>
                <a:cs typeface="+mn-lt"/>
              </a:rPr>
              <a:t> </a:t>
            </a:r>
            <a:r>
              <a:rPr lang="en-US" sz="2400" dirty="0">
                <a:ea typeface="+mn-lt"/>
                <a:cs typeface="+mn-lt"/>
              </a:rPr>
              <a:t>A persistent pattern of inattention and/or hyperactivity-impulsivity that interferes with</a:t>
            </a:r>
            <a:endParaRPr lang="en-US" sz="2400" dirty="0">
              <a:cs typeface="Calibri"/>
            </a:endParaRPr>
          </a:p>
          <a:p>
            <a:r>
              <a:rPr lang="en-US" sz="2400" dirty="0">
                <a:ea typeface="+mn-lt"/>
                <a:cs typeface="+mn-lt"/>
              </a:rPr>
              <a:t>functioning or development, as characterized by </a:t>
            </a:r>
            <a:r>
              <a:rPr lang="en-US" sz="2400" dirty="0" err="1">
                <a:ea typeface="+mn-lt"/>
                <a:cs typeface="+mn-lt"/>
              </a:rPr>
              <a:t>innatention</a:t>
            </a:r>
            <a:r>
              <a:rPr lang="en-US" sz="2400" dirty="0">
                <a:ea typeface="+mn-lt"/>
                <a:cs typeface="+mn-lt"/>
              </a:rPr>
              <a:t> and/or hyperactivity and impulsivity</a:t>
            </a:r>
            <a:endParaRPr lang="en-US" sz="2400" dirty="0">
              <a:cs typeface="Calibri"/>
            </a:endParaRPr>
          </a:p>
          <a:p>
            <a:endParaRPr lang="en-PH" dirty="0"/>
          </a:p>
        </p:txBody>
      </p:sp>
    </p:spTree>
    <p:extLst>
      <p:ext uri="{BB962C8B-B14F-4D97-AF65-F5344CB8AC3E}">
        <p14:creationId xmlns:p14="http://schemas.microsoft.com/office/powerpoint/2010/main" val="3091673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Light"/>
              </a:rPr>
              <a:t>Diagnostic Criteria</a:t>
            </a:r>
            <a:endParaRPr lang="en-PH" dirty="0"/>
          </a:p>
        </p:txBody>
      </p:sp>
      <p:sp>
        <p:nvSpPr>
          <p:cNvPr id="3" name="Content Placeholder 2"/>
          <p:cNvSpPr>
            <a:spLocks noGrp="1"/>
          </p:cNvSpPr>
          <p:nvPr>
            <p:ph sz="quarter" idx="1"/>
          </p:nvPr>
        </p:nvSpPr>
        <p:spPr/>
        <p:txBody>
          <a:bodyPr>
            <a:normAutofit/>
          </a:bodyPr>
          <a:lstStyle/>
          <a:p>
            <a:r>
              <a:rPr lang="en-US" dirty="0">
                <a:ea typeface="+mn-lt"/>
                <a:cs typeface="+mn-lt"/>
              </a:rPr>
              <a:t>persistent pattern of inattention and/or hyperactivity-impulsivity that persist at least 6 months and for adults age 17 above at least 5 symptoms required are met</a:t>
            </a:r>
          </a:p>
          <a:p>
            <a:r>
              <a:rPr lang="en-US" sz="2000" dirty="0">
                <a:ea typeface="+mn-lt"/>
                <a:cs typeface="+mn-lt"/>
              </a:rPr>
              <a:t>1</a:t>
            </a:r>
            <a:r>
              <a:rPr lang="en-US" sz="3200" dirty="0">
                <a:ea typeface="+mn-lt"/>
                <a:cs typeface="+mn-lt"/>
              </a:rPr>
              <a:t>.</a:t>
            </a:r>
            <a:r>
              <a:rPr lang="en-US" sz="3200" b="1" dirty="0">
                <a:ea typeface="+mn-lt"/>
                <a:cs typeface="+mn-lt"/>
              </a:rPr>
              <a:t>(Inattention)</a:t>
            </a:r>
            <a:endParaRPr lang="en-US" sz="3200" dirty="0">
              <a:ea typeface="+mn-lt"/>
              <a:cs typeface="+mn-lt"/>
            </a:endParaRPr>
          </a:p>
          <a:p>
            <a:r>
              <a:rPr lang="en-US" sz="3200" dirty="0">
                <a:ea typeface="+mn-lt"/>
                <a:cs typeface="+mn-lt"/>
              </a:rPr>
              <a:t>2.</a:t>
            </a:r>
            <a:r>
              <a:rPr lang="en-US" sz="3200" b="1" dirty="0">
                <a:ea typeface="+mn-lt"/>
                <a:cs typeface="+mn-lt"/>
              </a:rPr>
              <a:t>hyperactivity and </a:t>
            </a:r>
            <a:r>
              <a:rPr lang="en-US" sz="3200" b="1" dirty="0" err="1">
                <a:ea typeface="+mn-lt"/>
                <a:cs typeface="+mn-lt"/>
              </a:rPr>
              <a:t>impusivity</a:t>
            </a:r>
            <a:endParaRPr lang="en-US" sz="3200" b="1" dirty="0">
              <a:cs typeface="Calibri" panose="020F0502020204030204"/>
            </a:endParaRPr>
          </a:p>
          <a:p>
            <a:endParaRPr lang="en-US" sz="3200" dirty="0">
              <a:cs typeface="Calibri"/>
            </a:endParaRPr>
          </a:p>
        </p:txBody>
      </p:sp>
    </p:spTree>
    <p:extLst>
      <p:ext uri="{BB962C8B-B14F-4D97-AF65-F5344CB8AC3E}">
        <p14:creationId xmlns:p14="http://schemas.microsoft.com/office/powerpoint/2010/main" val="3235746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0A381-0B70-48F0-BBDE-49B8BDC115BC}"/>
              </a:ext>
            </a:extLst>
          </p:cNvPr>
          <p:cNvSpPr>
            <a:spLocks noGrp="1"/>
          </p:cNvSpPr>
          <p:nvPr>
            <p:ph type="title"/>
          </p:nvPr>
        </p:nvSpPr>
        <p:spPr/>
        <p:txBody>
          <a:bodyPr/>
          <a:lstStyle/>
          <a:p>
            <a:endParaRPr lang="en-PH"/>
          </a:p>
        </p:txBody>
      </p:sp>
      <p:pic>
        <p:nvPicPr>
          <p:cNvPr id="5" name="Content Placeholder 4">
            <a:extLst>
              <a:ext uri="{FF2B5EF4-FFF2-40B4-BE49-F238E27FC236}">
                <a16:creationId xmlns:a16="http://schemas.microsoft.com/office/drawing/2014/main" id="{9725FBF8-A116-45D0-B672-9A51A24811DA}"/>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0" y="0"/>
            <a:ext cx="9143999" cy="6858000"/>
          </a:xfrm>
        </p:spPr>
      </p:pic>
    </p:spTree>
    <p:extLst>
      <p:ext uri="{BB962C8B-B14F-4D97-AF65-F5344CB8AC3E}">
        <p14:creationId xmlns:p14="http://schemas.microsoft.com/office/powerpoint/2010/main" val="39974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causes</a:t>
            </a:r>
          </a:p>
        </p:txBody>
      </p:sp>
      <p:sp>
        <p:nvSpPr>
          <p:cNvPr id="3" name="Content Placeholder 2"/>
          <p:cNvSpPr>
            <a:spLocks noGrp="1"/>
          </p:cNvSpPr>
          <p:nvPr>
            <p:ph sz="quarter" idx="1"/>
          </p:nvPr>
        </p:nvSpPr>
        <p:spPr/>
        <p:txBody>
          <a:bodyPr>
            <a:normAutofit fontScale="92500"/>
          </a:bodyPr>
          <a:lstStyle/>
          <a:p>
            <a:r>
              <a:rPr lang="en-US" dirty="0">
                <a:ea typeface="+mn-lt"/>
                <a:cs typeface="+mn-lt"/>
              </a:rPr>
              <a:t>While the exact cause of ADHD is not clear, research efforts continue. Factors that may be involved in the development of ADHD include genetics, the environment or problems with the central nervous system at key moments in development.</a:t>
            </a:r>
            <a:endParaRPr lang="en-US" dirty="0">
              <a:cs typeface="Calibri" panose="020F0502020204030204"/>
            </a:endParaRPr>
          </a:p>
          <a:p>
            <a:r>
              <a:rPr lang="en-US" dirty="0">
                <a:ea typeface="+mn-lt"/>
                <a:cs typeface="+mn-lt"/>
              </a:rPr>
              <a:t>Blood relatives, such as a parent or sibling, with ADHD or another mental health disorder</a:t>
            </a:r>
            <a:endParaRPr lang="en-US" dirty="0"/>
          </a:p>
          <a:p>
            <a:r>
              <a:rPr lang="en-US" dirty="0">
                <a:ea typeface="+mn-lt"/>
                <a:cs typeface="+mn-lt"/>
              </a:rPr>
              <a:t>Exposure to environmental toxins — such as lead, found mainly in paint and pipes in older buildings</a:t>
            </a:r>
            <a:endParaRPr lang="en-US" dirty="0"/>
          </a:p>
          <a:p>
            <a:r>
              <a:rPr lang="en-US" dirty="0">
                <a:ea typeface="+mn-lt"/>
                <a:cs typeface="+mn-lt"/>
              </a:rPr>
              <a:t>Maternal drug use, alcohol use or smoking during pregnancy</a:t>
            </a:r>
            <a:endParaRPr lang="en-US" dirty="0"/>
          </a:p>
          <a:p>
            <a:r>
              <a:rPr lang="en-US" dirty="0">
                <a:ea typeface="+mn-lt"/>
                <a:cs typeface="+mn-lt"/>
              </a:rPr>
              <a:t>Premature birth</a:t>
            </a:r>
            <a:endParaRPr lang="en-US" dirty="0"/>
          </a:p>
          <a:p>
            <a:endParaRPr lang="en-PH" dirty="0"/>
          </a:p>
        </p:txBody>
      </p:sp>
    </p:spTree>
    <p:extLst>
      <p:ext uri="{BB962C8B-B14F-4D97-AF65-F5344CB8AC3E}">
        <p14:creationId xmlns:p14="http://schemas.microsoft.com/office/powerpoint/2010/main" val="716422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comorbidity</a:t>
            </a:r>
          </a:p>
        </p:txBody>
      </p:sp>
      <p:sp>
        <p:nvSpPr>
          <p:cNvPr id="3" name="Content Placeholder 2"/>
          <p:cNvSpPr>
            <a:spLocks noGrp="1"/>
          </p:cNvSpPr>
          <p:nvPr>
            <p:ph sz="quarter" idx="1"/>
          </p:nvPr>
        </p:nvSpPr>
        <p:spPr/>
        <p:txBody>
          <a:bodyPr>
            <a:normAutofit fontScale="92500" lnSpcReduction="10000"/>
          </a:bodyPr>
          <a:lstStyle/>
          <a:p>
            <a:r>
              <a:rPr lang="en-US" dirty="0">
                <a:ea typeface="+mn-lt"/>
                <a:cs typeface="+mn-lt"/>
              </a:rPr>
              <a:t>Mild delays in language, motor, or social development are not specific to ADHD but often co occur</a:t>
            </a:r>
            <a:endParaRPr lang="en-US" dirty="0">
              <a:cs typeface="Calibri" panose="020F0502020204030204"/>
            </a:endParaRPr>
          </a:p>
          <a:p>
            <a:r>
              <a:rPr lang="en-US" dirty="0">
                <a:ea typeface="+mn-lt"/>
                <a:cs typeface="+mn-lt"/>
              </a:rPr>
              <a:t>low frustration tolerance, irritability, or mood ability.</a:t>
            </a:r>
            <a:endParaRPr lang="en-US" dirty="0"/>
          </a:p>
          <a:p>
            <a:r>
              <a:rPr lang="en-US" dirty="0">
                <a:ea typeface="+mn-lt"/>
                <a:cs typeface="+mn-lt"/>
              </a:rPr>
              <a:t>oppositional defiant disorder</a:t>
            </a:r>
            <a:endParaRPr lang="en-US" dirty="0"/>
          </a:p>
          <a:p>
            <a:r>
              <a:rPr lang="en-US" dirty="0">
                <a:ea typeface="+mn-lt"/>
                <a:cs typeface="+mn-lt"/>
              </a:rPr>
              <a:t>Conduct disorder</a:t>
            </a:r>
            <a:endParaRPr lang="en-US" dirty="0"/>
          </a:p>
          <a:p>
            <a:r>
              <a:rPr lang="en-US" dirty="0">
                <a:ea typeface="+mn-lt"/>
                <a:cs typeface="+mn-lt"/>
              </a:rPr>
              <a:t>Most children and adolescents with disruptive mood </a:t>
            </a:r>
            <a:r>
              <a:rPr lang="en-US" dirty="0" err="1">
                <a:ea typeface="+mn-lt"/>
                <a:cs typeface="+mn-lt"/>
              </a:rPr>
              <a:t>dysregulation</a:t>
            </a:r>
            <a:r>
              <a:rPr lang="en-US" dirty="0">
                <a:ea typeface="+mn-lt"/>
                <a:cs typeface="+mn-lt"/>
              </a:rPr>
              <a:t> disorder have symptoms that also meet criteria for ADHD</a:t>
            </a:r>
            <a:endParaRPr lang="en-US" dirty="0"/>
          </a:p>
          <a:p>
            <a:r>
              <a:rPr lang="en-US" dirty="0">
                <a:ea typeface="+mn-lt"/>
                <a:cs typeface="+mn-lt"/>
              </a:rPr>
              <a:t>disruptive mood </a:t>
            </a:r>
            <a:r>
              <a:rPr lang="en-US" dirty="0" err="1">
                <a:ea typeface="+mn-lt"/>
                <a:cs typeface="+mn-lt"/>
              </a:rPr>
              <a:t>dysregulation</a:t>
            </a:r>
            <a:r>
              <a:rPr lang="en-US" dirty="0">
                <a:ea typeface="+mn-lt"/>
                <a:cs typeface="+mn-lt"/>
              </a:rPr>
              <a:t> disorder</a:t>
            </a:r>
          </a:p>
          <a:p>
            <a:r>
              <a:rPr lang="en-US" dirty="0">
                <a:ea typeface="+mn-lt"/>
                <a:cs typeface="+mn-lt"/>
              </a:rPr>
              <a:t> Specific learning disorder commonly co-occurs with ADHD</a:t>
            </a:r>
            <a:endParaRPr lang="en-US" dirty="0">
              <a:cs typeface="Calibri"/>
            </a:endParaRPr>
          </a:p>
          <a:p>
            <a:r>
              <a:rPr lang="en-US" dirty="0">
                <a:ea typeface="+mn-lt"/>
                <a:cs typeface="+mn-lt"/>
              </a:rPr>
              <a:t>major depressive disorder</a:t>
            </a:r>
            <a:endParaRPr lang="en-US" dirty="0"/>
          </a:p>
          <a:p>
            <a:r>
              <a:rPr lang="en-US" dirty="0">
                <a:ea typeface="+mn-lt"/>
                <a:cs typeface="+mn-lt"/>
              </a:rPr>
              <a:t>Intermittent explosive disorder </a:t>
            </a:r>
            <a:endParaRPr lang="en-US" dirty="0"/>
          </a:p>
          <a:p>
            <a:endParaRPr lang="en-PH" dirty="0"/>
          </a:p>
        </p:txBody>
      </p:sp>
    </p:spTree>
    <p:extLst>
      <p:ext uri="{BB962C8B-B14F-4D97-AF65-F5344CB8AC3E}">
        <p14:creationId xmlns:p14="http://schemas.microsoft.com/office/powerpoint/2010/main" val="287722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cs typeface="Calibri Light"/>
              </a:rPr>
              <a:t>Treatment</a:t>
            </a:r>
            <a:endParaRPr lang="en-PH" b="1" dirty="0"/>
          </a:p>
        </p:txBody>
      </p:sp>
      <p:sp>
        <p:nvSpPr>
          <p:cNvPr id="3" name="Content Placeholder 2"/>
          <p:cNvSpPr>
            <a:spLocks noGrp="1"/>
          </p:cNvSpPr>
          <p:nvPr>
            <p:ph sz="quarter" idx="1"/>
          </p:nvPr>
        </p:nvSpPr>
        <p:spPr/>
        <p:txBody>
          <a:bodyPr>
            <a:normAutofit fontScale="92500" lnSpcReduction="10000"/>
          </a:bodyPr>
          <a:lstStyle/>
          <a:p>
            <a:pPr marL="0" indent="0">
              <a:buNone/>
            </a:pPr>
            <a:r>
              <a:rPr lang="en-US" b="1" dirty="0">
                <a:ea typeface="+mn-lt"/>
                <a:cs typeface="+mn-lt"/>
              </a:rPr>
              <a:t>Behavior therapy </a:t>
            </a:r>
          </a:p>
          <a:p>
            <a:endParaRPr lang="en-US" b="1" dirty="0">
              <a:ea typeface="+mn-lt"/>
              <a:cs typeface="+mn-lt"/>
            </a:endParaRPr>
          </a:p>
          <a:p>
            <a:pPr marL="0" indent="0">
              <a:buNone/>
            </a:pPr>
            <a:r>
              <a:rPr lang="en-US" dirty="0">
                <a:ea typeface="+mn-lt"/>
                <a:cs typeface="+mn-lt"/>
              </a:rPr>
              <a:t>Behavioral therapy is an umbrella term for types of therapy that treat mental health disorders. This form of therapy seeks to identify and help change potentially self-destructive or unhealthy behaviors. It functions on the idea that all behaviors are learned and that unhealthy behaviors can be changed.</a:t>
            </a:r>
            <a:endParaRPr lang="en-PH" dirty="0"/>
          </a:p>
        </p:txBody>
      </p:sp>
      <p:sp>
        <p:nvSpPr>
          <p:cNvPr id="5" name="Content Placeholder 4"/>
          <p:cNvSpPr>
            <a:spLocks noGrp="1"/>
          </p:cNvSpPr>
          <p:nvPr>
            <p:ph sz="quarter" idx="2"/>
          </p:nvPr>
        </p:nvSpPr>
        <p:spPr/>
        <p:txBody>
          <a:bodyPr>
            <a:normAutofit fontScale="92500" lnSpcReduction="10000"/>
          </a:bodyPr>
          <a:lstStyle/>
          <a:p>
            <a:r>
              <a:rPr lang="en-US" b="1" dirty="0">
                <a:ea typeface="+mn-lt"/>
                <a:cs typeface="+mn-lt"/>
              </a:rPr>
              <a:t>Medication</a:t>
            </a:r>
          </a:p>
          <a:p>
            <a:endParaRPr lang="en-US" dirty="0">
              <a:ea typeface="+mn-lt"/>
              <a:cs typeface="+mn-lt"/>
            </a:endParaRPr>
          </a:p>
          <a:p>
            <a:r>
              <a:rPr lang="en-US" dirty="0">
                <a:ea typeface="+mn-lt"/>
                <a:cs typeface="+mn-lt"/>
              </a:rPr>
              <a:t>Adderall XR (amphetamine)</a:t>
            </a:r>
            <a:endParaRPr lang="en-US" dirty="0">
              <a:cs typeface="Calibri" panose="020F0502020204030204"/>
            </a:endParaRPr>
          </a:p>
          <a:p>
            <a:r>
              <a:rPr lang="en-US" dirty="0" err="1">
                <a:ea typeface="+mn-lt"/>
                <a:cs typeface="+mn-lt"/>
              </a:rPr>
              <a:t>Concerta</a:t>
            </a:r>
            <a:r>
              <a:rPr lang="en-US" dirty="0">
                <a:ea typeface="+mn-lt"/>
                <a:cs typeface="+mn-lt"/>
              </a:rPr>
              <a:t> (methylphenidate)</a:t>
            </a:r>
            <a:endParaRPr lang="en-US" dirty="0"/>
          </a:p>
          <a:p>
            <a:r>
              <a:rPr lang="en-US" dirty="0">
                <a:ea typeface="+mn-lt"/>
                <a:cs typeface="+mn-lt"/>
              </a:rPr>
              <a:t>Dexedrine (amphetamine)</a:t>
            </a:r>
            <a:endParaRPr lang="en-US" dirty="0"/>
          </a:p>
          <a:p>
            <a:r>
              <a:rPr lang="en-US" dirty="0" err="1">
                <a:ea typeface="+mn-lt"/>
                <a:cs typeface="+mn-lt"/>
              </a:rPr>
              <a:t>Evekeo</a:t>
            </a:r>
            <a:r>
              <a:rPr lang="en-US" dirty="0">
                <a:ea typeface="+mn-lt"/>
                <a:cs typeface="+mn-lt"/>
              </a:rPr>
              <a:t> (amphetamine)</a:t>
            </a:r>
            <a:endParaRPr lang="en-US" dirty="0"/>
          </a:p>
          <a:p>
            <a:r>
              <a:rPr lang="en-US" dirty="0">
                <a:ea typeface="+mn-lt"/>
                <a:cs typeface="+mn-lt"/>
              </a:rPr>
              <a:t>Focalin XR (</a:t>
            </a:r>
            <a:r>
              <a:rPr lang="en-US" dirty="0" err="1">
                <a:ea typeface="+mn-lt"/>
                <a:cs typeface="+mn-lt"/>
              </a:rPr>
              <a:t>dexmethylphenidate</a:t>
            </a:r>
            <a:r>
              <a:rPr lang="en-US" dirty="0">
                <a:ea typeface="+mn-lt"/>
                <a:cs typeface="+mn-lt"/>
              </a:rPr>
              <a:t>)</a:t>
            </a:r>
            <a:endParaRPr lang="en-US" dirty="0"/>
          </a:p>
        </p:txBody>
      </p:sp>
    </p:spTree>
    <p:extLst>
      <p:ext uri="{BB962C8B-B14F-4D97-AF65-F5344CB8AC3E}">
        <p14:creationId xmlns:p14="http://schemas.microsoft.com/office/powerpoint/2010/main" val="2897280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Autism Spectrum Disorder</a:t>
            </a:r>
            <a:endParaRPr lang="en-PH"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39552" y="1412776"/>
            <a:ext cx="7992888" cy="4525963"/>
          </a:xfrm>
        </p:spPr>
      </p:pic>
    </p:spTree>
    <p:extLst>
      <p:ext uri="{BB962C8B-B14F-4D97-AF65-F5344CB8AC3E}">
        <p14:creationId xmlns:p14="http://schemas.microsoft.com/office/powerpoint/2010/main" val="1123681934"/>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332656"/>
            <a:ext cx="7467600" cy="1143000"/>
          </a:xfrm>
        </p:spPr>
        <p:txBody>
          <a:bodyPr/>
          <a:lstStyle/>
          <a:p>
            <a:r>
              <a:rPr lang="en-US" b="1" dirty="0"/>
              <a:t>Pervasive developmental disorder</a:t>
            </a:r>
            <a:endParaRPr lang="en-PH" b="1" dirty="0"/>
          </a:p>
        </p:txBody>
      </p:sp>
      <p:sp>
        <p:nvSpPr>
          <p:cNvPr id="3" name="Content Placeholder 2"/>
          <p:cNvSpPr>
            <a:spLocks noGrp="1"/>
          </p:cNvSpPr>
          <p:nvPr>
            <p:ph sz="quarter" idx="1"/>
          </p:nvPr>
        </p:nvSpPr>
        <p:spPr/>
        <p:txBody>
          <a:bodyPr>
            <a:normAutofit/>
          </a:bodyPr>
          <a:lstStyle/>
          <a:p>
            <a:r>
              <a:rPr lang="en-PH" b="1" dirty="0"/>
              <a:t>Autistic disorder </a:t>
            </a:r>
            <a:r>
              <a:rPr lang="en-PH" dirty="0"/>
              <a:t>– </a:t>
            </a:r>
            <a:r>
              <a:rPr lang="en-US" dirty="0"/>
              <a:t>autism refers to a condition where somebody might be removed from social interaction in communication leaving them alone or isolation</a:t>
            </a:r>
            <a:endParaRPr lang="en-PH" dirty="0"/>
          </a:p>
          <a:p>
            <a:pPr algn="just"/>
            <a:r>
              <a:rPr lang="en-PH" dirty="0"/>
              <a:t> </a:t>
            </a:r>
            <a:r>
              <a:rPr lang="en-PH" b="1" dirty="0"/>
              <a:t>Asperger’s disorder- </a:t>
            </a:r>
            <a:r>
              <a:rPr lang="en-US" dirty="0"/>
              <a:t>was used for children that appeared to have characteristics of autism, like difficulties with social interactions or nonverbal communication. </a:t>
            </a:r>
          </a:p>
          <a:p>
            <a:pPr algn="just"/>
            <a:r>
              <a:rPr lang="en-PH" b="1" dirty="0"/>
              <a:t>Childhood disintegrative disorder  </a:t>
            </a:r>
            <a:r>
              <a:rPr lang="en-US" dirty="0"/>
              <a:t>was used to describe late onset of developmental delays so these children developed normally for their age.</a:t>
            </a:r>
            <a:endParaRPr lang="en-PH" dirty="0"/>
          </a:p>
        </p:txBody>
      </p:sp>
    </p:spTree>
    <p:extLst>
      <p:ext uri="{BB962C8B-B14F-4D97-AF65-F5344CB8AC3E}">
        <p14:creationId xmlns:p14="http://schemas.microsoft.com/office/powerpoint/2010/main" val="33138140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Clinical Description</a:t>
            </a:r>
            <a:endParaRPr lang="en-PH" dirty="0"/>
          </a:p>
        </p:txBody>
      </p:sp>
      <p:sp>
        <p:nvSpPr>
          <p:cNvPr id="3" name="Content Placeholder 2"/>
          <p:cNvSpPr>
            <a:spLocks noGrp="1"/>
          </p:cNvSpPr>
          <p:nvPr>
            <p:ph sz="quarter" idx="1"/>
          </p:nvPr>
        </p:nvSpPr>
        <p:spPr/>
        <p:txBody>
          <a:bodyPr/>
          <a:lstStyle/>
          <a:p>
            <a:r>
              <a:rPr lang="en-PH" b="1" dirty="0"/>
              <a:t>Autism Spectrum Disorder</a:t>
            </a:r>
            <a:r>
              <a:rPr lang="en-PH" dirty="0"/>
              <a:t> (</a:t>
            </a:r>
            <a:r>
              <a:rPr lang="en-PH" b="1" dirty="0"/>
              <a:t>ASD</a:t>
            </a:r>
            <a:r>
              <a:rPr lang="en-PH" dirty="0"/>
              <a:t>) is a neurological and developmental </a:t>
            </a:r>
            <a:r>
              <a:rPr lang="en-PH" b="1" dirty="0"/>
              <a:t>disorder</a:t>
            </a:r>
            <a:r>
              <a:rPr lang="en-PH" dirty="0"/>
              <a:t> that begins early in childhood and lasts throughout a person's life. It affects how a person </a:t>
            </a:r>
            <a:r>
              <a:rPr lang="en-PH" b="1" dirty="0"/>
              <a:t>acts</a:t>
            </a:r>
            <a:r>
              <a:rPr lang="en-PH" dirty="0"/>
              <a:t> and </a:t>
            </a:r>
            <a:r>
              <a:rPr lang="en-PH" b="1" dirty="0"/>
              <a:t>communicates, learns </a:t>
            </a:r>
            <a:r>
              <a:rPr lang="en-PH" dirty="0"/>
              <a:t>and </a:t>
            </a:r>
            <a:r>
              <a:rPr lang="en-PH" b="1" dirty="0"/>
              <a:t>interacts with others.</a:t>
            </a:r>
          </a:p>
        </p:txBody>
      </p:sp>
    </p:spTree>
    <p:extLst>
      <p:ext uri="{BB962C8B-B14F-4D97-AF65-F5344CB8AC3E}">
        <p14:creationId xmlns:p14="http://schemas.microsoft.com/office/powerpoint/2010/main" val="236985894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Quentin </a:t>
            </a:r>
            <a:r>
              <a:rPr lang="en-US" dirty="0" err="1"/>
              <a:t>Pangilinan</a:t>
            </a:r>
            <a:endParaRPr lang="en-PH" dirty="0"/>
          </a:p>
        </p:txBody>
      </p:sp>
      <p:pic>
        <p:nvPicPr>
          <p:cNvPr id="7" name="Content Placeholder 6"/>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11560" y="1484784"/>
            <a:ext cx="3888432" cy="5040560"/>
          </a:xfrm>
        </p:spPr>
      </p:pic>
      <p:pic>
        <p:nvPicPr>
          <p:cNvPr id="8" name="Content Placeholder 7"/>
          <p:cNvPicPr>
            <a:picLocks noGrp="1" noChangeAspect="1"/>
          </p:cNvPicPr>
          <p:nvPr>
            <p:ph sz="quarter" idx="2"/>
          </p:nvPr>
        </p:nvPicPr>
        <p:blipFill>
          <a:blip r:embed="rId3">
            <a:extLst>
              <a:ext uri="{28A0092B-C50C-407E-A947-70E740481C1C}">
                <a14:useLocalDpi xmlns:a14="http://schemas.microsoft.com/office/drawing/2010/main" val="0"/>
              </a:ext>
            </a:extLst>
          </a:blip>
          <a:stretch>
            <a:fillRect/>
          </a:stretch>
        </p:blipFill>
        <p:spPr>
          <a:xfrm>
            <a:off x="4860032" y="1484784"/>
            <a:ext cx="3809057" cy="5028207"/>
          </a:xfrm>
        </p:spPr>
      </p:pic>
    </p:spTree>
    <p:extLst>
      <p:ext uri="{BB962C8B-B14F-4D97-AF65-F5344CB8AC3E}">
        <p14:creationId xmlns:p14="http://schemas.microsoft.com/office/powerpoint/2010/main" val="4107275643"/>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Causal factor</a:t>
            </a:r>
            <a:br>
              <a:rPr lang="en-US" dirty="0"/>
            </a:br>
            <a:endParaRPr lang="en-PH" dirty="0"/>
          </a:p>
        </p:txBody>
      </p:sp>
      <p:sp>
        <p:nvSpPr>
          <p:cNvPr id="6" name="Content Placeholder 5"/>
          <p:cNvSpPr>
            <a:spLocks noGrp="1"/>
          </p:cNvSpPr>
          <p:nvPr>
            <p:ph sz="quarter" idx="1"/>
          </p:nvPr>
        </p:nvSpPr>
        <p:spPr/>
        <p:txBody>
          <a:bodyPr>
            <a:normAutofit lnSpcReduction="10000"/>
          </a:bodyPr>
          <a:lstStyle/>
          <a:p>
            <a:r>
              <a:rPr lang="en-PH" b="1" dirty="0"/>
              <a:t>Causes: Biological Dimensions </a:t>
            </a:r>
          </a:p>
          <a:p>
            <a:r>
              <a:rPr lang="en-US" dirty="0"/>
              <a:t>Genetic affect brain development specially areas that affects </a:t>
            </a:r>
            <a:r>
              <a:rPr lang="en-US" b="1" dirty="0"/>
              <a:t>social and communication behaviors</a:t>
            </a:r>
          </a:p>
          <a:p>
            <a:r>
              <a:rPr lang="en-US" dirty="0"/>
              <a:t>Numerous genes on a number of our chromosomes have already been implicated in some way in the presentation of ASD and as with other psychological disorders.</a:t>
            </a:r>
          </a:p>
          <a:p>
            <a:r>
              <a:rPr lang="en-US" dirty="0"/>
              <a:t>Research on children with ASD </a:t>
            </a:r>
            <a:r>
              <a:rPr lang="en-US" b="1" dirty="0"/>
              <a:t>found lower levels of oxytocin </a:t>
            </a:r>
            <a:r>
              <a:rPr lang="en-US" dirty="0"/>
              <a:t>in their blood, and giving </a:t>
            </a:r>
            <a:r>
              <a:rPr lang="en-US" b="1" dirty="0"/>
              <a:t>oxytocin</a:t>
            </a:r>
            <a:r>
              <a:rPr lang="en-US" dirty="0"/>
              <a:t> to people with ASD improved their ability to remember and process information with emotion content</a:t>
            </a:r>
            <a:endParaRPr lang="en-PH" dirty="0"/>
          </a:p>
          <a:p>
            <a:endParaRPr lang="en-PH" dirty="0"/>
          </a:p>
        </p:txBody>
      </p:sp>
    </p:spTree>
    <p:extLst>
      <p:ext uri="{BB962C8B-B14F-4D97-AF65-F5344CB8AC3E}">
        <p14:creationId xmlns:p14="http://schemas.microsoft.com/office/powerpoint/2010/main" val="4004539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Neurobiological Influences</a:t>
            </a:r>
          </a:p>
        </p:txBody>
      </p:sp>
      <p:sp>
        <p:nvSpPr>
          <p:cNvPr id="3" name="Content Placeholder 2"/>
          <p:cNvSpPr>
            <a:spLocks noGrp="1"/>
          </p:cNvSpPr>
          <p:nvPr>
            <p:ph sz="quarter" idx="1"/>
          </p:nvPr>
        </p:nvSpPr>
        <p:spPr/>
        <p:txBody>
          <a:bodyPr/>
          <a:lstStyle/>
          <a:p>
            <a:r>
              <a:rPr lang="en-US" dirty="0"/>
              <a:t>Research showed that young children with ASD actually have a </a:t>
            </a:r>
            <a:r>
              <a:rPr lang="en-US" b="1" dirty="0"/>
              <a:t>larger amygdala</a:t>
            </a:r>
            <a:r>
              <a:rPr lang="en-US" dirty="0"/>
              <a:t>.</a:t>
            </a:r>
          </a:p>
          <a:p>
            <a:r>
              <a:rPr lang="en-US" dirty="0"/>
              <a:t> The amygdala in children with ASD is enlarged early in life—causing excessive anxiety and fear (perhaps contributing to their social withdrawal).</a:t>
            </a:r>
          </a:p>
        </p:txBody>
      </p:sp>
      <p:pic>
        <p:nvPicPr>
          <p:cNvPr id="5" name="Content Placeholder 4"/>
          <p:cNvPicPr>
            <a:picLocks noGrp="1" noChangeAspect="1"/>
          </p:cNvPicPr>
          <p:nvPr>
            <p:ph sz="quarter" idx="2"/>
          </p:nvPr>
        </p:nvPicPr>
        <p:blipFill rotWithShape="1">
          <a:blip r:embed="rId2" cstate="print">
            <a:extLst>
              <a:ext uri="{28A0092B-C50C-407E-A947-70E740481C1C}">
                <a14:useLocalDpi xmlns:a14="http://schemas.microsoft.com/office/drawing/2010/main" val="0"/>
              </a:ext>
            </a:extLst>
          </a:blip>
          <a:srcRect l="6118" t="6058" r="7009" b="6165"/>
          <a:stretch/>
        </p:blipFill>
        <p:spPr>
          <a:xfrm>
            <a:off x="3995936" y="1484784"/>
            <a:ext cx="4635447" cy="4968552"/>
          </a:xfrm>
        </p:spPr>
      </p:pic>
    </p:spTree>
    <p:extLst>
      <p:ext uri="{BB962C8B-B14F-4D97-AF65-F5344CB8AC3E}">
        <p14:creationId xmlns:p14="http://schemas.microsoft.com/office/powerpoint/2010/main" val="670930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criteria</a:t>
            </a:r>
            <a:endParaRPr lang="en-PH" dirty="0"/>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683568" y="1484784"/>
            <a:ext cx="7416824" cy="4608512"/>
          </a:xfrm>
          <a:prstGeom prst="rect">
            <a:avLst/>
          </a:prstGeom>
        </p:spPr>
      </p:pic>
    </p:spTree>
    <p:extLst>
      <p:ext uri="{BB962C8B-B14F-4D97-AF65-F5344CB8AC3E}">
        <p14:creationId xmlns:p14="http://schemas.microsoft.com/office/powerpoint/2010/main" val="18809984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19CBD-3C2D-4406-94ED-3734A5C240C9}"/>
              </a:ext>
            </a:extLst>
          </p:cNvPr>
          <p:cNvSpPr>
            <a:spLocks noGrp="1"/>
          </p:cNvSpPr>
          <p:nvPr>
            <p:ph type="title"/>
          </p:nvPr>
        </p:nvSpPr>
        <p:spPr/>
        <p:txBody>
          <a:bodyPr/>
          <a:lstStyle/>
          <a:p>
            <a:endParaRPr lang="en-PH"/>
          </a:p>
        </p:txBody>
      </p:sp>
      <p:pic>
        <p:nvPicPr>
          <p:cNvPr id="5" name="Content Placeholder 4">
            <a:extLst>
              <a:ext uri="{FF2B5EF4-FFF2-40B4-BE49-F238E27FC236}">
                <a16:creationId xmlns:a16="http://schemas.microsoft.com/office/drawing/2014/main" id="{1B6A42BD-AE47-4E73-9B54-664C6AC159EB}"/>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0" y="0"/>
            <a:ext cx="9144000" cy="6957392"/>
          </a:xfrm>
        </p:spPr>
      </p:pic>
    </p:spTree>
    <p:extLst>
      <p:ext uri="{BB962C8B-B14F-4D97-AF65-F5344CB8AC3E}">
        <p14:creationId xmlns:p14="http://schemas.microsoft.com/office/powerpoint/2010/main" val="3807582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467600" cy="1143000"/>
          </a:xfrm>
        </p:spPr>
        <p:txBody>
          <a:bodyPr/>
          <a:lstStyle/>
          <a:p>
            <a:r>
              <a:rPr lang="en-US" dirty="0"/>
              <a:t> </a:t>
            </a:r>
            <a:r>
              <a:rPr lang="en-US" b="1" dirty="0"/>
              <a:t>diagnostic criteria </a:t>
            </a:r>
            <a:endParaRPr lang="en-PH" b="1" dirty="0"/>
          </a:p>
        </p:txBody>
      </p:sp>
      <p:sp>
        <p:nvSpPr>
          <p:cNvPr id="3" name="Content Placeholder 2"/>
          <p:cNvSpPr>
            <a:spLocks noGrp="1"/>
          </p:cNvSpPr>
          <p:nvPr>
            <p:ph sz="quarter" idx="1"/>
          </p:nvPr>
        </p:nvSpPr>
        <p:spPr/>
        <p:txBody>
          <a:bodyPr/>
          <a:lstStyle/>
          <a:p>
            <a:r>
              <a:rPr lang="en-US" dirty="0"/>
              <a:t>Two major characteristics of ASD are expressed in DSM-5: </a:t>
            </a:r>
          </a:p>
          <a:p>
            <a:r>
              <a:rPr lang="en-US" dirty="0"/>
              <a:t>1) impairments in social communication and social interaction </a:t>
            </a:r>
          </a:p>
          <a:p>
            <a:r>
              <a:rPr lang="en-US" dirty="0"/>
              <a:t>2) restricted, repetitive patterns of behavior, interests, or activities</a:t>
            </a:r>
          </a:p>
          <a:p>
            <a:endParaRPr lang="en-PH" dirty="0"/>
          </a:p>
        </p:txBody>
      </p:sp>
      <p:pic>
        <p:nvPicPr>
          <p:cNvPr id="4098" name="Picture 2" descr="What is Social Communication Disorder?">
            <a:extLst>
              <a:ext uri="{FF2B5EF4-FFF2-40B4-BE49-F238E27FC236}">
                <a16:creationId xmlns:a16="http://schemas.microsoft.com/office/drawing/2014/main" id="{DDDB2916-6E7D-450E-BAE8-05EF96347C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056496"/>
            <a:ext cx="6768752" cy="254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533609"/>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 impairments in social communication and social interaction </a:t>
            </a:r>
          </a:p>
        </p:txBody>
      </p:sp>
      <p:sp>
        <p:nvSpPr>
          <p:cNvPr id="3" name="Content Placeholder 2"/>
          <p:cNvSpPr>
            <a:spLocks noGrp="1"/>
          </p:cNvSpPr>
          <p:nvPr>
            <p:ph sz="quarter" idx="1"/>
          </p:nvPr>
        </p:nvSpPr>
        <p:spPr>
          <a:xfrm>
            <a:off x="323528" y="1736812"/>
            <a:ext cx="7601272" cy="3384376"/>
          </a:xfrm>
        </p:spPr>
        <p:txBody>
          <a:bodyPr>
            <a:normAutofit/>
          </a:bodyPr>
          <a:lstStyle/>
          <a:p>
            <a:r>
              <a:rPr lang="en-PH" dirty="0"/>
              <a:t>Social emotional reciprocity</a:t>
            </a:r>
          </a:p>
          <a:p>
            <a:r>
              <a:rPr lang="en-US" dirty="0"/>
              <a:t>Reduced sharing of interest and emotion</a:t>
            </a:r>
          </a:p>
          <a:p>
            <a:r>
              <a:rPr lang="en-PH" dirty="0"/>
              <a:t>Deficits in nonverbal communication used for social interaction</a:t>
            </a:r>
          </a:p>
          <a:p>
            <a:r>
              <a:rPr lang="en-PH" dirty="0"/>
              <a:t>Problems maintaining social relationships.</a:t>
            </a:r>
          </a:p>
        </p:txBody>
      </p:sp>
      <p:pic>
        <p:nvPicPr>
          <p:cNvPr id="2050" name="Picture 2" descr="What is Social Pragmatic Communication Disorder?">
            <a:extLst>
              <a:ext uri="{FF2B5EF4-FFF2-40B4-BE49-F238E27FC236}">
                <a16:creationId xmlns:a16="http://schemas.microsoft.com/office/drawing/2014/main" id="{87304261-6B37-43D6-8A95-EF65076849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317" y="3933056"/>
            <a:ext cx="5169520" cy="2852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8335960"/>
      </p:ext>
    </p:extLst>
  </p:cSld>
  <p:clrMapOvr>
    <a:masterClrMapping/>
  </p:clrMapOvr>
  <p:transition spd="slow">
    <p:randomBar dir="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restricted, repetitive patterns of behavior, interests, or activities</a:t>
            </a:r>
            <a:br>
              <a:rPr lang="en-PH" b="1" dirty="0"/>
            </a:br>
            <a:endParaRPr lang="en-PH" b="1" dirty="0"/>
          </a:p>
        </p:txBody>
      </p:sp>
      <p:sp>
        <p:nvSpPr>
          <p:cNvPr id="3" name="Content Placeholder 2"/>
          <p:cNvSpPr>
            <a:spLocks noGrp="1"/>
          </p:cNvSpPr>
          <p:nvPr>
            <p:ph sz="quarter" idx="1"/>
          </p:nvPr>
        </p:nvSpPr>
        <p:spPr/>
        <p:txBody>
          <a:bodyPr>
            <a:normAutofit/>
          </a:bodyPr>
          <a:lstStyle/>
          <a:p>
            <a:r>
              <a:rPr lang="en-PH" dirty="0"/>
              <a:t>people with ASD </a:t>
            </a:r>
            <a:r>
              <a:rPr lang="en-US" dirty="0"/>
              <a:t>spend countless hours in stereotyped and ritualistic behaviors</a:t>
            </a:r>
            <a:endParaRPr lang="en-PH" dirty="0"/>
          </a:p>
          <a:p>
            <a:r>
              <a:rPr lang="en-US" dirty="0"/>
              <a:t>lining up toys in a ritualistic sort of way</a:t>
            </a:r>
          </a:p>
          <a:p>
            <a:r>
              <a:rPr lang="en-US" dirty="0"/>
              <a:t> flapping ones hands </a:t>
            </a:r>
          </a:p>
          <a:p>
            <a:r>
              <a:rPr lang="en-US" dirty="0"/>
              <a:t>imitating words or phrases</a:t>
            </a:r>
          </a:p>
          <a:p>
            <a:r>
              <a:rPr lang="en-US" dirty="0"/>
              <a:t>might be fixed on certain routines</a:t>
            </a:r>
            <a:endParaRPr lang="en-PH" dirty="0"/>
          </a:p>
        </p:txBody>
      </p:sp>
      <p:pic>
        <p:nvPicPr>
          <p:cNvPr id="3074" name="Picture 2" descr="Social Impairment - Effective Child Therapy">
            <a:extLst>
              <a:ext uri="{FF2B5EF4-FFF2-40B4-BE49-F238E27FC236}">
                <a16:creationId xmlns:a16="http://schemas.microsoft.com/office/drawing/2014/main" id="{76786FFB-9806-49F7-918D-B44DB1BB52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040" y="4234805"/>
            <a:ext cx="6414542" cy="2507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987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why some people develop autism and others don’t</a:t>
            </a:r>
            <a:endParaRPr lang="en-PH" dirty="0"/>
          </a:p>
        </p:txBody>
      </p:sp>
      <p:sp>
        <p:nvSpPr>
          <p:cNvPr id="3" name="Content Placeholder 2"/>
          <p:cNvSpPr>
            <a:spLocks noGrp="1"/>
          </p:cNvSpPr>
          <p:nvPr>
            <p:ph sz="quarter" idx="1"/>
          </p:nvPr>
        </p:nvSpPr>
        <p:spPr/>
        <p:txBody>
          <a:bodyPr/>
          <a:lstStyle/>
          <a:p>
            <a:pPr marL="0" indent="0" fontAlgn="base">
              <a:buNone/>
            </a:pPr>
            <a:r>
              <a:rPr lang="en-US" dirty="0"/>
              <a:t> risk factors may include:</a:t>
            </a:r>
          </a:p>
          <a:p>
            <a:pPr fontAlgn="base"/>
            <a:r>
              <a:rPr lang="en-US" dirty="0"/>
              <a:t>A sibling with autism</a:t>
            </a:r>
          </a:p>
          <a:p>
            <a:pPr fontAlgn="base"/>
            <a:r>
              <a:rPr lang="en-US" dirty="0"/>
              <a:t>Certain genetic conditions, such as Down, fragile X, and </a:t>
            </a:r>
            <a:r>
              <a:rPr lang="en-US" dirty="0" err="1"/>
              <a:t>Rett</a:t>
            </a:r>
            <a:r>
              <a:rPr lang="en-US" dirty="0"/>
              <a:t> syndromes</a:t>
            </a:r>
          </a:p>
          <a:p>
            <a:pPr fontAlgn="base"/>
            <a:r>
              <a:rPr lang="en-US" dirty="0"/>
              <a:t>Very low birth weight</a:t>
            </a:r>
          </a:p>
          <a:p>
            <a:pPr fontAlgn="base"/>
            <a:r>
              <a:rPr lang="en-US" dirty="0"/>
              <a:t>Older parents</a:t>
            </a:r>
          </a:p>
          <a:p>
            <a:pPr fontAlgn="base"/>
            <a:endParaRPr lang="en-US" dirty="0"/>
          </a:p>
          <a:p>
            <a:endParaRPr lang="en-PH" dirty="0"/>
          </a:p>
        </p:txBody>
      </p:sp>
      <p:pic>
        <p:nvPicPr>
          <p:cNvPr id="5122" name="Picture 2" descr="What is cognitive development in early childhood">
            <a:extLst>
              <a:ext uri="{FF2B5EF4-FFF2-40B4-BE49-F238E27FC236}">
                <a16:creationId xmlns:a16="http://schemas.microsoft.com/office/drawing/2014/main" id="{012994C5-CDBB-4C3F-ADAB-73DFF08B8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4226027"/>
            <a:ext cx="8162181" cy="224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5673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three levels of severity</a:t>
            </a:r>
            <a:endParaRPr lang="en-PH" b="1" dirty="0"/>
          </a:p>
        </p:txBody>
      </p:sp>
      <p:sp>
        <p:nvSpPr>
          <p:cNvPr id="3" name="Content Placeholder 2"/>
          <p:cNvSpPr>
            <a:spLocks noGrp="1"/>
          </p:cNvSpPr>
          <p:nvPr>
            <p:ph sz="quarter" idx="1"/>
          </p:nvPr>
        </p:nvSpPr>
        <p:spPr/>
        <p:txBody>
          <a:bodyPr>
            <a:normAutofit/>
          </a:bodyPr>
          <a:lstStyle/>
          <a:p>
            <a:r>
              <a:rPr lang="en-US" dirty="0"/>
              <a:t> </a:t>
            </a:r>
            <a:r>
              <a:rPr lang="en-US" b="1" dirty="0"/>
              <a:t>Level 1— “Requiring support” </a:t>
            </a:r>
          </a:p>
          <a:p>
            <a:pPr marL="457200" indent="-457200">
              <a:buFont typeface="+mj-lt"/>
              <a:buAutoNum type="arabicPeriod"/>
            </a:pPr>
            <a:r>
              <a:rPr lang="en-US" b="1" dirty="0"/>
              <a:t>     </a:t>
            </a:r>
            <a:r>
              <a:rPr lang="en-US" dirty="0"/>
              <a:t>Might speak in full sentences </a:t>
            </a:r>
          </a:p>
          <a:p>
            <a:pPr marL="457200" indent="-457200">
              <a:buFont typeface="+mj-lt"/>
              <a:buAutoNum type="arabicPeriod"/>
            </a:pPr>
            <a:endParaRPr lang="en-US" dirty="0"/>
          </a:p>
          <a:p>
            <a:r>
              <a:rPr lang="en-US" b="1" dirty="0"/>
              <a:t>Level 2— “Requiring substantial support”</a:t>
            </a:r>
          </a:p>
          <a:p>
            <a:pPr marL="457200" indent="-457200">
              <a:buFont typeface="+mj-lt"/>
              <a:buAutoNum type="arabicPeriod"/>
            </a:pPr>
            <a:r>
              <a:rPr lang="en-US" dirty="0"/>
              <a:t>     Difficulty in back-and-</a:t>
            </a:r>
            <a:r>
              <a:rPr lang="en-US" dirty="0" err="1"/>
              <a:t>fourt</a:t>
            </a:r>
            <a:r>
              <a:rPr lang="en-US" dirty="0"/>
              <a:t> Conversation</a:t>
            </a:r>
          </a:p>
          <a:p>
            <a:pPr marL="457200" indent="-457200">
              <a:buFont typeface="+mj-lt"/>
              <a:buAutoNum type="arabicPeriod"/>
            </a:pPr>
            <a:endParaRPr lang="en-US" dirty="0"/>
          </a:p>
          <a:p>
            <a:r>
              <a:rPr lang="en-PH" dirty="0"/>
              <a:t> </a:t>
            </a:r>
            <a:r>
              <a:rPr lang="en-US" b="1" dirty="0"/>
              <a:t>Level 3— “Requiring very substantial support”.</a:t>
            </a:r>
          </a:p>
          <a:p>
            <a:pPr marL="457200" indent="-457200">
              <a:buFont typeface="+mj-lt"/>
              <a:buAutoNum type="arabicPeriod"/>
            </a:pPr>
            <a:r>
              <a:rPr lang="en-US" dirty="0"/>
              <a:t>       Rarely interact with others</a:t>
            </a:r>
          </a:p>
          <a:p>
            <a:pPr marL="457200" indent="-457200">
              <a:buFont typeface="+mj-lt"/>
              <a:buAutoNum type="arabicPeriod"/>
            </a:pPr>
            <a:r>
              <a:rPr lang="en-US" dirty="0"/>
              <a:t>       Extremely resistant to change </a:t>
            </a:r>
          </a:p>
          <a:p>
            <a:endParaRPr lang="en-US" dirty="0"/>
          </a:p>
          <a:p>
            <a:endParaRPr lang="en-US" b="1" dirty="0"/>
          </a:p>
          <a:p>
            <a:pPr marL="0" indent="0">
              <a:buNone/>
            </a:pPr>
            <a:endParaRPr lang="en-US" b="1" dirty="0"/>
          </a:p>
          <a:p>
            <a:pPr marL="457200" indent="-457200">
              <a:buFont typeface="+mj-lt"/>
              <a:buAutoNum type="arabicPeriod"/>
            </a:pPr>
            <a:endParaRPr lang="en-US" b="1" dirty="0"/>
          </a:p>
          <a:p>
            <a:endParaRPr lang="en-US" b="1" dirty="0"/>
          </a:p>
        </p:txBody>
      </p:sp>
    </p:spTree>
    <p:extLst>
      <p:ext uri="{BB962C8B-B14F-4D97-AF65-F5344CB8AC3E}">
        <p14:creationId xmlns:p14="http://schemas.microsoft.com/office/powerpoint/2010/main" val="32202982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comorbidity</a:t>
            </a:r>
            <a:endParaRPr lang="en-PH" b="1" dirty="0"/>
          </a:p>
        </p:txBody>
      </p:sp>
      <p:sp>
        <p:nvSpPr>
          <p:cNvPr id="3" name="Content Placeholder 2"/>
          <p:cNvSpPr>
            <a:spLocks noGrp="1"/>
          </p:cNvSpPr>
          <p:nvPr>
            <p:ph sz="quarter" idx="1"/>
          </p:nvPr>
        </p:nvSpPr>
        <p:spPr/>
        <p:txBody>
          <a:bodyPr/>
          <a:lstStyle/>
          <a:p>
            <a:r>
              <a:rPr lang="en-US" dirty="0"/>
              <a:t>frequently associated with</a:t>
            </a:r>
            <a:r>
              <a:rPr lang="en-US" b="1" dirty="0"/>
              <a:t> intellectual impairment </a:t>
            </a:r>
            <a:r>
              <a:rPr lang="en-US" dirty="0"/>
              <a:t>and </a:t>
            </a:r>
            <a:r>
              <a:rPr lang="en-US" b="1" dirty="0"/>
              <a:t>structural language disorder</a:t>
            </a:r>
            <a:r>
              <a:rPr lang="en-US" dirty="0"/>
              <a:t>. </a:t>
            </a:r>
          </a:p>
          <a:p>
            <a:r>
              <a:rPr lang="en-US" dirty="0"/>
              <a:t>Many individuals with autism spectrum disorder have psychiatric symptoms that do not form part of the diagnostic criteria for the disorder (about 70% of individuals with autism spectrum disorder may have one comorbid mental disorder, and 40% may have two or more comorbid mental disorders). </a:t>
            </a:r>
            <a:endParaRPr lang="en-PH" dirty="0"/>
          </a:p>
        </p:txBody>
      </p:sp>
    </p:spTree>
    <p:extLst>
      <p:ext uri="{BB962C8B-B14F-4D97-AF65-F5344CB8AC3E}">
        <p14:creationId xmlns:p14="http://schemas.microsoft.com/office/powerpoint/2010/main" val="4183831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types of treatments generally can be broken down into the following categories:</a:t>
            </a:r>
            <a:endParaRPr lang="en-PH" dirty="0"/>
          </a:p>
        </p:txBody>
      </p:sp>
      <p:sp>
        <p:nvSpPr>
          <p:cNvPr id="3" name="Content Placeholder 2"/>
          <p:cNvSpPr>
            <a:spLocks noGrp="1"/>
          </p:cNvSpPr>
          <p:nvPr>
            <p:ph sz="quarter" idx="1"/>
          </p:nvPr>
        </p:nvSpPr>
        <p:spPr/>
        <p:txBody>
          <a:bodyPr>
            <a:normAutofit fontScale="92500" lnSpcReduction="10000"/>
          </a:bodyPr>
          <a:lstStyle/>
          <a:p>
            <a:r>
              <a:rPr lang="en-US" b="1" dirty="0"/>
              <a:t>Behavior and Communication Approaches</a:t>
            </a:r>
          </a:p>
          <a:p>
            <a:pPr marL="0" indent="0">
              <a:buNone/>
            </a:pPr>
            <a:r>
              <a:rPr lang="en-US" dirty="0"/>
              <a:t>focus on skill building and behavioral treatment of problem behaviors. </a:t>
            </a:r>
          </a:p>
          <a:p>
            <a:r>
              <a:rPr lang="en-PH" b="1" dirty="0"/>
              <a:t>naturalistic teaching strategies</a:t>
            </a:r>
          </a:p>
          <a:p>
            <a:pPr marL="0" indent="0">
              <a:buNone/>
            </a:pPr>
            <a:r>
              <a:rPr lang="en-US" dirty="0"/>
              <a:t>arranging the environment so that the child initiates an interest</a:t>
            </a:r>
          </a:p>
          <a:p>
            <a:r>
              <a:rPr lang="en-US" b="1" dirty="0"/>
              <a:t>increase a variety of social communication skills </a:t>
            </a:r>
            <a:endParaRPr lang="en-US" dirty="0"/>
          </a:p>
          <a:p>
            <a:pPr marL="0" indent="0">
              <a:buNone/>
            </a:pPr>
            <a:r>
              <a:rPr lang="en-US" dirty="0"/>
              <a:t>e.g., making requests, interactions with peers, joint attention skills, play skills</a:t>
            </a:r>
          </a:p>
          <a:p>
            <a:r>
              <a:rPr lang="en-US" b="1" dirty="0"/>
              <a:t>teach social skills</a:t>
            </a:r>
          </a:p>
          <a:p>
            <a:r>
              <a:rPr lang="en-US" b="1" dirty="0"/>
              <a:t> </a:t>
            </a:r>
            <a:r>
              <a:rPr lang="en-US" dirty="0"/>
              <a:t>for example, how to carry on a conversation and ask questions </a:t>
            </a:r>
          </a:p>
          <a:p>
            <a:endParaRPr lang="en-PH" dirty="0"/>
          </a:p>
        </p:txBody>
      </p:sp>
    </p:spTree>
    <p:extLst>
      <p:ext uri="{BB962C8B-B14F-4D97-AF65-F5344CB8AC3E}">
        <p14:creationId xmlns:p14="http://schemas.microsoft.com/office/powerpoint/2010/main" val="1852704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r>
              <a:rPr lang="en-US" b="1" dirty="0"/>
              <a:t>Behavioral approaches </a:t>
            </a:r>
            <a:r>
              <a:rPr lang="en-US" dirty="0"/>
              <a:t>have been most clearly documented as benefiting children in this area.</a:t>
            </a:r>
          </a:p>
          <a:p>
            <a:endParaRPr lang="en-US" dirty="0"/>
          </a:p>
          <a:p>
            <a:r>
              <a:rPr lang="en-US" dirty="0"/>
              <a:t> </a:t>
            </a:r>
            <a:r>
              <a:rPr lang="en-US" b="1" dirty="0"/>
              <a:t>Pharmacological treatments </a:t>
            </a:r>
            <a:r>
              <a:rPr lang="en-US" dirty="0"/>
              <a:t>can help some of them temporarily. </a:t>
            </a:r>
          </a:p>
          <a:p>
            <a:endParaRPr lang="en-US" dirty="0"/>
          </a:p>
          <a:p>
            <a:r>
              <a:rPr lang="en-US" b="1" dirty="0"/>
              <a:t> Parents</a:t>
            </a:r>
            <a:r>
              <a:rPr lang="en-US" dirty="0"/>
              <a:t> </a:t>
            </a:r>
            <a:r>
              <a:rPr lang="en-US" b="1" dirty="0"/>
              <a:t>also need support </a:t>
            </a:r>
            <a:r>
              <a:rPr lang="en-US" dirty="0"/>
              <a:t>because of the great demands and stressors involved in living with and caring for such children. </a:t>
            </a:r>
          </a:p>
          <a:p>
            <a:pPr marL="0" indent="0">
              <a:buNone/>
            </a:pPr>
            <a:r>
              <a:rPr lang="en-US" dirty="0"/>
              <a:t> </a:t>
            </a:r>
            <a:endParaRPr lang="en-PH" dirty="0"/>
          </a:p>
        </p:txBody>
      </p:sp>
    </p:spTree>
    <p:extLst>
      <p:ext uri="{BB962C8B-B14F-4D97-AF65-F5344CB8AC3E}">
        <p14:creationId xmlns:p14="http://schemas.microsoft.com/office/powerpoint/2010/main" val="61950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Autofit/>
          </a:bodyPr>
          <a:lstStyle/>
          <a:p>
            <a:r>
              <a:rPr lang="en-US" sz="5400" dirty="0"/>
              <a:t>Specific Learning Disorder</a:t>
            </a:r>
            <a:endParaRPr lang="en-PH" sz="5400" dirty="0"/>
          </a:p>
        </p:txBody>
      </p:sp>
      <p:sp>
        <p:nvSpPr>
          <p:cNvPr id="5" name="Subtitle 4"/>
          <p:cNvSpPr>
            <a:spLocks noGrp="1"/>
          </p:cNvSpPr>
          <p:nvPr>
            <p:ph type="subTitle" idx="1"/>
          </p:nvPr>
        </p:nvSpPr>
        <p:spPr/>
        <p:txBody>
          <a:bodyPr/>
          <a:lstStyle/>
          <a:p>
            <a:endParaRPr lang="en-PH" dirty="0"/>
          </a:p>
        </p:txBody>
      </p:sp>
    </p:spTree>
    <p:extLst>
      <p:ext uri="{BB962C8B-B14F-4D97-AF65-F5344CB8AC3E}">
        <p14:creationId xmlns:p14="http://schemas.microsoft.com/office/powerpoint/2010/main" val="60655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Clinical Description</a:t>
            </a:r>
            <a:endParaRPr lang="en-PH" sz="3200" b="1" dirty="0"/>
          </a:p>
        </p:txBody>
      </p:sp>
      <p:sp>
        <p:nvSpPr>
          <p:cNvPr id="3" name="Content Placeholder 2"/>
          <p:cNvSpPr>
            <a:spLocks noGrp="1"/>
          </p:cNvSpPr>
          <p:nvPr>
            <p:ph sz="quarter" idx="1"/>
          </p:nvPr>
        </p:nvSpPr>
        <p:spPr/>
        <p:txBody>
          <a:bodyPr>
            <a:normAutofit/>
          </a:bodyPr>
          <a:lstStyle/>
          <a:p>
            <a:r>
              <a:rPr lang="en-US" sz="2800" b="1" dirty="0"/>
              <a:t>Specific Learning Disorder </a:t>
            </a:r>
          </a:p>
          <a:p>
            <a:r>
              <a:rPr lang="en-US" sz="2800" dirty="0"/>
              <a:t>DSM 5 define it as a set of disorders that relate to having difficulties in  learning and developing certain skills for at least 6 months.</a:t>
            </a:r>
          </a:p>
          <a:p>
            <a:r>
              <a:rPr lang="en-PH" sz="2800" dirty="0"/>
              <a:t>They may have difficulty in reading, writing spelling, reasoning and organizing information</a:t>
            </a:r>
          </a:p>
        </p:txBody>
      </p:sp>
    </p:spTree>
    <p:extLst>
      <p:ext uri="{BB962C8B-B14F-4D97-AF65-F5344CB8AC3E}">
        <p14:creationId xmlns:p14="http://schemas.microsoft.com/office/powerpoint/2010/main" val="25875973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3200" b="1" dirty="0"/>
              <a:t>Epidemiology </a:t>
            </a:r>
          </a:p>
        </p:txBody>
      </p:sp>
      <p:sp>
        <p:nvSpPr>
          <p:cNvPr id="3" name="Content Placeholder 2"/>
          <p:cNvSpPr>
            <a:spLocks noGrp="1"/>
          </p:cNvSpPr>
          <p:nvPr>
            <p:ph sz="quarter" idx="1"/>
          </p:nvPr>
        </p:nvSpPr>
        <p:spPr/>
        <p:txBody>
          <a:bodyPr/>
          <a:lstStyle/>
          <a:p>
            <a:r>
              <a:rPr lang="en-US" dirty="0"/>
              <a:t>Acc. to DSM 5  </a:t>
            </a:r>
            <a:r>
              <a:rPr lang="en-US" b="1" dirty="0"/>
              <a:t>Specific Learning Disorder</a:t>
            </a:r>
            <a:r>
              <a:rPr lang="en-US" dirty="0"/>
              <a:t> </a:t>
            </a:r>
          </a:p>
          <a:p>
            <a:r>
              <a:rPr lang="en-US" dirty="0"/>
              <a:t> 5-15% among school-age children across different languages and cultures are diagnosed having learning disability.  </a:t>
            </a:r>
          </a:p>
          <a:p>
            <a:endParaRPr lang="en-US" b="1" dirty="0"/>
          </a:p>
          <a:p>
            <a:r>
              <a:rPr lang="en-US" b="1" dirty="0"/>
              <a:t>Prevalence</a:t>
            </a:r>
            <a:r>
              <a:rPr lang="en-US" dirty="0"/>
              <a:t> in adults is unknown, but appears to be approximately 4%</a:t>
            </a:r>
          </a:p>
          <a:p>
            <a:endParaRPr lang="en-US" dirty="0"/>
          </a:p>
          <a:p>
            <a:r>
              <a:rPr lang="en-US" dirty="0"/>
              <a:t>Learning disorders are usually diagnosed during the school-aged years.</a:t>
            </a:r>
            <a:endParaRPr lang="en-PH" dirty="0"/>
          </a:p>
          <a:p>
            <a:endParaRPr lang="en-PH" dirty="0"/>
          </a:p>
        </p:txBody>
      </p:sp>
    </p:spTree>
    <p:extLst>
      <p:ext uri="{BB962C8B-B14F-4D97-AF65-F5344CB8AC3E}">
        <p14:creationId xmlns:p14="http://schemas.microsoft.com/office/powerpoint/2010/main" val="1270918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4000" b="1" dirty="0"/>
              <a:t>Four Causal factor </a:t>
            </a:r>
          </a:p>
        </p:txBody>
      </p:sp>
      <p:sp>
        <p:nvSpPr>
          <p:cNvPr id="3" name="Content Placeholder 2"/>
          <p:cNvSpPr>
            <a:spLocks noGrp="1"/>
          </p:cNvSpPr>
          <p:nvPr>
            <p:ph sz="quarter" idx="1"/>
          </p:nvPr>
        </p:nvSpPr>
        <p:spPr/>
        <p:txBody>
          <a:bodyPr/>
          <a:lstStyle/>
          <a:p>
            <a:r>
              <a:rPr lang="en-PH" sz="3600" dirty="0"/>
              <a:t>Brain damage</a:t>
            </a:r>
          </a:p>
          <a:p>
            <a:r>
              <a:rPr lang="en-PH" sz="3600" dirty="0"/>
              <a:t>Heredity</a:t>
            </a:r>
          </a:p>
          <a:p>
            <a:r>
              <a:rPr lang="en-PH" sz="3600" dirty="0"/>
              <a:t>Biochemical imbalance</a:t>
            </a:r>
          </a:p>
          <a:p>
            <a:r>
              <a:rPr lang="en-PH" sz="3600" dirty="0"/>
              <a:t>Environmental Factor</a:t>
            </a:r>
          </a:p>
          <a:p>
            <a:endParaRPr lang="en-PH" dirty="0"/>
          </a:p>
        </p:txBody>
      </p:sp>
    </p:spTree>
    <p:extLst>
      <p:ext uri="{BB962C8B-B14F-4D97-AF65-F5344CB8AC3E}">
        <p14:creationId xmlns:p14="http://schemas.microsoft.com/office/powerpoint/2010/main" val="6564675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4000" b="1" dirty="0"/>
              <a:t>Diagnostic Criteria</a:t>
            </a:r>
          </a:p>
        </p:txBody>
      </p:sp>
      <p:sp>
        <p:nvSpPr>
          <p:cNvPr id="3" name="Content Placeholder 2"/>
          <p:cNvSpPr>
            <a:spLocks noGrp="1"/>
          </p:cNvSpPr>
          <p:nvPr>
            <p:ph sz="quarter" idx="1"/>
          </p:nvPr>
        </p:nvSpPr>
        <p:spPr/>
        <p:txBody>
          <a:bodyPr/>
          <a:lstStyle/>
          <a:p>
            <a:pPr marL="109728" indent="0">
              <a:buNone/>
            </a:pPr>
            <a:r>
              <a:rPr lang="en-US" dirty="0"/>
              <a:t>1. Inaccurate or slow and effortful word reading </a:t>
            </a:r>
          </a:p>
          <a:p>
            <a:pPr marL="109728" indent="0">
              <a:buNone/>
            </a:pPr>
            <a:r>
              <a:rPr lang="en-US" dirty="0"/>
              <a:t>2. Difficulty understanding the meaning of what is read </a:t>
            </a:r>
          </a:p>
          <a:p>
            <a:pPr marL="109728" indent="0">
              <a:buNone/>
            </a:pPr>
            <a:r>
              <a:rPr lang="en-US" dirty="0"/>
              <a:t>3. Difficulties with spelling</a:t>
            </a:r>
          </a:p>
          <a:p>
            <a:pPr marL="109728" indent="0">
              <a:buNone/>
            </a:pPr>
            <a:r>
              <a:rPr lang="en-US" dirty="0"/>
              <a:t>4. Difficulties with written expression </a:t>
            </a:r>
          </a:p>
          <a:p>
            <a:pPr marL="109728" indent="0">
              <a:buNone/>
            </a:pPr>
            <a:r>
              <a:rPr lang="en-US" dirty="0"/>
              <a:t>5. Difficulties mastering number sense, number facts, or calculation </a:t>
            </a:r>
          </a:p>
          <a:p>
            <a:pPr marL="109728" indent="0">
              <a:buNone/>
            </a:pPr>
            <a:r>
              <a:rPr lang="en-US" dirty="0"/>
              <a:t>6. Difficulties with mathematical reasoning</a:t>
            </a:r>
          </a:p>
          <a:p>
            <a:endParaRPr lang="en-PH" dirty="0"/>
          </a:p>
        </p:txBody>
      </p:sp>
    </p:spTree>
    <p:extLst>
      <p:ext uri="{BB962C8B-B14F-4D97-AF65-F5344CB8AC3E}">
        <p14:creationId xmlns:p14="http://schemas.microsoft.com/office/powerpoint/2010/main" val="86616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a:solidFill>
                  <a:schemeClr val="tx2">
                    <a:lumMod val="75000"/>
                  </a:schemeClr>
                </a:solidFill>
              </a:rPr>
              <a:t>Dyslexia</a:t>
            </a:r>
            <a:endParaRPr lang="en-PH" sz="4800" dirty="0"/>
          </a:p>
        </p:txBody>
      </p:sp>
      <p:sp>
        <p:nvSpPr>
          <p:cNvPr id="5" name="Content Placeholder 4"/>
          <p:cNvSpPr>
            <a:spLocks noGrp="1"/>
          </p:cNvSpPr>
          <p:nvPr>
            <p:ph sz="quarter" idx="1"/>
          </p:nvPr>
        </p:nvSpPr>
        <p:spPr/>
        <p:txBody>
          <a:bodyPr/>
          <a:lstStyle/>
          <a:p>
            <a:r>
              <a:rPr lang="en-US" sz="3200" dirty="0"/>
              <a:t>difficulty with reading</a:t>
            </a:r>
          </a:p>
          <a:p>
            <a:r>
              <a:rPr lang="en-US" sz="3200" dirty="0"/>
              <a:t>difficulty understanding the meaning of what is read </a:t>
            </a:r>
          </a:p>
          <a:p>
            <a:endParaRPr lang="en-PH" dirty="0"/>
          </a:p>
          <a:p>
            <a:endParaRPr lang="en-PH" dirty="0"/>
          </a:p>
        </p:txBody>
      </p:sp>
      <p:pic>
        <p:nvPicPr>
          <p:cNvPr id="7" name="Content Placeholder 6"/>
          <p:cNvPicPr>
            <a:picLocks noGrp="1" noChangeAspect="1"/>
          </p:cNvPicPr>
          <p:nvPr>
            <p:ph sz="quarter" idx="2"/>
          </p:nvPr>
        </p:nvPicPr>
        <p:blipFill>
          <a:blip r:embed="rId2" cstate="print">
            <a:extLst>
              <a:ext uri="{28A0092B-C50C-407E-A947-70E740481C1C}">
                <a14:useLocalDpi xmlns:a14="http://schemas.microsoft.com/office/drawing/2010/main" val="0"/>
              </a:ext>
            </a:extLst>
          </a:blip>
          <a:stretch>
            <a:fillRect/>
          </a:stretch>
        </p:blipFill>
        <p:spPr>
          <a:xfrm>
            <a:off x="4517678" y="476672"/>
            <a:ext cx="4158778" cy="5672668"/>
          </a:xfrm>
        </p:spPr>
      </p:pic>
    </p:spTree>
    <p:extLst>
      <p:ext uri="{BB962C8B-B14F-4D97-AF65-F5344CB8AC3E}">
        <p14:creationId xmlns:p14="http://schemas.microsoft.com/office/powerpoint/2010/main" val="31085539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a:solidFill>
                  <a:schemeClr val="tx2">
                    <a:lumMod val="90000"/>
                  </a:schemeClr>
                </a:solidFill>
              </a:rPr>
              <a:t>Dysgraphia</a:t>
            </a:r>
            <a:r>
              <a:rPr lang="en-US" sz="4800" b="1" dirty="0">
                <a:solidFill>
                  <a:schemeClr val="tx2">
                    <a:lumMod val="75000"/>
                  </a:schemeClr>
                </a:solidFill>
              </a:rPr>
              <a:t> </a:t>
            </a:r>
            <a:endParaRPr lang="en-PH" sz="4800" b="1" dirty="0"/>
          </a:p>
        </p:txBody>
      </p:sp>
      <p:sp>
        <p:nvSpPr>
          <p:cNvPr id="5" name="Content Placeholder 4"/>
          <p:cNvSpPr>
            <a:spLocks noGrp="1"/>
          </p:cNvSpPr>
          <p:nvPr>
            <p:ph sz="quarter" idx="1"/>
          </p:nvPr>
        </p:nvSpPr>
        <p:spPr/>
        <p:txBody>
          <a:bodyPr/>
          <a:lstStyle/>
          <a:p>
            <a:r>
              <a:rPr lang="en-US" sz="4000" dirty="0"/>
              <a:t>difficulty with writing and </a:t>
            </a:r>
            <a:r>
              <a:rPr lang="en-PH" sz="4000" dirty="0"/>
              <a:t>written expression</a:t>
            </a:r>
            <a:endParaRPr lang="en-US" sz="4000" dirty="0"/>
          </a:p>
          <a:p>
            <a:endParaRPr lang="en-PH" dirty="0"/>
          </a:p>
        </p:txBody>
      </p:sp>
      <p:pic>
        <p:nvPicPr>
          <p:cNvPr id="7" name="Content Placeholder 4"/>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4355976" y="908720"/>
            <a:ext cx="4320480" cy="5400600"/>
          </a:xfrm>
        </p:spPr>
      </p:pic>
    </p:spTree>
    <p:extLst>
      <p:ext uri="{BB962C8B-B14F-4D97-AF65-F5344CB8AC3E}">
        <p14:creationId xmlns:p14="http://schemas.microsoft.com/office/powerpoint/2010/main" val="1022934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PH" sz="4000" b="1" dirty="0"/>
              <a:t>Dyscalculia</a:t>
            </a:r>
          </a:p>
        </p:txBody>
      </p:sp>
      <p:sp>
        <p:nvSpPr>
          <p:cNvPr id="5" name="Content Placeholder 4"/>
          <p:cNvSpPr>
            <a:spLocks noGrp="1"/>
          </p:cNvSpPr>
          <p:nvPr>
            <p:ph sz="quarter" idx="1"/>
          </p:nvPr>
        </p:nvSpPr>
        <p:spPr>
          <a:xfrm>
            <a:off x="457200" y="1600200"/>
            <a:ext cx="4042792" cy="4572000"/>
          </a:xfrm>
        </p:spPr>
        <p:txBody>
          <a:bodyPr/>
          <a:lstStyle/>
          <a:p>
            <a:pPr marL="514350" indent="-514350">
              <a:buFont typeface="+mj-lt"/>
              <a:buAutoNum type="arabicPeriod"/>
            </a:pPr>
            <a:r>
              <a:rPr lang="en-PH" sz="2800" dirty="0"/>
              <a:t>difficulty with mathematics </a:t>
            </a:r>
          </a:p>
          <a:p>
            <a:pPr marL="514350" indent="-514350">
              <a:buFont typeface="+mj-lt"/>
              <a:buAutoNum type="arabicPeriod"/>
            </a:pPr>
            <a:r>
              <a:rPr lang="en-US" sz="2800" dirty="0"/>
              <a:t>difficulties mastering number sense, number facts, or calculation</a:t>
            </a:r>
          </a:p>
          <a:p>
            <a:pPr marL="514350" indent="-514350">
              <a:buFont typeface="+mj-lt"/>
              <a:buAutoNum type="arabicPeriod"/>
            </a:pPr>
            <a:r>
              <a:rPr lang="en-PH" sz="2800" dirty="0"/>
              <a:t>difficulties with mathematical reasoning</a:t>
            </a:r>
          </a:p>
          <a:p>
            <a:endParaRPr lang="en-PH" dirty="0"/>
          </a:p>
        </p:txBody>
      </p:sp>
      <p:pic>
        <p:nvPicPr>
          <p:cNvPr id="7" name="Content Placeholder 9"/>
          <p:cNvPicPr>
            <a:picLocks noGrp="1" noChangeAspect="1"/>
          </p:cNvPicPr>
          <p:nvPr>
            <p:ph sz="quarter" idx="2"/>
          </p:nvPr>
        </p:nvPicPr>
        <p:blipFill>
          <a:blip r:embed="rId2">
            <a:extLst>
              <a:ext uri="{28A0092B-C50C-407E-A947-70E740481C1C}">
                <a14:useLocalDpi xmlns:a14="http://schemas.microsoft.com/office/drawing/2010/main" val="0"/>
              </a:ext>
            </a:extLst>
          </a:blip>
          <a:stretch>
            <a:fillRect/>
          </a:stretch>
        </p:blipFill>
        <p:spPr>
          <a:xfrm>
            <a:off x="4932040" y="260648"/>
            <a:ext cx="3600400" cy="3168352"/>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8" y="3573016"/>
            <a:ext cx="3528392" cy="2880320"/>
          </a:xfrm>
          <a:prstGeom prst="rect">
            <a:avLst/>
          </a:prstGeom>
        </p:spPr>
      </p:pic>
    </p:spTree>
    <p:extLst>
      <p:ext uri="{BB962C8B-B14F-4D97-AF65-F5344CB8AC3E}">
        <p14:creationId xmlns:p14="http://schemas.microsoft.com/office/powerpoint/2010/main" val="2380156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3200" b="1" dirty="0"/>
              <a:t>Severity of Disorder</a:t>
            </a:r>
          </a:p>
        </p:txBody>
      </p:sp>
      <p:sp>
        <p:nvSpPr>
          <p:cNvPr id="3" name="Content Placeholder 2"/>
          <p:cNvSpPr>
            <a:spLocks noGrp="1"/>
          </p:cNvSpPr>
          <p:nvPr>
            <p:ph sz="quarter" idx="1"/>
          </p:nvPr>
        </p:nvSpPr>
        <p:spPr/>
        <p:txBody>
          <a:bodyPr/>
          <a:lstStyle/>
          <a:p>
            <a:r>
              <a:rPr lang="en-US" b="1" dirty="0"/>
              <a:t>Mild</a:t>
            </a:r>
            <a:r>
              <a:rPr lang="en-US" dirty="0"/>
              <a:t>:  Some difficulties learning skills in one or two academic domains</a:t>
            </a:r>
          </a:p>
          <a:p>
            <a:endParaRPr lang="en-US" dirty="0"/>
          </a:p>
          <a:p>
            <a:r>
              <a:rPr lang="en-US" b="1" dirty="0"/>
              <a:t>Moderate</a:t>
            </a:r>
            <a:r>
              <a:rPr lang="en-US" dirty="0"/>
              <a:t>:  Marked difficulties learning skills in one or more academic domains</a:t>
            </a:r>
          </a:p>
          <a:p>
            <a:endParaRPr lang="en-US" dirty="0"/>
          </a:p>
          <a:p>
            <a:r>
              <a:rPr lang="en-US" b="1" dirty="0"/>
              <a:t>Severe</a:t>
            </a:r>
            <a:r>
              <a:rPr lang="en-US" dirty="0"/>
              <a:t>: Severe difficulties learning skills, affecting several academic domains</a:t>
            </a:r>
            <a:endParaRPr lang="en-PH" dirty="0"/>
          </a:p>
          <a:p>
            <a:endParaRPr lang="en-PH" dirty="0"/>
          </a:p>
        </p:txBody>
      </p:sp>
    </p:spTree>
    <p:extLst>
      <p:ext uri="{BB962C8B-B14F-4D97-AF65-F5344CB8AC3E}">
        <p14:creationId xmlns:p14="http://schemas.microsoft.com/office/powerpoint/2010/main" val="3751772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sz="4000" b="1" dirty="0"/>
              <a:t>Comorbidity</a:t>
            </a:r>
            <a:r>
              <a:rPr lang="en-PH" b="1" dirty="0"/>
              <a:t> </a:t>
            </a:r>
          </a:p>
        </p:txBody>
      </p:sp>
      <p:sp>
        <p:nvSpPr>
          <p:cNvPr id="3" name="Content Placeholder 2"/>
          <p:cNvSpPr>
            <a:spLocks noGrp="1"/>
          </p:cNvSpPr>
          <p:nvPr>
            <p:ph sz="quarter" idx="1"/>
          </p:nvPr>
        </p:nvSpPr>
        <p:spPr/>
        <p:txBody>
          <a:bodyPr/>
          <a:lstStyle/>
          <a:p>
            <a:r>
              <a:rPr lang="en-US" dirty="0"/>
              <a:t>National Institute of Mental Health and Neurosciences, Bengaluru; </a:t>
            </a:r>
            <a:r>
              <a:rPr lang="en-US" dirty="0" err="1"/>
              <a:t>Muthukumar</a:t>
            </a:r>
            <a:r>
              <a:rPr lang="en-US" dirty="0"/>
              <a:t> </a:t>
            </a:r>
            <a:r>
              <a:rPr lang="en-US" i="1" dirty="0"/>
              <a:t>et </a:t>
            </a:r>
            <a:r>
              <a:rPr lang="en-US" i="1" dirty="0" err="1"/>
              <a:t>al</a:t>
            </a:r>
            <a:r>
              <a:rPr lang="en-US" dirty="0" err="1"/>
              <a:t>.mfound</a:t>
            </a:r>
            <a:r>
              <a:rPr lang="en-US" dirty="0"/>
              <a:t> that </a:t>
            </a:r>
          </a:p>
          <a:p>
            <a:r>
              <a:rPr lang="en-US" dirty="0"/>
              <a:t>79% of children with learning disabilities had comorbid psychological disorders, in which</a:t>
            </a:r>
          </a:p>
          <a:p>
            <a:r>
              <a:rPr lang="en-US" dirty="0"/>
              <a:t>32% had internalizing disorders, </a:t>
            </a:r>
          </a:p>
          <a:p>
            <a:r>
              <a:rPr lang="en-US" dirty="0"/>
              <a:t>28% had externalizing disorders and </a:t>
            </a:r>
          </a:p>
          <a:p>
            <a:r>
              <a:rPr lang="en-US" dirty="0"/>
              <a:t>19% had other disorders.</a:t>
            </a:r>
            <a:endParaRPr lang="en-PH" dirty="0"/>
          </a:p>
          <a:p>
            <a:endParaRPr lang="en-PH" dirty="0"/>
          </a:p>
        </p:txBody>
      </p:sp>
    </p:spTree>
    <p:extLst>
      <p:ext uri="{BB962C8B-B14F-4D97-AF65-F5344CB8AC3E}">
        <p14:creationId xmlns:p14="http://schemas.microsoft.com/office/powerpoint/2010/main" val="29865507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4400" b="1" dirty="0"/>
              <a:t>Treatment</a:t>
            </a:r>
          </a:p>
        </p:txBody>
      </p:sp>
      <p:sp>
        <p:nvSpPr>
          <p:cNvPr id="3" name="Content Placeholder 2"/>
          <p:cNvSpPr>
            <a:spLocks noGrp="1"/>
          </p:cNvSpPr>
          <p:nvPr>
            <p:ph sz="quarter" idx="1"/>
          </p:nvPr>
        </p:nvSpPr>
        <p:spPr/>
        <p:txBody>
          <a:bodyPr/>
          <a:lstStyle/>
          <a:p>
            <a:r>
              <a:rPr lang="en-US" dirty="0"/>
              <a:t>As you will see in the case of intellectual disability, learning disorders primarily require </a:t>
            </a:r>
            <a:r>
              <a:rPr lang="en-US" b="1" dirty="0"/>
              <a:t>educational intervention</a:t>
            </a:r>
          </a:p>
          <a:p>
            <a:r>
              <a:rPr lang="en-US" b="1" dirty="0"/>
              <a:t>Educational efforts </a:t>
            </a:r>
          </a:p>
          <a:p>
            <a:r>
              <a:rPr lang="en-US" dirty="0"/>
              <a:t>(1) </a:t>
            </a:r>
            <a:r>
              <a:rPr lang="en-US" b="1" dirty="0"/>
              <a:t>specific skills instruction, </a:t>
            </a:r>
            <a:r>
              <a:rPr lang="en-US" dirty="0"/>
              <a:t>including instruction on vocabulary, finding the main idea, and finding facts in readings, and </a:t>
            </a:r>
          </a:p>
          <a:p>
            <a:r>
              <a:rPr lang="en-US" dirty="0"/>
              <a:t>(2) </a:t>
            </a:r>
            <a:r>
              <a:rPr lang="en-US" b="1" dirty="0"/>
              <a:t>strategy instruction</a:t>
            </a:r>
            <a:r>
              <a:rPr lang="en-US" dirty="0"/>
              <a:t>, which includes efforts to improve cognitive skills through decision making and critical thinking. </a:t>
            </a:r>
            <a:endParaRPr lang="en-PH" b="1" dirty="0"/>
          </a:p>
          <a:p>
            <a:endParaRPr lang="en-PH" dirty="0"/>
          </a:p>
        </p:txBody>
      </p:sp>
    </p:spTree>
    <p:extLst>
      <p:ext uri="{BB962C8B-B14F-4D97-AF65-F5344CB8AC3E}">
        <p14:creationId xmlns:p14="http://schemas.microsoft.com/office/powerpoint/2010/main" val="2166897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3214"/>
          <p:cNvPicPr>
            <a:picLocks noChangeAspect="1"/>
          </p:cNvPicPr>
          <p:nvPr/>
        </p:nvPicPr>
        <p:blipFill>
          <a:blip r:embed="rId2"/>
          <a:stretch>
            <a:fillRect/>
          </a:stretch>
        </p:blipFill>
        <p:spPr>
          <a:xfrm>
            <a:off x="0" y="17190"/>
            <a:ext cx="9058022" cy="6858000"/>
          </a:xfrm>
          <a:prstGeom prst="rect">
            <a:avLst/>
          </a:prstGeom>
        </p:spPr>
      </p:pic>
      <p:sp>
        <p:nvSpPr>
          <p:cNvPr id="6" name="TextBox 5"/>
          <p:cNvSpPr txBox="1"/>
          <p:nvPr/>
        </p:nvSpPr>
        <p:spPr>
          <a:xfrm>
            <a:off x="1043608" y="1237402"/>
            <a:ext cx="7416824" cy="4308872"/>
          </a:xfrm>
          <a:prstGeom prst="rect">
            <a:avLst/>
          </a:prstGeom>
          <a:noFill/>
        </p:spPr>
        <p:txBody>
          <a:bodyPr wrap="square" rtlCol="0">
            <a:spAutoFit/>
          </a:bodyPr>
          <a:lstStyle/>
          <a:p>
            <a:r>
              <a:rPr lang="en-US" sz="3600" b="1" dirty="0"/>
              <a:t>INTELLECTUAL DISABILITY</a:t>
            </a:r>
          </a:p>
          <a:p>
            <a:r>
              <a:rPr lang="en-US" sz="2400" dirty="0"/>
              <a:t>(Intellectual developmental Disorder)</a:t>
            </a:r>
          </a:p>
          <a:p>
            <a:endParaRPr lang="en-US" sz="2000" dirty="0"/>
          </a:p>
          <a:p>
            <a:pPr indent="0">
              <a:buFont typeface="Arial" panose="020B0604020202020204" pitchFamily="34" charset="0"/>
              <a:buNone/>
            </a:pPr>
            <a:r>
              <a:rPr lang="en-US" sz="2000" dirty="0"/>
              <a:t>- Involves problems with general mental abilities that affect functioning in two areas:</a:t>
            </a:r>
          </a:p>
          <a:p>
            <a:pPr indent="0">
              <a:buFont typeface="Arial" panose="020B0604020202020204" pitchFamily="34" charset="0"/>
              <a:buNone/>
            </a:pPr>
            <a:endParaRPr lang="en-US" sz="2000" dirty="0"/>
          </a:p>
          <a:p>
            <a:pPr marL="457200" indent="-457200">
              <a:buFont typeface="Arial" panose="020B0604020202020204" pitchFamily="34" charset="0"/>
              <a:buChar char="•"/>
            </a:pPr>
            <a:r>
              <a:rPr lang="en-US" sz="2000" dirty="0"/>
              <a:t>Intellectual Functioning</a:t>
            </a:r>
          </a:p>
          <a:p>
            <a:pPr marL="457200" indent="-457200">
              <a:buFont typeface="Arial" panose="020B0604020202020204" pitchFamily="34" charset="0"/>
              <a:buChar char="•"/>
            </a:pPr>
            <a:r>
              <a:rPr lang="en-US" sz="2000" dirty="0"/>
              <a:t>Adaptive Functioning</a:t>
            </a:r>
          </a:p>
          <a:p>
            <a:pPr marL="457200" indent="-457200">
              <a:buFont typeface="Arial" panose="020B0604020202020204" pitchFamily="34" charset="0"/>
              <a:buChar char="•"/>
            </a:pPr>
            <a:endParaRPr lang="en-US" sz="2000" b="1" dirty="0"/>
          </a:p>
          <a:p>
            <a:r>
              <a:rPr lang="en-US" sz="2000" b="1" dirty="0"/>
              <a:t>INTELLECTUALFUNCTIONING ( INTELLIGENCE)</a:t>
            </a:r>
          </a:p>
          <a:p>
            <a:r>
              <a:rPr lang="en-US" sz="2000" dirty="0"/>
              <a:t>Such as learning, reasoning, and problem solving.</a:t>
            </a:r>
          </a:p>
          <a:p>
            <a:pPr marL="457200" indent="-457200">
              <a:buFont typeface="Arial" panose="020B0604020202020204" pitchFamily="34" charset="0"/>
              <a:buChar char="•"/>
            </a:pPr>
            <a:endParaRPr lang="en-US" sz="2000" dirty="0"/>
          </a:p>
          <a:p>
            <a:endParaRPr lang="en-PH" sz="1400" dirty="0"/>
          </a:p>
        </p:txBody>
      </p:sp>
    </p:spTree>
    <p:extLst>
      <p:ext uri="{BB962C8B-B14F-4D97-AF65-F5344CB8AC3E}">
        <p14:creationId xmlns:p14="http://schemas.microsoft.com/office/powerpoint/2010/main" val="4130697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sz="quarter" idx="1"/>
          </p:nvPr>
        </p:nvSpPr>
        <p:spPr/>
        <p:txBody>
          <a:bodyPr/>
          <a:lstStyle/>
          <a:p>
            <a:endParaRPr lang="en-PH" dirty="0"/>
          </a:p>
        </p:txBody>
      </p:sp>
      <p:pic>
        <p:nvPicPr>
          <p:cNvPr id="4" name="Content Placeholder 3" descr="3214"/>
          <p:cNvPicPr>
            <a:picLocks noChangeAspect="1"/>
          </p:cNvPicPr>
          <p:nvPr/>
        </p:nvPicPr>
        <p:blipFill>
          <a:blip r:embed="rId2"/>
          <a:stretch>
            <a:fillRect/>
          </a:stretch>
        </p:blipFill>
        <p:spPr>
          <a:xfrm>
            <a:off x="-32111" y="0"/>
            <a:ext cx="8964488" cy="6741368"/>
          </a:xfrm>
          <a:prstGeom prst="rect">
            <a:avLst/>
          </a:prstGeom>
        </p:spPr>
      </p:pic>
      <p:sp>
        <p:nvSpPr>
          <p:cNvPr id="5" name="TextBox 4"/>
          <p:cNvSpPr txBox="1"/>
          <p:nvPr/>
        </p:nvSpPr>
        <p:spPr>
          <a:xfrm>
            <a:off x="827584" y="692696"/>
            <a:ext cx="7416824" cy="5632311"/>
          </a:xfrm>
          <a:prstGeom prst="rect">
            <a:avLst/>
          </a:prstGeom>
          <a:noFill/>
        </p:spPr>
        <p:txBody>
          <a:bodyPr wrap="square" rtlCol="0">
            <a:spAutoFit/>
          </a:bodyPr>
          <a:lstStyle/>
          <a:p>
            <a:r>
              <a:rPr lang="en-US" sz="2400" b="1" dirty="0"/>
              <a:t>DIAGNOSTIC CRITERIA OF INTELLECTUAL DISABILITY</a:t>
            </a:r>
          </a:p>
          <a:p>
            <a:endParaRPr lang="en-US" sz="2400" b="1" dirty="0"/>
          </a:p>
          <a:p>
            <a:pPr marL="571500" indent="-571500">
              <a:buFont typeface="Arial" panose="020B0604020202020204" pitchFamily="34" charset="0"/>
              <a:buChar char="•"/>
            </a:pPr>
            <a:r>
              <a:rPr lang="en-US" sz="2400" b="1" dirty="0">
                <a:cs typeface="+mj-lt"/>
              </a:rPr>
              <a:t>Deficits in intellectual functioning - </a:t>
            </a:r>
            <a:r>
              <a:rPr lang="en-US" sz="2400" b="0" i="0" dirty="0">
                <a:solidFill>
                  <a:srgbClr val="000000"/>
                </a:solidFill>
                <a:effectLst/>
                <a:latin typeface="Times New Roman" panose="02020603050405020304" pitchFamily="18" charset="0"/>
              </a:rPr>
              <a:t>reasoning, problem solving, planning, abstract thinking, judgment, academic learning, and learning from experience”</a:t>
            </a:r>
            <a:endParaRPr lang="en-US" sz="2400" b="1" dirty="0">
              <a:cs typeface="+mj-lt"/>
            </a:endParaRPr>
          </a:p>
          <a:p>
            <a:pPr marL="571500" indent="-571500">
              <a:buFont typeface="Arial" panose="020B0604020202020204" pitchFamily="34" charset="0"/>
              <a:buChar char="•"/>
            </a:pPr>
            <a:r>
              <a:rPr lang="en-US" sz="2400" b="1" dirty="0">
                <a:cs typeface="+mj-lt"/>
              </a:rPr>
              <a:t>Deficits in Adaptive functioning </a:t>
            </a:r>
            <a:r>
              <a:rPr lang="en-US" sz="2400" b="0" i="0" dirty="0">
                <a:solidFill>
                  <a:srgbClr val="000000"/>
                </a:solidFill>
                <a:effectLst/>
                <a:latin typeface="Times New Roman" panose="02020603050405020304" pitchFamily="18" charset="0"/>
              </a:rPr>
              <a:t> that significantly hamper conforming to developmental and sociocultural standards for the individual's independence and ability to meet their social responsibility</a:t>
            </a:r>
            <a:endParaRPr lang="en-US" sz="2400" b="1" dirty="0">
              <a:cs typeface="+mj-lt"/>
            </a:endParaRPr>
          </a:p>
          <a:p>
            <a:pPr marL="571500" indent="-571500">
              <a:buFont typeface="Arial" panose="020B0604020202020204" pitchFamily="34" charset="0"/>
              <a:buChar char="•"/>
            </a:pPr>
            <a:r>
              <a:rPr lang="en-US" sz="2400" b="1" dirty="0">
                <a:cs typeface="+mj-lt"/>
              </a:rPr>
              <a:t>The onset of these deficits during childhood</a:t>
            </a:r>
          </a:p>
          <a:p>
            <a:endParaRPr lang="en-PH" sz="2400" dirty="0"/>
          </a:p>
        </p:txBody>
      </p:sp>
    </p:spTree>
    <p:extLst>
      <p:ext uri="{BB962C8B-B14F-4D97-AF65-F5344CB8AC3E}">
        <p14:creationId xmlns:p14="http://schemas.microsoft.com/office/powerpoint/2010/main" val="29450291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endParaRPr lang="en-PH"/>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6" name="TextBox 5"/>
          <p:cNvSpPr txBox="1"/>
          <p:nvPr/>
        </p:nvSpPr>
        <p:spPr>
          <a:xfrm>
            <a:off x="0" y="692696"/>
            <a:ext cx="8964488" cy="3262432"/>
          </a:xfrm>
          <a:prstGeom prst="rect">
            <a:avLst/>
          </a:prstGeom>
          <a:noFill/>
        </p:spPr>
        <p:txBody>
          <a:bodyPr wrap="square" rtlCol="0">
            <a:spAutoFit/>
          </a:bodyPr>
          <a:lstStyle/>
          <a:p>
            <a:r>
              <a:rPr lang="en-US" sz="2800" b="1" dirty="0"/>
              <a:t>                 </a:t>
            </a:r>
            <a:r>
              <a:rPr lang="en-US" sz="3200" b="1" dirty="0"/>
              <a:t>ADAPTIVE FUNCTIONING </a:t>
            </a:r>
          </a:p>
          <a:p>
            <a:endParaRPr lang="en-US" sz="3200" dirty="0"/>
          </a:p>
          <a:p>
            <a:endParaRPr lang="en-US" dirty="0"/>
          </a:p>
          <a:p>
            <a:endParaRPr lang="en-US" dirty="0"/>
          </a:p>
          <a:p>
            <a:r>
              <a:rPr lang="en-US" sz="1600" b="1" dirty="0"/>
              <a:t>CONCEPTUAL			SOCIAL			PRACTICAL SKILLS</a:t>
            </a:r>
          </a:p>
          <a:p>
            <a:pPr indent="0">
              <a:buFont typeface="Arial" panose="020B0604020202020204" pitchFamily="34" charset="0"/>
              <a:buNone/>
            </a:pPr>
            <a:r>
              <a:rPr lang="en-US" dirty="0"/>
              <a:t>-Language			-Communication		-Job Responsibilities</a:t>
            </a:r>
          </a:p>
          <a:p>
            <a:pPr indent="0">
              <a:buFont typeface="Arial" panose="020B0604020202020204" pitchFamily="34" charset="0"/>
              <a:buNone/>
            </a:pPr>
            <a:r>
              <a:rPr lang="en-US" dirty="0"/>
              <a:t>-Reading, writing		-Follow Rules		-Managing </a:t>
            </a:r>
            <a:r>
              <a:rPr lang="en-US" dirty="0" err="1"/>
              <a:t>mone</a:t>
            </a:r>
            <a:r>
              <a:rPr lang="en-US" dirty="0"/>
              <a:t>	</a:t>
            </a:r>
          </a:p>
          <a:p>
            <a:pPr indent="0">
              <a:buFont typeface="Arial" panose="020B0604020202020204" pitchFamily="34" charset="0"/>
              <a:buNone/>
            </a:pPr>
            <a:r>
              <a:rPr lang="en-US" dirty="0"/>
              <a:t>-memory, knowledge	               -Make friendship               -Organizing school 		                                                                           and work task</a:t>
            </a:r>
          </a:p>
          <a:p>
            <a:endParaRPr lang="en-PH" dirty="0"/>
          </a:p>
        </p:txBody>
      </p:sp>
    </p:spTree>
    <p:extLst>
      <p:ext uri="{BB962C8B-B14F-4D97-AF65-F5344CB8AC3E}">
        <p14:creationId xmlns:p14="http://schemas.microsoft.com/office/powerpoint/2010/main" val="41671945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sz="quarter" idx="1"/>
          </p:nvPr>
        </p:nvSpPr>
        <p:spPr/>
        <p:txBody>
          <a:bodyPr/>
          <a:lstStyle/>
          <a:p>
            <a:endParaRPr lang="en-PH" dirty="0"/>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5" name="TextBox 4"/>
          <p:cNvSpPr txBox="1"/>
          <p:nvPr/>
        </p:nvSpPr>
        <p:spPr>
          <a:xfrm>
            <a:off x="1115616" y="1340768"/>
            <a:ext cx="7344816" cy="4801314"/>
          </a:xfrm>
          <a:prstGeom prst="rect">
            <a:avLst/>
          </a:prstGeom>
          <a:noFill/>
        </p:spPr>
        <p:txBody>
          <a:bodyPr wrap="square" rtlCol="0">
            <a:spAutoFit/>
          </a:bodyPr>
          <a:lstStyle/>
          <a:p>
            <a:r>
              <a:rPr lang="en-US" sz="3200" b="1" dirty="0"/>
              <a:t>POSSIBLE TREATMENT</a:t>
            </a:r>
          </a:p>
          <a:p>
            <a:endParaRPr lang="en-US" sz="3200" dirty="0"/>
          </a:p>
          <a:p>
            <a:r>
              <a:rPr lang="en-US" sz="3200" dirty="0"/>
              <a:t>-Different types of supports and services can help such as:</a:t>
            </a:r>
          </a:p>
          <a:p>
            <a:endParaRPr lang="en-US" sz="3200" dirty="0"/>
          </a:p>
          <a:p>
            <a:pPr marL="285750" indent="-285750">
              <a:buFont typeface="Arial" panose="020B0604020202020204" pitchFamily="34" charset="0"/>
              <a:buChar char="•"/>
            </a:pPr>
            <a:r>
              <a:rPr lang="en-US" sz="3200" dirty="0"/>
              <a:t>Early Intervention</a:t>
            </a:r>
          </a:p>
          <a:p>
            <a:pPr marL="285750" indent="-285750">
              <a:buFont typeface="Arial" panose="020B0604020202020204" pitchFamily="34" charset="0"/>
              <a:buChar char="•"/>
            </a:pPr>
            <a:r>
              <a:rPr lang="en-US" sz="3200" dirty="0"/>
              <a:t>Special education</a:t>
            </a:r>
          </a:p>
          <a:p>
            <a:pPr marL="285750" indent="-285750">
              <a:buFont typeface="Arial" panose="020B0604020202020204" pitchFamily="34" charset="0"/>
              <a:buChar char="•"/>
            </a:pPr>
            <a:r>
              <a:rPr lang="en-US" sz="3200" dirty="0"/>
              <a:t>Family support</a:t>
            </a:r>
          </a:p>
          <a:p>
            <a:pPr marL="285750" indent="-285750">
              <a:buFont typeface="Arial" panose="020B0604020202020204" pitchFamily="34" charset="0"/>
              <a:buChar char="•"/>
            </a:pPr>
            <a:r>
              <a:rPr lang="en-US" sz="3200" dirty="0"/>
              <a:t>Vocational Program</a:t>
            </a:r>
          </a:p>
          <a:p>
            <a:endParaRPr lang="en-PH" dirty="0"/>
          </a:p>
        </p:txBody>
      </p:sp>
    </p:spTree>
    <p:extLst>
      <p:ext uri="{BB962C8B-B14F-4D97-AF65-F5344CB8AC3E}">
        <p14:creationId xmlns:p14="http://schemas.microsoft.com/office/powerpoint/2010/main" val="3636651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sz="quarter" idx="1"/>
          </p:nvPr>
        </p:nvSpPr>
        <p:spPr/>
        <p:txBody>
          <a:bodyPr/>
          <a:lstStyle/>
          <a:p>
            <a:endParaRPr lang="en-PH" dirty="0"/>
          </a:p>
        </p:txBody>
      </p:sp>
      <p:pic>
        <p:nvPicPr>
          <p:cNvPr id="5"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6" name="TextBox 5"/>
          <p:cNvSpPr txBox="1"/>
          <p:nvPr/>
        </p:nvSpPr>
        <p:spPr>
          <a:xfrm>
            <a:off x="899592" y="1340768"/>
            <a:ext cx="7344816" cy="4893647"/>
          </a:xfrm>
          <a:prstGeom prst="rect">
            <a:avLst/>
          </a:prstGeom>
          <a:noFill/>
        </p:spPr>
        <p:txBody>
          <a:bodyPr wrap="square" rtlCol="0">
            <a:spAutoFit/>
          </a:bodyPr>
          <a:lstStyle/>
          <a:p>
            <a:r>
              <a:rPr lang="en-US" sz="3200" b="1" dirty="0"/>
              <a:t>COMMUNICATION DISORDER</a:t>
            </a:r>
          </a:p>
          <a:p>
            <a:endParaRPr lang="en-US" sz="2400" b="1" dirty="0"/>
          </a:p>
          <a:p>
            <a:pPr marL="285750" indent="-285750">
              <a:buFont typeface="Wingdings" panose="05000000000000000000" charset="0"/>
              <a:buChar char="Ø"/>
            </a:pPr>
            <a:r>
              <a:rPr lang="en-US" sz="2400" dirty="0"/>
              <a:t>Characterized by Impairment in Sending, receiving processing or comprehending verbal / non verbal that influence the behavior, of another individual. </a:t>
            </a:r>
          </a:p>
          <a:p>
            <a:pPr marL="285750" indent="-285750">
              <a:buFont typeface="Wingdings" panose="05000000000000000000" charset="0"/>
              <a:buChar char="Ø"/>
            </a:pPr>
            <a:endParaRPr lang="en-US" sz="2400" dirty="0"/>
          </a:p>
          <a:p>
            <a:pPr marL="285750" indent="-285750">
              <a:buFont typeface="Wingdings" panose="05000000000000000000" charset="0"/>
              <a:buChar char="Ø"/>
            </a:pPr>
            <a:r>
              <a:rPr lang="en-US" sz="2400" b="0" i="0" dirty="0">
                <a:solidFill>
                  <a:srgbClr val="001D35"/>
                </a:solidFill>
                <a:effectLst/>
              </a:rPr>
              <a:t>These disorders can affect hearing, speech, and language, and may be present in various forms, such as </a:t>
            </a:r>
            <a:r>
              <a:rPr lang="en-US" sz="2400" dirty="0"/>
              <a:t>speech sound disorders, language disorders, and social (pragmatic) communication disorders</a:t>
            </a:r>
          </a:p>
          <a:p>
            <a:endParaRPr lang="en-PH" sz="1600" dirty="0"/>
          </a:p>
        </p:txBody>
      </p:sp>
    </p:spTree>
    <p:extLst>
      <p:ext uri="{BB962C8B-B14F-4D97-AF65-F5344CB8AC3E}">
        <p14:creationId xmlns:p14="http://schemas.microsoft.com/office/powerpoint/2010/main" val="11015633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endParaRPr lang="en-PH"/>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5" name="TextBox 4"/>
          <p:cNvSpPr txBox="1"/>
          <p:nvPr/>
        </p:nvSpPr>
        <p:spPr>
          <a:xfrm>
            <a:off x="1331640" y="1628800"/>
            <a:ext cx="6264696" cy="2585323"/>
          </a:xfrm>
          <a:prstGeom prst="rect">
            <a:avLst/>
          </a:prstGeom>
          <a:noFill/>
        </p:spPr>
        <p:txBody>
          <a:bodyPr wrap="square" rtlCol="0">
            <a:spAutoFit/>
          </a:bodyPr>
          <a:lstStyle/>
          <a:p>
            <a:pPr algn="ctr"/>
            <a:r>
              <a:rPr lang="en-US" sz="4800" b="1" dirty="0">
                <a:latin typeface="Gungsuh" panose="02030600000101010101" charset="-127"/>
                <a:ea typeface="Gungsuh" panose="02030600000101010101" charset="-127"/>
              </a:rPr>
              <a:t>TYPES OF </a:t>
            </a:r>
          </a:p>
          <a:p>
            <a:pPr algn="ctr"/>
            <a:r>
              <a:rPr lang="en-US" sz="4800" b="1" dirty="0">
                <a:latin typeface="Gungsuh" panose="02030600000101010101" charset="-127"/>
                <a:ea typeface="Gungsuh" panose="02030600000101010101" charset="-127"/>
              </a:rPr>
              <a:t>COMMUNICATION </a:t>
            </a:r>
          </a:p>
          <a:p>
            <a:pPr algn="ctr"/>
            <a:r>
              <a:rPr lang="en-US" sz="4800" b="1" dirty="0">
                <a:latin typeface="Gungsuh" panose="02030600000101010101" charset="-127"/>
                <a:ea typeface="Gungsuh" panose="02030600000101010101" charset="-127"/>
              </a:rPr>
              <a:t>DISORDER</a:t>
            </a:r>
          </a:p>
          <a:p>
            <a:endParaRPr lang="en-PH" dirty="0"/>
          </a:p>
        </p:txBody>
      </p:sp>
    </p:spTree>
    <p:extLst>
      <p:ext uri="{BB962C8B-B14F-4D97-AF65-F5344CB8AC3E}">
        <p14:creationId xmlns:p14="http://schemas.microsoft.com/office/powerpoint/2010/main" val="38315472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dirty="0"/>
          </a:p>
        </p:txBody>
      </p:sp>
      <p:sp>
        <p:nvSpPr>
          <p:cNvPr id="3" name="Content Placeholder 2"/>
          <p:cNvSpPr>
            <a:spLocks noGrp="1"/>
          </p:cNvSpPr>
          <p:nvPr>
            <p:ph sz="quarter" idx="1"/>
          </p:nvPr>
        </p:nvSpPr>
        <p:spPr/>
        <p:txBody>
          <a:bodyPr/>
          <a:lstStyle/>
          <a:p>
            <a:endParaRPr lang="en-PH" dirty="0"/>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5" name="TextBox 4"/>
          <p:cNvSpPr txBox="1"/>
          <p:nvPr/>
        </p:nvSpPr>
        <p:spPr>
          <a:xfrm>
            <a:off x="1187624" y="1412776"/>
            <a:ext cx="7056784" cy="4431983"/>
          </a:xfrm>
          <a:prstGeom prst="rect">
            <a:avLst/>
          </a:prstGeom>
          <a:noFill/>
        </p:spPr>
        <p:txBody>
          <a:bodyPr wrap="square" rtlCol="0">
            <a:spAutoFit/>
          </a:bodyPr>
          <a:lstStyle/>
          <a:p>
            <a:r>
              <a:rPr lang="en-US" b="1" dirty="0"/>
              <a:t>LANGUAGE DISORDER</a:t>
            </a:r>
            <a:r>
              <a:rPr lang="en-US" dirty="0"/>
              <a:t> - Involves the processing of linguistic information and rarely caused by a lack of intelligence </a:t>
            </a:r>
          </a:p>
          <a:p>
            <a:endParaRPr lang="en-US" b="0" i="0" dirty="0">
              <a:solidFill>
                <a:srgbClr val="001D35"/>
              </a:solidFill>
              <a:effectLst/>
            </a:endParaRPr>
          </a:p>
          <a:p>
            <a:r>
              <a:rPr lang="en-US" b="0" i="0" dirty="0">
                <a:solidFill>
                  <a:srgbClr val="001D35"/>
                </a:solidFill>
                <a:effectLst/>
              </a:rPr>
              <a:t>Examples of language disorders include </a:t>
            </a:r>
            <a:r>
              <a:rPr lang="en-US" dirty="0"/>
              <a:t>receptive language disorder (difficulty understanding spoken language) and expressive language disorder (difficulty using language to express thoughts and ideas</a:t>
            </a:r>
          </a:p>
          <a:p>
            <a:r>
              <a:rPr lang="en-US" dirty="0"/>
              <a:t> </a:t>
            </a:r>
          </a:p>
          <a:p>
            <a:r>
              <a:rPr lang="en-US" b="1" dirty="0"/>
              <a:t>SPEECH SOUND DISORDER</a:t>
            </a:r>
            <a:r>
              <a:rPr lang="en-US" dirty="0"/>
              <a:t>- Involves difficulties in articulation fluency, and voice, difficulty saying words or sounds correctly </a:t>
            </a:r>
          </a:p>
          <a:p>
            <a:endParaRPr lang="en-US" dirty="0"/>
          </a:p>
          <a:p>
            <a:r>
              <a:rPr lang="en-US" b="0" i="0" dirty="0">
                <a:solidFill>
                  <a:srgbClr val="001D35"/>
                </a:solidFill>
                <a:effectLst/>
              </a:rPr>
              <a:t>Examples include saying </a:t>
            </a:r>
            <a:r>
              <a:rPr lang="en-US" dirty="0"/>
              <a:t>"coo" instead of "school" (leaving off sounds), "</a:t>
            </a:r>
            <a:r>
              <a:rPr lang="en-US" dirty="0" err="1"/>
              <a:t>puhlay</a:t>
            </a:r>
            <a:r>
              <a:rPr lang="en-US" dirty="0"/>
              <a:t>" instead of "play" (adding sounds), or "</a:t>
            </a:r>
            <a:r>
              <a:rPr lang="en-US" dirty="0" err="1"/>
              <a:t>thith</a:t>
            </a:r>
            <a:r>
              <a:rPr lang="en-US" dirty="0"/>
              <a:t>" instead of "this" (distorting sounds)</a:t>
            </a:r>
          </a:p>
          <a:p>
            <a:endParaRPr lang="en-PH" sz="1100" dirty="0"/>
          </a:p>
        </p:txBody>
      </p:sp>
    </p:spTree>
    <p:extLst>
      <p:ext uri="{BB962C8B-B14F-4D97-AF65-F5344CB8AC3E}">
        <p14:creationId xmlns:p14="http://schemas.microsoft.com/office/powerpoint/2010/main" val="15862777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endParaRPr lang="en-PH"/>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5" name="TextBox 4"/>
          <p:cNvSpPr txBox="1"/>
          <p:nvPr/>
        </p:nvSpPr>
        <p:spPr>
          <a:xfrm>
            <a:off x="971600" y="1340768"/>
            <a:ext cx="7416824" cy="4555093"/>
          </a:xfrm>
          <a:prstGeom prst="rect">
            <a:avLst/>
          </a:prstGeom>
          <a:noFill/>
        </p:spPr>
        <p:txBody>
          <a:bodyPr wrap="square" rtlCol="0">
            <a:spAutoFit/>
          </a:bodyPr>
          <a:lstStyle/>
          <a:p>
            <a:r>
              <a:rPr lang="en-US" sz="2000" b="1" dirty="0"/>
              <a:t>CHILDHOOD ON SET FLUENCY  DISORDER</a:t>
            </a:r>
            <a:r>
              <a:rPr lang="en-US" sz="2000" dirty="0"/>
              <a:t> </a:t>
            </a:r>
            <a:endParaRPr lang="en-US" sz="1600" dirty="0"/>
          </a:p>
          <a:p>
            <a:r>
              <a:rPr lang="en-US" sz="1600" dirty="0"/>
              <a:t>(STUTTERING)</a:t>
            </a:r>
          </a:p>
          <a:p>
            <a:endParaRPr lang="en-US" sz="1600" dirty="0"/>
          </a:p>
          <a:p>
            <a:pPr marL="285750" indent="-285750">
              <a:buFont typeface="Wingdings" panose="05000000000000000000" charset="0"/>
              <a:buChar char="Ø"/>
            </a:pPr>
            <a:r>
              <a:rPr lang="en-US" sz="1600" dirty="0"/>
              <a:t>Characterized by a disturbance that income frequent and significant problems with normal fluency and flow of speech.</a:t>
            </a:r>
          </a:p>
          <a:p>
            <a:pPr marL="285750" indent="-285750">
              <a:buFont typeface="Wingdings" panose="05000000000000000000" charset="0"/>
              <a:buChar char="Ø"/>
            </a:pPr>
            <a:endParaRPr lang="en-US" sz="1600" dirty="0"/>
          </a:p>
          <a:p>
            <a:pPr marL="285750" indent="-285750">
              <a:buFont typeface="Wingdings" panose="05000000000000000000" charset="0"/>
              <a:buChar char="Ø"/>
            </a:pPr>
            <a:r>
              <a:rPr lang="en-US" sz="1600" b="0" i="0" dirty="0">
                <a:solidFill>
                  <a:srgbClr val="001D35"/>
                </a:solidFill>
                <a:effectLst/>
              </a:rPr>
              <a:t>Examples include repeating sounds or syllables ("b-b-ball"), prolonging sounds ("</a:t>
            </a:r>
            <a:r>
              <a:rPr lang="en-US" sz="1600" b="0" i="0" dirty="0" err="1">
                <a:solidFill>
                  <a:srgbClr val="001D35"/>
                </a:solidFill>
                <a:effectLst/>
              </a:rPr>
              <a:t>ssssssnake</a:t>
            </a:r>
            <a:r>
              <a:rPr lang="en-US" sz="1600" b="0" i="0" dirty="0">
                <a:solidFill>
                  <a:srgbClr val="001D35"/>
                </a:solidFill>
                <a:effectLst/>
              </a:rPr>
              <a:t>"), or having blocks or pauses during speech ("I-I-I want to go."). Some individuals also experience secondary behaviors like facial tension or avoidance of certain words. </a:t>
            </a:r>
            <a:endParaRPr lang="en-US" sz="1600" dirty="0"/>
          </a:p>
          <a:p>
            <a:pPr marL="285750" indent="-285750">
              <a:buFont typeface="Wingdings" panose="05000000000000000000" charset="0"/>
              <a:buChar char="Ø"/>
            </a:pPr>
            <a:endParaRPr lang="en-US" sz="1600" dirty="0"/>
          </a:p>
          <a:p>
            <a:pPr indent="0">
              <a:buFont typeface="Wingdings" panose="05000000000000000000" charset="0"/>
              <a:buNone/>
            </a:pPr>
            <a:r>
              <a:rPr lang="en-US" sz="2000" b="1" dirty="0"/>
              <a:t>SOCIAL COMMUNICATION DISORDER</a:t>
            </a:r>
            <a:r>
              <a:rPr lang="en-US" sz="2000" dirty="0"/>
              <a:t> </a:t>
            </a:r>
            <a:r>
              <a:rPr lang="en-US" dirty="0"/>
              <a:t>(PRAGRAMIC)</a:t>
            </a:r>
          </a:p>
          <a:p>
            <a:pPr indent="0">
              <a:buFont typeface="Wingdings" panose="05000000000000000000" charset="0"/>
              <a:buNone/>
            </a:pPr>
            <a:endParaRPr lang="en-US" sz="1600" dirty="0"/>
          </a:p>
          <a:p>
            <a:pPr marL="285750" indent="-285750">
              <a:buFont typeface="Wingdings" panose="05000000000000000000" charset="0"/>
              <a:buChar char="Ø"/>
            </a:pPr>
            <a:r>
              <a:rPr lang="en-US" sz="1600" dirty="0"/>
              <a:t>Deficits in using communication for social purposes, impairments of the ability to change.</a:t>
            </a:r>
          </a:p>
          <a:p>
            <a:pPr indent="0">
              <a:buFont typeface="Wingdings" panose="05000000000000000000" charset="0"/>
              <a:buNone/>
            </a:pPr>
            <a:r>
              <a:rPr lang="en-US" sz="1600" dirty="0"/>
              <a:t> </a:t>
            </a:r>
          </a:p>
          <a:p>
            <a:endParaRPr lang="en-PH" sz="1600" dirty="0"/>
          </a:p>
        </p:txBody>
      </p:sp>
    </p:spTree>
    <p:extLst>
      <p:ext uri="{BB962C8B-B14F-4D97-AF65-F5344CB8AC3E}">
        <p14:creationId xmlns:p14="http://schemas.microsoft.com/office/powerpoint/2010/main" val="1241862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endParaRPr lang="en-PH"/>
          </a:p>
        </p:txBody>
      </p:sp>
      <p:pic>
        <p:nvPicPr>
          <p:cNvPr id="4" name="Content Placeholder 3" descr="3214"/>
          <p:cNvPicPr>
            <a:picLocks noChangeAspect="1"/>
          </p:cNvPicPr>
          <p:nvPr/>
        </p:nvPicPr>
        <p:blipFill>
          <a:blip r:embed="rId2"/>
          <a:stretch>
            <a:fillRect/>
          </a:stretch>
        </p:blipFill>
        <p:spPr>
          <a:xfrm>
            <a:off x="0" y="0"/>
            <a:ext cx="8964488" cy="6741368"/>
          </a:xfrm>
          <a:prstGeom prst="rect">
            <a:avLst/>
          </a:prstGeom>
        </p:spPr>
      </p:pic>
      <p:sp>
        <p:nvSpPr>
          <p:cNvPr id="5" name="TextBox 4"/>
          <p:cNvSpPr txBox="1"/>
          <p:nvPr/>
        </p:nvSpPr>
        <p:spPr>
          <a:xfrm>
            <a:off x="1331640" y="1700808"/>
            <a:ext cx="6984776" cy="2031325"/>
          </a:xfrm>
          <a:prstGeom prst="rect">
            <a:avLst/>
          </a:prstGeom>
          <a:noFill/>
        </p:spPr>
        <p:txBody>
          <a:bodyPr wrap="square" rtlCol="0">
            <a:spAutoFit/>
          </a:bodyPr>
          <a:lstStyle/>
          <a:p>
            <a:r>
              <a:rPr lang="en-US" sz="3600" i="1" dirty="0">
                <a:latin typeface="Candara" panose="020E0502030303020204" charset="0"/>
                <a:cs typeface="Candara" panose="020E0502030303020204" charset="0"/>
              </a:rPr>
              <a:t>“INTELLECTUAL DISABILITY IS A NEURODEVELOPMENTAL DISORDER NOT A MENTAL ILLNESS”</a:t>
            </a:r>
          </a:p>
          <a:p>
            <a:endParaRPr lang="en-PH" dirty="0"/>
          </a:p>
        </p:txBody>
      </p:sp>
    </p:spTree>
    <p:extLst>
      <p:ext uri="{BB962C8B-B14F-4D97-AF65-F5344CB8AC3E}">
        <p14:creationId xmlns:p14="http://schemas.microsoft.com/office/powerpoint/2010/main" val="27418124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tr-TR" sz="4400" dirty="0"/>
              <a:t>Childhood-Onset Fluency Disorder (Stuttering)</a:t>
            </a:r>
            <a:br>
              <a:rPr lang="en-US" dirty="0"/>
            </a:br>
            <a:endParaRPr lang="en-PH" dirty="0"/>
          </a:p>
        </p:txBody>
      </p:sp>
      <p:sp>
        <p:nvSpPr>
          <p:cNvPr id="5" name="Subtitle 4"/>
          <p:cNvSpPr>
            <a:spLocks noGrp="1"/>
          </p:cNvSpPr>
          <p:nvPr>
            <p:ph type="subTitle" idx="1"/>
          </p:nvPr>
        </p:nvSpPr>
        <p:spPr/>
        <p:txBody>
          <a:bodyPr/>
          <a:lstStyle/>
          <a:p>
            <a:endParaRPr lang="en-PH"/>
          </a:p>
        </p:txBody>
      </p:sp>
    </p:spTree>
    <p:extLst>
      <p:ext uri="{BB962C8B-B14F-4D97-AF65-F5344CB8AC3E}">
        <p14:creationId xmlns:p14="http://schemas.microsoft.com/office/powerpoint/2010/main" val="3336548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Description</a:t>
            </a:r>
            <a:endParaRPr lang="en-PH" sz="4000" dirty="0"/>
          </a:p>
        </p:txBody>
      </p:sp>
      <p:sp>
        <p:nvSpPr>
          <p:cNvPr id="3" name="Content Placeholder 2"/>
          <p:cNvSpPr>
            <a:spLocks noGrp="1"/>
          </p:cNvSpPr>
          <p:nvPr>
            <p:ph sz="quarter" idx="1"/>
          </p:nvPr>
        </p:nvSpPr>
        <p:spPr>
          <a:xfrm>
            <a:off x="457200" y="1600200"/>
            <a:ext cx="4258816" cy="4873752"/>
          </a:xfrm>
        </p:spPr>
        <p:txBody>
          <a:bodyPr>
            <a:normAutofit/>
          </a:bodyPr>
          <a:lstStyle/>
          <a:p>
            <a:r>
              <a:rPr lang="en-US" dirty="0">
                <a:ea typeface="+mn-lt"/>
                <a:cs typeface="+mn-lt"/>
              </a:rPr>
              <a:t>Childhood-onset fluency disorder, also known as stuttering or stammering is a common disorder. </a:t>
            </a:r>
          </a:p>
          <a:p>
            <a:r>
              <a:rPr lang="en-US" dirty="0">
                <a:ea typeface="+mn-lt"/>
                <a:cs typeface="+mn-lt"/>
              </a:rPr>
              <a:t>A multifactorial speech disorder, it is normally seen with recurrent prolongations, reverberations, or blocks of sounds, syllables, phrases or words</a:t>
            </a:r>
            <a:endParaRPr lang="en-PH" dirty="0"/>
          </a:p>
        </p:txBody>
      </p:sp>
      <p:pic>
        <p:nvPicPr>
          <p:cNvPr id="6146" name="Picture 2" descr="Childhood-onset Fluency Disorder (Stuttering) — AKIDS: Play-based  Multidisciplinary Child Therapy">
            <a:extLst>
              <a:ext uri="{FF2B5EF4-FFF2-40B4-BE49-F238E27FC236}">
                <a16:creationId xmlns:a16="http://schemas.microsoft.com/office/drawing/2014/main" id="{C5635BA5-BECB-4CA1-82FE-F2045C70F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74164"/>
            <a:ext cx="3954408" cy="4203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471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normAutofit/>
          </a:bodyPr>
          <a:lstStyle/>
          <a:p>
            <a:r>
              <a:rPr lang="en-US" dirty="0">
                <a:ea typeface="+mn-lt"/>
                <a:cs typeface="+mn-lt"/>
              </a:rPr>
              <a:t> </a:t>
            </a:r>
            <a:r>
              <a:rPr lang="en-US" sz="3200" dirty="0">
                <a:ea typeface="+mn-lt"/>
                <a:cs typeface="+mn-lt"/>
              </a:rPr>
              <a:t>Interruptions in normal fluency and time patterning of speech (unsuitable for the individual’s age), exemplified by repeated occurrences of 1 or more of the following:</a:t>
            </a:r>
            <a:endParaRPr lang="en-US" sz="3200" dirty="0"/>
          </a:p>
          <a:p>
            <a:r>
              <a:rPr lang="en-US" sz="3200" dirty="0">
                <a:ea typeface="+mn-lt"/>
                <a:cs typeface="+mn-lt"/>
              </a:rPr>
              <a:t>Sound and syllable repetitions</a:t>
            </a:r>
            <a:endParaRPr lang="en-US" sz="3200" dirty="0"/>
          </a:p>
          <a:p>
            <a:r>
              <a:rPr lang="en-US" sz="3200" dirty="0">
                <a:ea typeface="+mn-lt"/>
                <a:cs typeface="+mn-lt"/>
              </a:rPr>
              <a:t>Sound prolongations</a:t>
            </a:r>
            <a:endParaRPr lang="en-US" sz="3200" dirty="0"/>
          </a:p>
          <a:p>
            <a:r>
              <a:rPr lang="en-US" sz="3200" dirty="0">
                <a:ea typeface="+mn-lt"/>
                <a:cs typeface="+mn-lt"/>
              </a:rPr>
              <a:t>Interjections</a:t>
            </a:r>
            <a:endParaRPr lang="en-US" sz="3200" dirty="0"/>
          </a:p>
          <a:p>
            <a:endParaRPr lang="en-PH" dirty="0"/>
          </a:p>
        </p:txBody>
      </p:sp>
    </p:spTree>
    <p:extLst>
      <p:ext uri="{BB962C8B-B14F-4D97-AF65-F5344CB8AC3E}">
        <p14:creationId xmlns:p14="http://schemas.microsoft.com/office/powerpoint/2010/main" val="41535577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r>
              <a:rPr lang="en-US" sz="2800" dirty="0">
                <a:ea typeface="+mn-lt"/>
                <a:cs typeface="+mn-lt"/>
              </a:rPr>
              <a:t>Broken words (such as breaks within a word)</a:t>
            </a:r>
            <a:endParaRPr lang="en-US" sz="2800" dirty="0"/>
          </a:p>
          <a:p>
            <a:r>
              <a:rPr lang="en-US" sz="2800" dirty="0">
                <a:ea typeface="+mn-lt"/>
                <a:cs typeface="+mn-lt"/>
              </a:rPr>
              <a:t>Audible or silent blocking (filled or unfilled gaps in speech)</a:t>
            </a:r>
            <a:endParaRPr lang="en-US" sz="2800" dirty="0"/>
          </a:p>
          <a:p>
            <a:r>
              <a:rPr lang="en-US" sz="2800" dirty="0">
                <a:ea typeface="+mn-lt"/>
                <a:cs typeface="+mn-lt"/>
              </a:rPr>
              <a:t>Circumlocutions (word substitutions to evade challenging words)</a:t>
            </a:r>
            <a:endParaRPr lang="en-US" sz="2800" dirty="0"/>
          </a:p>
          <a:p>
            <a:r>
              <a:rPr lang="en-US" sz="2800" dirty="0">
                <a:ea typeface="+mn-lt"/>
                <a:cs typeface="+mn-lt"/>
              </a:rPr>
              <a:t>Words formed with an overload of physical tension</a:t>
            </a:r>
            <a:endParaRPr lang="en-US" sz="2800" dirty="0"/>
          </a:p>
          <a:p>
            <a:r>
              <a:rPr lang="en-US" sz="2800" dirty="0">
                <a:ea typeface="+mn-lt"/>
                <a:cs typeface="+mn-lt"/>
              </a:rPr>
              <a:t>Monosyllabic whole-word repetitions</a:t>
            </a:r>
            <a:endParaRPr lang="en-US" sz="2800" dirty="0"/>
          </a:p>
          <a:p>
            <a:endParaRPr lang="en-PH" dirty="0"/>
          </a:p>
        </p:txBody>
      </p:sp>
    </p:spTree>
    <p:extLst>
      <p:ext uri="{BB962C8B-B14F-4D97-AF65-F5344CB8AC3E}">
        <p14:creationId xmlns:p14="http://schemas.microsoft.com/office/powerpoint/2010/main" val="34860910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Causes</a:t>
            </a:r>
            <a:endParaRPr lang="en-PH" sz="3600" b="1" dirty="0"/>
          </a:p>
        </p:txBody>
      </p:sp>
      <p:sp>
        <p:nvSpPr>
          <p:cNvPr id="3" name="Content Placeholder 2"/>
          <p:cNvSpPr>
            <a:spLocks noGrp="1"/>
          </p:cNvSpPr>
          <p:nvPr>
            <p:ph sz="quarter" idx="1"/>
          </p:nvPr>
        </p:nvSpPr>
        <p:spPr/>
        <p:txBody>
          <a:bodyPr>
            <a:normAutofit/>
          </a:bodyPr>
          <a:lstStyle/>
          <a:p>
            <a:r>
              <a:rPr lang="en-US" b="1" dirty="0">
                <a:ea typeface="+mn-lt"/>
                <a:cs typeface="+mn-lt"/>
              </a:rPr>
              <a:t>Abnormalities in speech motor control.</a:t>
            </a:r>
            <a:r>
              <a:rPr lang="en-US" dirty="0">
                <a:ea typeface="+mn-lt"/>
                <a:cs typeface="+mn-lt"/>
              </a:rPr>
              <a:t> Some evidence indicates that abnormalities in speech motor control, such as timing, sensory and motor coordination, may be involved.</a:t>
            </a:r>
            <a:endParaRPr lang="en-US" dirty="0"/>
          </a:p>
          <a:p>
            <a:r>
              <a:rPr lang="en-US" b="1" dirty="0">
                <a:ea typeface="+mn-lt"/>
                <a:cs typeface="+mn-lt"/>
              </a:rPr>
              <a:t>Genetics.</a:t>
            </a:r>
            <a:r>
              <a:rPr lang="en-US" dirty="0">
                <a:ea typeface="+mn-lt"/>
                <a:cs typeface="+mn-lt"/>
              </a:rPr>
              <a:t> Stuttering tends to run in families. It appears that stuttering can result from inherited (genetic) abnormalities.</a:t>
            </a:r>
            <a:endParaRPr lang="en-US" dirty="0"/>
          </a:p>
          <a:p>
            <a:endParaRPr lang="en-PH" dirty="0"/>
          </a:p>
        </p:txBody>
      </p:sp>
    </p:spTree>
    <p:extLst>
      <p:ext uri="{BB962C8B-B14F-4D97-AF65-F5344CB8AC3E}">
        <p14:creationId xmlns:p14="http://schemas.microsoft.com/office/powerpoint/2010/main" val="3628182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r>
              <a:rPr lang="en-US" b="1" dirty="0">
                <a:ea typeface="+mn-lt"/>
                <a:cs typeface="+mn-lt"/>
              </a:rPr>
              <a:t>Delayed childhood development.</a:t>
            </a:r>
            <a:r>
              <a:rPr lang="en-US" dirty="0">
                <a:ea typeface="+mn-lt"/>
                <a:cs typeface="+mn-lt"/>
              </a:rPr>
              <a:t> Children who have developmental delays or other speech problems may be more likely to stutter.</a:t>
            </a:r>
            <a:endParaRPr lang="en-US" dirty="0"/>
          </a:p>
          <a:p>
            <a:r>
              <a:rPr lang="en-US" b="1" dirty="0">
                <a:ea typeface="+mn-lt"/>
                <a:cs typeface="+mn-lt"/>
              </a:rPr>
              <a:t>Having relatives who stutter.</a:t>
            </a:r>
            <a:r>
              <a:rPr lang="en-US" dirty="0">
                <a:ea typeface="+mn-lt"/>
                <a:cs typeface="+mn-lt"/>
              </a:rPr>
              <a:t> Stuttering tends to run in families.</a:t>
            </a:r>
            <a:endParaRPr lang="en-US" dirty="0"/>
          </a:p>
          <a:p>
            <a:r>
              <a:rPr lang="en-US" b="1" dirty="0">
                <a:ea typeface="+mn-lt"/>
                <a:cs typeface="+mn-lt"/>
              </a:rPr>
              <a:t>Stress.</a:t>
            </a:r>
            <a:r>
              <a:rPr lang="en-US" dirty="0">
                <a:ea typeface="+mn-lt"/>
                <a:cs typeface="+mn-lt"/>
              </a:rPr>
              <a:t> Stress in the family, high parental expectations or other types of pressure can worsen existing stuttering.</a:t>
            </a:r>
            <a:endParaRPr lang="en-US" dirty="0"/>
          </a:p>
          <a:p>
            <a:endParaRPr lang="en-PH" dirty="0"/>
          </a:p>
        </p:txBody>
      </p:sp>
    </p:spTree>
    <p:extLst>
      <p:ext uri="{BB962C8B-B14F-4D97-AF65-F5344CB8AC3E}">
        <p14:creationId xmlns:p14="http://schemas.microsoft.com/office/powerpoint/2010/main" val="3661945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32656"/>
            <a:ext cx="6172200" cy="1224136"/>
          </a:xfrm>
        </p:spPr>
        <p:txBody>
          <a:bodyPr>
            <a:normAutofit/>
          </a:bodyPr>
          <a:lstStyle/>
          <a:p>
            <a:r>
              <a:rPr lang="en-US" sz="4800" b="1" dirty="0"/>
              <a:t>Selective Mutism</a:t>
            </a:r>
            <a:endParaRPr lang="en-PH" sz="4800" b="1" dirty="0"/>
          </a:p>
        </p:txBody>
      </p:sp>
      <p:sp>
        <p:nvSpPr>
          <p:cNvPr id="4" name="Subtitle 3"/>
          <p:cNvSpPr>
            <a:spLocks noGrp="1"/>
          </p:cNvSpPr>
          <p:nvPr>
            <p:ph type="subTitle" idx="1"/>
          </p:nvPr>
        </p:nvSpPr>
        <p:spPr>
          <a:xfrm>
            <a:off x="2286000" y="2060848"/>
            <a:ext cx="6172200" cy="4314074"/>
          </a:xfrm>
        </p:spPr>
        <p:txBody>
          <a:bodyPr>
            <a:normAutofit/>
          </a:bodyPr>
          <a:lstStyle/>
          <a:p>
            <a:pPr algn="just"/>
            <a:r>
              <a:rPr lang="en-US" b="0" dirty="0">
                <a:ea typeface="+mn-lt"/>
                <a:cs typeface="+mn-lt"/>
              </a:rPr>
              <a:t>Selective mutism is a rare and multidimensional childhood disorder that typically affects children entering school age. </a:t>
            </a:r>
          </a:p>
          <a:p>
            <a:pPr algn="just"/>
            <a:r>
              <a:rPr lang="en-US" b="0" dirty="0">
                <a:ea typeface="+mn-lt"/>
                <a:cs typeface="+mn-lt"/>
              </a:rPr>
              <a:t>It is characterized by the persistent failure to speak in select social settings despite possessing the ability to speak and speak comfortably in more familiar settings. Many theories attempt to explain the etiology of selective mutism</a:t>
            </a:r>
            <a:endParaRPr lang="en-PH" b="0" dirty="0"/>
          </a:p>
          <a:p>
            <a:endParaRPr lang="en-PH" b="0" dirty="0"/>
          </a:p>
        </p:txBody>
      </p:sp>
      <p:sp>
        <p:nvSpPr>
          <p:cNvPr id="3" name="AutoShape 2" descr="A child afraid to speak in a social situation.">
            <a:extLst>
              <a:ext uri="{FF2B5EF4-FFF2-40B4-BE49-F238E27FC236}">
                <a16:creationId xmlns:a16="http://schemas.microsoft.com/office/drawing/2014/main" id="{DA0DD590-569D-48E0-A15A-07E8E00E2E16}"/>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5" name="AutoShape 4" descr="A child afraid to speak in a social situation.">
            <a:extLst>
              <a:ext uri="{FF2B5EF4-FFF2-40B4-BE49-F238E27FC236}">
                <a16:creationId xmlns:a16="http://schemas.microsoft.com/office/drawing/2014/main" id="{E8E66EA6-CB0F-4ABE-B610-A6B75C3013F3}"/>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6" name="AutoShape 6" descr="A child afraid to speak in a social situation.">
            <a:extLst>
              <a:ext uri="{FF2B5EF4-FFF2-40B4-BE49-F238E27FC236}">
                <a16:creationId xmlns:a16="http://schemas.microsoft.com/office/drawing/2014/main" id="{6E272451-83F5-4120-BEA8-77E82315A24F}"/>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Tree>
    <p:extLst>
      <p:ext uri="{BB962C8B-B14F-4D97-AF65-F5344CB8AC3E}">
        <p14:creationId xmlns:p14="http://schemas.microsoft.com/office/powerpoint/2010/main" val="18501668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Criteria</a:t>
            </a:r>
            <a:endParaRPr lang="en-PH" dirty="0"/>
          </a:p>
        </p:txBody>
      </p:sp>
      <p:sp>
        <p:nvSpPr>
          <p:cNvPr id="3" name="Content Placeholder 2"/>
          <p:cNvSpPr>
            <a:spLocks noGrp="1"/>
          </p:cNvSpPr>
          <p:nvPr>
            <p:ph sz="quarter" idx="1"/>
          </p:nvPr>
        </p:nvSpPr>
        <p:spPr/>
        <p:txBody>
          <a:bodyPr/>
          <a:lstStyle/>
          <a:p>
            <a:r>
              <a:rPr lang="en-US" dirty="0">
                <a:ea typeface="+mn-lt"/>
                <a:cs typeface="+mn-lt"/>
              </a:rPr>
              <a:t>Consistent failure to speak in specific social situations (in which there is an expectation for speaking, e.g., at school) despite speaking in other situations.</a:t>
            </a:r>
            <a:endParaRPr lang="en-US" dirty="0"/>
          </a:p>
          <a:p>
            <a:r>
              <a:rPr lang="en-US" dirty="0">
                <a:ea typeface="+mn-lt"/>
                <a:cs typeface="+mn-lt"/>
              </a:rPr>
              <a:t>The disturbance interferes with educational or occupational achievement or with social communication.</a:t>
            </a:r>
            <a:endParaRPr lang="en-US" dirty="0"/>
          </a:p>
          <a:p>
            <a:r>
              <a:rPr lang="en-US" dirty="0">
                <a:ea typeface="+mn-lt"/>
                <a:cs typeface="+mn-lt"/>
              </a:rPr>
              <a:t>The duration of the disturbance is at least 1 month (not limited to the first month of school).</a:t>
            </a:r>
            <a:endParaRPr lang="en-US" dirty="0"/>
          </a:p>
          <a:p>
            <a:endParaRPr lang="en-PH" dirty="0"/>
          </a:p>
        </p:txBody>
      </p:sp>
    </p:spTree>
    <p:extLst>
      <p:ext uri="{BB962C8B-B14F-4D97-AF65-F5344CB8AC3E}">
        <p14:creationId xmlns:p14="http://schemas.microsoft.com/office/powerpoint/2010/main" val="35669655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r>
              <a:rPr lang="en-US" dirty="0">
                <a:ea typeface="+mn-lt"/>
                <a:cs typeface="+mn-lt"/>
              </a:rPr>
              <a:t>The failure to speak is not due to a lack of knowledge of, or comfort with, the spoken language required in the social situation.</a:t>
            </a:r>
          </a:p>
          <a:p>
            <a:endParaRPr lang="en-US" dirty="0"/>
          </a:p>
          <a:p>
            <a:r>
              <a:rPr lang="en-US" dirty="0">
                <a:ea typeface="+mn-lt"/>
                <a:cs typeface="+mn-lt"/>
              </a:rPr>
              <a:t>The disturbance is not better accounted for by a Communication Disorder (e.g., stuttering) and does not occur exclusively during a Pervasive Developmental Disorder, Schizophrenia, or other Psychotic Disorder</a:t>
            </a:r>
            <a:endParaRPr lang="en-PH" dirty="0"/>
          </a:p>
        </p:txBody>
      </p:sp>
    </p:spTree>
    <p:extLst>
      <p:ext uri="{BB962C8B-B14F-4D97-AF65-F5344CB8AC3E}">
        <p14:creationId xmlns:p14="http://schemas.microsoft.com/office/powerpoint/2010/main" val="42734275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3FEC-131C-4F85-8C97-D8D79FFA67D1}"/>
              </a:ext>
            </a:extLst>
          </p:cNvPr>
          <p:cNvSpPr>
            <a:spLocks noGrp="1"/>
          </p:cNvSpPr>
          <p:nvPr>
            <p:ph type="title"/>
          </p:nvPr>
        </p:nvSpPr>
        <p:spPr/>
        <p:txBody>
          <a:bodyPr/>
          <a:lstStyle/>
          <a:p>
            <a:endParaRPr lang="en-PH"/>
          </a:p>
        </p:txBody>
      </p:sp>
      <p:pic>
        <p:nvPicPr>
          <p:cNvPr id="4" name="Picture 10" descr="Selective-Mutism-What-It-Is-and-What-It-Means-for-Kids">
            <a:extLst>
              <a:ext uri="{FF2B5EF4-FFF2-40B4-BE49-F238E27FC236}">
                <a16:creationId xmlns:a16="http://schemas.microsoft.com/office/drawing/2014/main" id="{978C9387-D5CF-40C9-96A0-56181BBFB91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1" y="0"/>
            <a:ext cx="896448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41595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Causes</a:t>
            </a:r>
            <a:endParaRPr lang="en-PH" dirty="0"/>
          </a:p>
        </p:txBody>
      </p:sp>
      <p:sp>
        <p:nvSpPr>
          <p:cNvPr id="3" name="Content Placeholder 2"/>
          <p:cNvSpPr>
            <a:spLocks noGrp="1"/>
          </p:cNvSpPr>
          <p:nvPr>
            <p:ph sz="quarter" idx="1"/>
          </p:nvPr>
        </p:nvSpPr>
        <p:spPr/>
        <p:txBody>
          <a:bodyPr/>
          <a:lstStyle/>
          <a:p>
            <a:r>
              <a:rPr lang="en-US" dirty="0">
                <a:ea typeface="+mn-lt"/>
                <a:cs typeface="+mn-lt"/>
              </a:rPr>
              <a:t>Experts regard selective </a:t>
            </a:r>
            <a:r>
              <a:rPr lang="en-US" dirty="0" err="1">
                <a:ea typeface="+mn-lt"/>
                <a:cs typeface="+mn-lt"/>
              </a:rPr>
              <a:t>mutism</a:t>
            </a:r>
            <a:r>
              <a:rPr lang="en-US" dirty="0">
                <a:ea typeface="+mn-lt"/>
                <a:cs typeface="+mn-lt"/>
              </a:rPr>
              <a:t> as a fear </a:t>
            </a:r>
            <a:r>
              <a:rPr lang="en-US" dirty="0">
                <a:ea typeface="+mn-lt"/>
                <a:cs typeface="+mn-lt"/>
                <a:hlinkClick r:id="rId2"/>
              </a:rPr>
              <a:t>(phobia)</a:t>
            </a:r>
            <a:r>
              <a:rPr lang="en-US" dirty="0">
                <a:ea typeface="+mn-lt"/>
                <a:cs typeface="+mn-lt"/>
              </a:rPr>
              <a:t> of talking to certain people. The cause is not always clear, but it's known to be associated with anxiety.</a:t>
            </a:r>
          </a:p>
          <a:p>
            <a:r>
              <a:rPr lang="en-US" dirty="0">
                <a:ea typeface="+mn-lt"/>
                <a:cs typeface="+mn-lt"/>
              </a:rPr>
              <a:t>Many children become too distressed to speak when separated from their parents and transfer this anxiety to the adults who try to settle them.</a:t>
            </a:r>
          </a:p>
          <a:p>
            <a:endParaRPr lang="en-PH" dirty="0"/>
          </a:p>
        </p:txBody>
      </p:sp>
    </p:spTree>
    <p:extLst>
      <p:ext uri="{BB962C8B-B14F-4D97-AF65-F5344CB8AC3E}">
        <p14:creationId xmlns:p14="http://schemas.microsoft.com/office/powerpoint/2010/main" val="15550494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sz="quarter" idx="1"/>
          </p:nvPr>
        </p:nvSpPr>
        <p:spPr/>
        <p:txBody>
          <a:bodyPr/>
          <a:lstStyle/>
          <a:p>
            <a:r>
              <a:rPr lang="en-US" dirty="0">
                <a:ea typeface="+mn-lt"/>
                <a:cs typeface="+mn-lt"/>
              </a:rPr>
              <a:t>If they have a speech and language disorder or hearing problem, it can make speaking even more stressful.</a:t>
            </a:r>
          </a:p>
          <a:p>
            <a:r>
              <a:rPr lang="en-US" dirty="0">
                <a:ea typeface="+mn-lt"/>
                <a:cs typeface="+mn-lt"/>
              </a:rPr>
              <a:t>Some children have trouble processing sensory information such as loud noise and jostling from crowds – a condition known as sensory integration dysfunction.</a:t>
            </a:r>
            <a:endParaRPr lang="en-US" dirty="0"/>
          </a:p>
          <a:p>
            <a:endParaRPr lang="en-PH" dirty="0"/>
          </a:p>
        </p:txBody>
      </p:sp>
    </p:spTree>
    <p:extLst>
      <p:ext uri="{BB962C8B-B14F-4D97-AF65-F5344CB8AC3E}">
        <p14:creationId xmlns:p14="http://schemas.microsoft.com/office/powerpoint/2010/main" val="4221533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comorbidity</a:t>
            </a:r>
            <a:endParaRPr lang="en-PH" sz="4000" b="1" dirty="0"/>
          </a:p>
        </p:txBody>
      </p:sp>
      <p:sp>
        <p:nvSpPr>
          <p:cNvPr id="3" name="Content Placeholder 2"/>
          <p:cNvSpPr>
            <a:spLocks noGrp="1"/>
          </p:cNvSpPr>
          <p:nvPr>
            <p:ph sz="quarter" idx="1"/>
          </p:nvPr>
        </p:nvSpPr>
        <p:spPr/>
        <p:txBody>
          <a:bodyPr/>
          <a:lstStyle/>
          <a:p>
            <a:r>
              <a:rPr lang="en-US" dirty="0">
                <a:ea typeface="+mn-lt"/>
                <a:cs typeface="+mn-lt"/>
              </a:rPr>
              <a:t>psychiatric or language/speech development disorders</a:t>
            </a:r>
          </a:p>
          <a:p>
            <a:r>
              <a:rPr lang="en-US" dirty="0">
                <a:ea typeface="+mn-lt"/>
                <a:cs typeface="+mn-lt"/>
              </a:rPr>
              <a:t>enuresis,</a:t>
            </a:r>
          </a:p>
          <a:p>
            <a:r>
              <a:rPr lang="en-US" dirty="0">
                <a:ea typeface="+mn-lt"/>
                <a:cs typeface="+mn-lt"/>
              </a:rPr>
              <a:t>encopresis,</a:t>
            </a:r>
          </a:p>
          <a:p>
            <a:r>
              <a:rPr lang="en-US" dirty="0">
                <a:ea typeface="+mn-lt"/>
                <a:cs typeface="+mn-lt"/>
              </a:rPr>
              <a:t>obsessive-compulsive disorder,</a:t>
            </a:r>
          </a:p>
          <a:p>
            <a:r>
              <a:rPr lang="en-US" dirty="0">
                <a:ea typeface="+mn-lt"/>
                <a:cs typeface="+mn-lt"/>
              </a:rPr>
              <a:t>depression,</a:t>
            </a:r>
          </a:p>
          <a:p>
            <a:r>
              <a:rPr lang="en-US" dirty="0">
                <a:ea typeface="+mn-lt"/>
                <a:cs typeface="+mn-lt"/>
              </a:rPr>
              <a:t>premorbid speech and language abnormalities,</a:t>
            </a:r>
          </a:p>
          <a:p>
            <a:r>
              <a:rPr lang="en-US" dirty="0">
                <a:ea typeface="+mn-lt"/>
                <a:cs typeface="+mn-lt"/>
              </a:rPr>
              <a:t>developmental delay,</a:t>
            </a:r>
          </a:p>
          <a:p>
            <a:r>
              <a:rPr lang="en-US" dirty="0">
                <a:ea typeface="+mn-lt"/>
                <a:cs typeface="+mn-lt"/>
              </a:rPr>
              <a:t>Asperger's disorders</a:t>
            </a:r>
            <a:endParaRPr lang="en-US" dirty="0"/>
          </a:p>
          <a:p>
            <a:endParaRPr lang="en-PH" dirty="0"/>
          </a:p>
        </p:txBody>
      </p:sp>
    </p:spTree>
    <p:extLst>
      <p:ext uri="{BB962C8B-B14F-4D97-AF65-F5344CB8AC3E}">
        <p14:creationId xmlns:p14="http://schemas.microsoft.com/office/powerpoint/2010/main" val="2751293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Treatment</a:t>
            </a:r>
            <a:endParaRPr lang="en-PH" sz="4000" b="1" dirty="0"/>
          </a:p>
        </p:txBody>
      </p:sp>
      <p:sp>
        <p:nvSpPr>
          <p:cNvPr id="3" name="Content Placeholder 2"/>
          <p:cNvSpPr>
            <a:spLocks noGrp="1"/>
          </p:cNvSpPr>
          <p:nvPr>
            <p:ph sz="quarter" idx="1"/>
          </p:nvPr>
        </p:nvSpPr>
        <p:spPr/>
        <p:txBody>
          <a:bodyPr>
            <a:normAutofit/>
          </a:bodyPr>
          <a:lstStyle/>
          <a:p>
            <a:r>
              <a:rPr lang="en-US" b="1" dirty="0">
                <a:ea typeface="+mn-lt"/>
                <a:cs typeface="+mn-lt"/>
                <a:hlinkClick r:id="rId2"/>
              </a:rPr>
              <a:t>Social Communication Anxiety Therapy</a:t>
            </a:r>
            <a:endParaRPr lang="en-US" b="1" dirty="0">
              <a:ea typeface="+mn-lt"/>
              <a:cs typeface="+mn-lt"/>
            </a:endParaRPr>
          </a:p>
          <a:p>
            <a:r>
              <a:rPr lang="en-US" b="1" dirty="0">
                <a:ea typeface="+mn-lt"/>
                <a:cs typeface="+mn-lt"/>
              </a:rPr>
              <a:t>Behavioral Therapy</a:t>
            </a:r>
            <a:endParaRPr lang="en-US" dirty="0">
              <a:ea typeface="+mn-lt"/>
              <a:cs typeface="+mn-lt"/>
            </a:endParaRPr>
          </a:p>
          <a:p>
            <a:r>
              <a:rPr lang="en-US" b="1" dirty="0">
                <a:ea typeface="+mn-lt"/>
                <a:cs typeface="+mn-lt"/>
              </a:rPr>
              <a:t>Play Therapy, Psychotherapy, and other psychological approaches</a:t>
            </a:r>
            <a:endParaRPr lang="en-US" dirty="0">
              <a:ea typeface="+mn-lt"/>
              <a:cs typeface="+mn-lt"/>
            </a:endParaRPr>
          </a:p>
          <a:p>
            <a:r>
              <a:rPr lang="en-US" b="1" dirty="0">
                <a:ea typeface="+mn-lt"/>
                <a:cs typeface="+mn-lt"/>
              </a:rPr>
              <a:t>Cognitive Behavioral Therapy</a:t>
            </a:r>
            <a:endParaRPr lang="en-US" dirty="0">
              <a:ea typeface="+mn-lt"/>
              <a:cs typeface="+mn-lt"/>
            </a:endParaRPr>
          </a:p>
          <a:p>
            <a:r>
              <a:rPr lang="en-US" b="1" dirty="0">
                <a:ea typeface="+mn-lt"/>
                <a:cs typeface="+mn-lt"/>
              </a:rPr>
              <a:t>Medication</a:t>
            </a:r>
            <a:endParaRPr lang="en-US" dirty="0">
              <a:ea typeface="+mn-lt"/>
              <a:cs typeface="+mn-lt"/>
            </a:endParaRPr>
          </a:p>
          <a:p>
            <a:r>
              <a:rPr lang="en-US" b="1" dirty="0">
                <a:ea typeface="+mn-lt"/>
                <a:cs typeface="+mn-lt"/>
              </a:rPr>
              <a:t>Self-esteem boosters</a:t>
            </a:r>
            <a:endParaRPr lang="en-US" dirty="0">
              <a:ea typeface="+mn-lt"/>
              <a:cs typeface="+mn-lt"/>
            </a:endParaRPr>
          </a:p>
          <a:p>
            <a:r>
              <a:rPr lang="en-US" b="1" dirty="0">
                <a:ea typeface="+mn-lt"/>
                <a:cs typeface="+mn-lt"/>
              </a:rPr>
              <a:t>Frequent socialization</a:t>
            </a:r>
            <a:endParaRPr lang="en-US" dirty="0">
              <a:ea typeface="+mn-lt"/>
              <a:cs typeface="+mn-lt"/>
            </a:endParaRPr>
          </a:p>
          <a:p>
            <a:r>
              <a:rPr lang="en-US" b="1" dirty="0">
                <a:ea typeface="+mn-lt"/>
                <a:cs typeface="+mn-lt"/>
              </a:rPr>
              <a:t>School involvement</a:t>
            </a:r>
            <a:endParaRPr lang="en-US" dirty="0">
              <a:ea typeface="+mn-lt"/>
              <a:cs typeface="+mn-lt"/>
            </a:endParaRPr>
          </a:p>
          <a:p>
            <a:r>
              <a:rPr lang="en-US" b="1" dirty="0">
                <a:ea typeface="+mn-lt"/>
                <a:cs typeface="+mn-lt"/>
              </a:rPr>
              <a:t>Family involvement and parental acceptance</a:t>
            </a:r>
            <a:endParaRPr lang="en-US" dirty="0"/>
          </a:p>
          <a:p>
            <a:endParaRPr lang="en-PH" dirty="0"/>
          </a:p>
        </p:txBody>
      </p:sp>
    </p:spTree>
    <p:extLst>
      <p:ext uri="{BB962C8B-B14F-4D97-AF65-F5344CB8AC3E}">
        <p14:creationId xmlns:p14="http://schemas.microsoft.com/office/powerpoint/2010/main" val="8786445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6000" dirty="0"/>
              <a:t>Tic Disorder</a:t>
            </a:r>
            <a:endParaRPr lang="en-PH" sz="6000" dirty="0"/>
          </a:p>
        </p:txBody>
      </p:sp>
      <p:sp>
        <p:nvSpPr>
          <p:cNvPr id="5" name="Subtitle 4"/>
          <p:cNvSpPr>
            <a:spLocks noGrp="1"/>
          </p:cNvSpPr>
          <p:nvPr>
            <p:ph type="subTitle" idx="1"/>
          </p:nvPr>
        </p:nvSpPr>
        <p:spPr/>
        <p:txBody>
          <a:bodyPr/>
          <a:lstStyle/>
          <a:p>
            <a:endParaRPr lang="en-PH"/>
          </a:p>
        </p:txBody>
      </p:sp>
    </p:spTree>
    <p:extLst>
      <p:ext uri="{BB962C8B-B14F-4D97-AF65-F5344CB8AC3E}">
        <p14:creationId xmlns:p14="http://schemas.microsoft.com/office/powerpoint/2010/main" val="10947704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PH" sz="3600" b="1" dirty="0"/>
              <a:t>Tic Disorder</a:t>
            </a:r>
          </a:p>
        </p:txBody>
      </p:sp>
      <p:sp>
        <p:nvSpPr>
          <p:cNvPr id="3" name="Content Placeholder 2"/>
          <p:cNvSpPr>
            <a:spLocks noGrp="1"/>
          </p:cNvSpPr>
          <p:nvPr>
            <p:ph sz="quarter" idx="1"/>
          </p:nvPr>
        </p:nvSpPr>
        <p:spPr/>
        <p:txBody>
          <a:bodyPr>
            <a:normAutofit/>
          </a:bodyPr>
          <a:lstStyle/>
          <a:p>
            <a:r>
              <a:rPr lang="en-US" dirty="0">
                <a:ea typeface="+mn-lt"/>
                <a:cs typeface="+mn-lt"/>
              </a:rPr>
              <a:t>Tics are defined as rapid and repetitive muscle contractions resulting in movement or vocalizations that are involuntary.</a:t>
            </a:r>
          </a:p>
          <a:p>
            <a:endParaRPr lang="en-US" dirty="0">
              <a:ea typeface="+mn-lt"/>
              <a:cs typeface="+mn-lt"/>
            </a:endParaRPr>
          </a:p>
          <a:p>
            <a:endParaRPr lang="en-US" dirty="0">
              <a:ea typeface="+mn-lt"/>
              <a:cs typeface="+mn-lt"/>
            </a:endParaRPr>
          </a:p>
          <a:p>
            <a:r>
              <a:rPr lang="en-US" b="1" dirty="0">
                <a:ea typeface="+mn-lt"/>
                <a:cs typeface="+mn-lt"/>
              </a:rPr>
              <a:t>Four diagnostic Categories</a:t>
            </a:r>
          </a:p>
          <a:p>
            <a:r>
              <a:rPr lang="en-US" dirty="0">
                <a:ea typeface="+mn-lt"/>
                <a:cs typeface="+mn-lt"/>
              </a:rPr>
              <a:t>1. Tourette Disorder</a:t>
            </a:r>
          </a:p>
          <a:p>
            <a:r>
              <a:rPr lang="en-US" dirty="0">
                <a:ea typeface="+mn-lt"/>
                <a:cs typeface="+mn-lt"/>
              </a:rPr>
              <a:t>2. Persistent ( Chronic ) motor or vocal Tic disorder</a:t>
            </a:r>
          </a:p>
          <a:p>
            <a:r>
              <a:rPr lang="en-US" dirty="0">
                <a:ea typeface="+mn-lt"/>
                <a:cs typeface="+mn-lt"/>
              </a:rPr>
              <a:t>3. provisional Tic disorder</a:t>
            </a:r>
          </a:p>
          <a:p>
            <a:r>
              <a:rPr lang="en-US" dirty="0">
                <a:ea typeface="+mn-lt"/>
                <a:cs typeface="+mn-lt"/>
              </a:rPr>
              <a:t>4. other specified or unspecified tic disorder</a:t>
            </a:r>
            <a:endParaRPr lang="en-PH" dirty="0"/>
          </a:p>
        </p:txBody>
      </p:sp>
    </p:spTree>
    <p:extLst>
      <p:ext uri="{BB962C8B-B14F-4D97-AF65-F5344CB8AC3E}">
        <p14:creationId xmlns:p14="http://schemas.microsoft.com/office/powerpoint/2010/main" val="208996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ea typeface="+mn-lt"/>
                <a:cs typeface="+mn-lt"/>
              </a:rPr>
              <a:t>Tourette’s Disorder </a:t>
            </a:r>
            <a:endParaRPr lang="en-PH" sz="3600" b="1" dirty="0"/>
          </a:p>
        </p:txBody>
      </p:sp>
      <p:sp>
        <p:nvSpPr>
          <p:cNvPr id="3" name="Content Placeholder 2"/>
          <p:cNvSpPr>
            <a:spLocks noGrp="1"/>
          </p:cNvSpPr>
          <p:nvPr>
            <p:ph sz="quarter" idx="1"/>
          </p:nvPr>
        </p:nvSpPr>
        <p:spPr/>
        <p:txBody>
          <a:bodyPr/>
          <a:lstStyle/>
          <a:p>
            <a:r>
              <a:rPr lang="en-US" dirty="0">
                <a:ea typeface="+mn-lt"/>
                <a:cs typeface="+mn-lt"/>
              </a:rPr>
              <a:t>Tourette’s Disorder </a:t>
            </a:r>
          </a:p>
          <a:p>
            <a:r>
              <a:rPr lang="en-US" dirty="0">
                <a:ea typeface="+mn-lt"/>
                <a:cs typeface="+mn-lt"/>
              </a:rPr>
              <a:t>A. Both multiple motor and one or more vocal tics have been present at some time during the illness, although not necessarily concurrently. </a:t>
            </a:r>
          </a:p>
          <a:p>
            <a:r>
              <a:rPr lang="en-US" dirty="0">
                <a:ea typeface="+mn-lt"/>
                <a:cs typeface="+mn-lt"/>
              </a:rPr>
              <a:t>Onset is before age 18 years. </a:t>
            </a:r>
          </a:p>
          <a:p>
            <a:r>
              <a:rPr lang="en-US" dirty="0">
                <a:ea typeface="+mn-lt"/>
                <a:cs typeface="+mn-lt"/>
              </a:rPr>
              <a:t>The disturbance is not attributable to the physiological effects of a substance (e.g., cocaine) or another medical condition (e.g., Huntington’s disease, </a:t>
            </a:r>
            <a:r>
              <a:rPr lang="en-US" dirty="0" err="1">
                <a:ea typeface="+mn-lt"/>
                <a:cs typeface="+mn-lt"/>
              </a:rPr>
              <a:t>postviral</a:t>
            </a:r>
            <a:r>
              <a:rPr lang="en-US" dirty="0">
                <a:ea typeface="+mn-lt"/>
                <a:cs typeface="+mn-lt"/>
              </a:rPr>
              <a:t> encephalitis).</a:t>
            </a:r>
            <a:endParaRPr lang="en-US" dirty="0"/>
          </a:p>
        </p:txBody>
      </p:sp>
    </p:spTree>
    <p:extLst>
      <p:ext uri="{BB962C8B-B14F-4D97-AF65-F5344CB8AC3E}">
        <p14:creationId xmlns:p14="http://schemas.microsoft.com/office/powerpoint/2010/main" val="14081461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ea typeface="+mn-lt"/>
                <a:cs typeface="+mn-lt"/>
              </a:rPr>
              <a:t>Persistent (Chronic) Motor or Vocal Tic Disorder </a:t>
            </a:r>
            <a:endParaRPr lang="en-PH" sz="3600" b="1" dirty="0"/>
          </a:p>
        </p:txBody>
      </p:sp>
      <p:sp>
        <p:nvSpPr>
          <p:cNvPr id="3" name="Content Placeholder 2"/>
          <p:cNvSpPr>
            <a:spLocks noGrp="1"/>
          </p:cNvSpPr>
          <p:nvPr>
            <p:ph sz="quarter" idx="1"/>
          </p:nvPr>
        </p:nvSpPr>
        <p:spPr/>
        <p:txBody>
          <a:bodyPr>
            <a:normAutofit fontScale="92500" lnSpcReduction="10000"/>
          </a:bodyPr>
          <a:lstStyle/>
          <a:p>
            <a:r>
              <a:rPr lang="en-US" dirty="0">
                <a:ea typeface="+mn-lt"/>
                <a:cs typeface="+mn-lt"/>
              </a:rPr>
              <a:t>Persistent (Chronic) Motor or Vocal Tic Disorder </a:t>
            </a:r>
          </a:p>
          <a:p>
            <a:endParaRPr lang="en-US" dirty="0">
              <a:ea typeface="+mn-lt"/>
              <a:cs typeface="+mn-lt"/>
            </a:endParaRPr>
          </a:p>
          <a:p>
            <a:r>
              <a:rPr lang="en-US" dirty="0">
                <a:ea typeface="+mn-lt"/>
                <a:cs typeface="+mn-lt"/>
              </a:rPr>
              <a:t>A. Single or multiple motor or vocal tics have been present during the illness, but not both motor and vocal. </a:t>
            </a:r>
          </a:p>
          <a:p>
            <a:r>
              <a:rPr lang="en-US" dirty="0">
                <a:ea typeface="+mn-lt"/>
                <a:cs typeface="+mn-lt"/>
              </a:rPr>
              <a:t>B. The tics may wax and wane in frequency but have persisted for more than 1 year since first tic onset. </a:t>
            </a:r>
          </a:p>
          <a:p>
            <a:r>
              <a:rPr lang="en-US" dirty="0">
                <a:ea typeface="+mn-lt"/>
                <a:cs typeface="+mn-lt"/>
              </a:rPr>
              <a:t>C. Onset is before age 18 years. </a:t>
            </a:r>
          </a:p>
          <a:p>
            <a:r>
              <a:rPr lang="en-US" dirty="0">
                <a:ea typeface="+mn-lt"/>
                <a:cs typeface="+mn-lt"/>
              </a:rPr>
              <a:t>D. The disturbance is not attributable to the physiological effects of a substance (e.g., cocaine) or another medical condition (e.g., Huntington’s disease, </a:t>
            </a:r>
            <a:r>
              <a:rPr lang="en-US" dirty="0" err="1">
                <a:ea typeface="+mn-lt"/>
                <a:cs typeface="+mn-lt"/>
              </a:rPr>
              <a:t>postviral</a:t>
            </a:r>
            <a:r>
              <a:rPr lang="en-US" dirty="0">
                <a:ea typeface="+mn-lt"/>
                <a:cs typeface="+mn-lt"/>
              </a:rPr>
              <a:t> encephalitis). E. Criteria have never been met for Tourette’s disorder. Specify if: With motor tics only With vocal tic</a:t>
            </a:r>
            <a:endParaRPr lang="en-PH" dirty="0"/>
          </a:p>
        </p:txBody>
      </p:sp>
    </p:spTree>
    <p:extLst>
      <p:ext uri="{BB962C8B-B14F-4D97-AF65-F5344CB8AC3E}">
        <p14:creationId xmlns:p14="http://schemas.microsoft.com/office/powerpoint/2010/main" val="20750087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ea typeface="+mn-lt"/>
                <a:cs typeface="+mn-lt"/>
              </a:rPr>
              <a:t>Provisional Tic Disorder</a:t>
            </a:r>
            <a:endParaRPr lang="en-PH" sz="3600" b="1" dirty="0"/>
          </a:p>
        </p:txBody>
      </p:sp>
      <p:sp>
        <p:nvSpPr>
          <p:cNvPr id="3" name="Content Placeholder 2"/>
          <p:cNvSpPr>
            <a:spLocks noGrp="1"/>
          </p:cNvSpPr>
          <p:nvPr>
            <p:ph sz="quarter" idx="1"/>
          </p:nvPr>
        </p:nvSpPr>
        <p:spPr/>
        <p:txBody>
          <a:bodyPr>
            <a:normAutofit lnSpcReduction="10000"/>
          </a:bodyPr>
          <a:lstStyle/>
          <a:p>
            <a:pPr marL="0" indent="0">
              <a:buNone/>
            </a:pPr>
            <a:r>
              <a:rPr lang="en-US" dirty="0">
                <a:ea typeface="+mn-lt"/>
                <a:cs typeface="+mn-lt"/>
              </a:rPr>
              <a:t>   A. Single or multiple motor and/or vocal tics. </a:t>
            </a:r>
          </a:p>
          <a:p>
            <a:r>
              <a:rPr lang="en-US" dirty="0">
                <a:ea typeface="+mn-lt"/>
                <a:cs typeface="+mn-lt"/>
              </a:rPr>
              <a:t>B. The tics have been present for less than 1 year since first tic onset. </a:t>
            </a:r>
          </a:p>
          <a:p>
            <a:r>
              <a:rPr lang="en-US" dirty="0">
                <a:ea typeface="+mn-lt"/>
                <a:cs typeface="+mn-lt"/>
              </a:rPr>
              <a:t>C. Onset is before age 18 years. </a:t>
            </a:r>
          </a:p>
          <a:p>
            <a:r>
              <a:rPr lang="en-US" dirty="0">
                <a:ea typeface="+mn-lt"/>
                <a:cs typeface="+mn-lt"/>
              </a:rPr>
              <a:t>D. The disturbance is not attributable to the physiological effects of a substance (e.g., cocaine) or another medical condition (e.g., Huntington’s disease, </a:t>
            </a:r>
            <a:r>
              <a:rPr lang="en-US" dirty="0" err="1">
                <a:ea typeface="+mn-lt"/>
                <a:cs typeface="+mn-lt"/>
              </a:rPr>
              <a:t>postviral</a:t>
            </a:r>
            <a:r>
              <a:rPr lang="en-US" dirty="0">
                <a:ea typeface="+mn-lt"/>
                <a:cs typeface="+mn-lt"/>
              </a:rPr>
              <a:t> encephalitis). E. Criteria have never been met for Tourette’s disorder or persistent (chronic) motor or vocal tic disorder. </a:t>
            </a:r>
            <a:r>
              <a:rPr lang="en-US" dirty="0" err="1">
                <a:ea typeface="+mn-lt"/>
                <a:cs typeface="+mn-lt"/>
              </a:rPr>
              <a:t>Specifiers</a:t>
            </a:r>
            <a:r>
              <a:rPr lang="en-US" dirty="0">
                <a:ea typeface="+mn-lt"/>
                <a:cs typeface="+mn-lt"/>
              </a:rPr>
              <a:t> The “motor tics only” or “vocal tics only” </a:t>
            </a:r>
            <a:r>
              <a:rPr lang="en-US" dirty="0" err="1">
                <a:ea typeface="+mn-lt"/>
                <a:cs typeface="+mn-lt"/>
              </a:rPr>
              <a:t>specifier</a:t>
            </a:r>
            <a:r>
              <a:rPr lang="en-US" dirty="0">
                <a:ea typeface="+mn-lt"/>
                <a:cs typeface="+mn-lt"/>
              </a:rPr>
              <a:t> is only required for persistent (chronic) motor or vocal tic disorder. </a:t>
            </a:r>
            <a:endParaRPr lang="en-US" dirty="0"/>
          </a:p>
          <a:p>
            <a:endParaRPr lang="en-PH" dirty="0"/>
          </a:p>
        </p:txBody>
      </p:sp>
    </p:spTree>
    <p:extLst>
      <p:ext uri="{BB962C8B-B14F-4D97-AF65-F5344CB8AC3E}">
        <p14:creationId xmlns:p14="http://schemas.microsoft.com/office/powerpoint/2010/main" val="3543024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9FABD-B9D5-4AC3-A6CB-76F58304A8EA}"/>
              </a:ext>
            </a:extLst>
          </p:cNvPr>
          <p:cNvSpPr>
            <a:spLocks noGrp="1"/>
          </p:cNvSpPr>
          <p:nvPr>
            <p:ph type="title"/>
          </p:nvPr>
        </p:nvSpPr>
        <p:spPr/>
        <p:txBody>
          <a:bodyPr/>
          <a:lstStyle/>
          <a:p>
            <a:r>
              <a:rPr lang="en-PH" dirty="0"/>
              <a:t>Simple Tics </a:t>
            </a:r>
          </a:p>
        </p:txBody>
      </p:sp>
      <p:sp>
        <p:nvSpPr>
          <p:cNvPr id="3" name="Content Placeholder 2">
            <a:extLst>
              <a:ext uri="{FF2B5EF4-FFF2-40B4-BE49-F238E27FC236}">
                <a16:creationId xmlns:a16="http://schemas.microsoft.com/office/drawing/2014/main" id="{5350B982-8950-47CD-BE6A-3BACCCDACB98}"/>
              </a:ext>
            </a:extLst>
          </p:cNvPr>
          <p:cNvSpPr>
            <a:spLocks noGrp="1"/>
          </p:cNvSpPr>
          <p:nvPr>
            <p:ph sz="quarter" idx="1"/>
          </p:nvPr>
        </p:nvSpPr>
        <p:spPr/>
        <p:txBody>
          <a:bodyPr/>
          <a:lstStyle/>
          <a:p>
            <a:r>
              <a:rPr lang="en-US" b="0" i="0" dirty="0">
                <a:solidFill>
                  <a:srgbClr val="001D35"/>
                </a:solidFill>
                <a:effectLst/>
                <a:latin typeface="Google Sans"/>
              </a:rPr>
              <a:t>Simple tics are quick, sudden, repetitive, and non-rhythmic movements or sounds that involve a few muscle groups. They are more common than complex tics and often precede them. </a:t>
            </a:r>
          </a:p>
          <a:p>
            <a:endParaRPr lang="en-US" dirty="0">
              <a:solidFill>
                <a:srgbClr val="001D35"/>
              </a:solidFill>
              <a:latin typeface="Google Sans"/>
            </a:endParaRPr>
          </a:p>
          <a:p>
            <a:r>
              <a:rPr lang="en-US" b="0" i="0" dirty="0">
                <a:solidFill>
                  <a:srgbClr val="001D35"/>
                </a:solidFill>
                <a:effectLst/>
                <a:latin typeface="Google Sans"/>
              </a:rPr>
              <a:t>Examples of simple motor tics include blinking, grimacing, head jerking, and shoulder shrugging,</a:t>
            </a:r>
            <a:endParaRPr lang="en-PH" dirty="0"/>
          </a:p>
        </p:txBody>
      </p:sp>
    </p:spTree>
    <p:extLst>
      <p:ext uri="{BB962C8B-B14F-4D97-AF65-F5344CB8AC3E}">
        <p14:creationId xmlns:p14="http://schemas.microsoft.com/office/powerpoint/2010/main" val="27077562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Causes</a:t>
            </a:r>
            <a:endParaRPr lang="en-PH" sz="3600" b="1" dirty="0"/>
          </a:p>
        </p:txBody>
      </p:sp>
      <p:sp>
        <p:nvSpPr>
          <p:cNvPr id="3" name="Content Placeholder 2"/>
          <p:cNvSpPr>
            <a:spLocks noGrp="1"/>
          </p:cNvSpPr>
          <p:nvPr>
            <p:ph sz="quarter" idx="1"/>
          </p:nvPr>
        </p:nvSpPr>
        <p:spPr/>
        <p:txBody>
          <a:bodyPr>
            <a:normAutofit fontScale="85000" lnSpcReduction="10000"/>
          </a:bodyPr>
          <a:lstStyle/>
          <a:p>
            <a:r>
              <a:rPr lang="en-US" dirty="0">
                <a:ea typeface="+mn-lt"/>
                <a:cs typeface="+mn-lt"/>
              </a:rPr>
              <a:t>There is no known cause of transient tic disorder. Like Tourette syndrome and other tic disorders, a combination of factors influences it.</a:t>
            </a:r>
            <a:endParaRPr lang="en-US" dirty="0"/>
          </a:p>
          <a:p>
            <a:r>
              <a:rPr lang="en-US" dirty="0">
                <a:ea typeface="+mn-lt"/>
                <a:cs typeface="+mn-lt"/>
              </a:rPr>
              <a:t>Some research indicates that tic disorders may be inherited. A genetic mutation can cause Tourette syndrome in rare cases.</a:t>
            </a:r>
            <a:endParaRPr lang="en-US" dirty="0"/>
          </a:p>
          <a:p>
            <a:r>
              <a:rPr lang="en-US" dirty="0">
                <a:ea typeface="+mn-lt"/>
                <a:cs typeface="+mn-lt"/>
              </a:rPr>
              <a:t>Abnormalities in the brain may also be responsible for tic disorders. Such abnormalities are the cause of other mental conditions, such as </a:t>
            </a:r>
            <a:r>
              <a:rPr lang="en-US" dirty="0">
                <a:ea typeface="+mn-lt"/>
                <a:cs typeface="+mn-lt"/>
                <a:hlinkClick r:id="rId2"/>
              </a:rPr>
              <a:t>depression</a:t>
            </a:r>
            <a:r>
              <a:rPr lang="en-US" dirty="0">
                <a:ea typeface="+mn-lt"/>
                <a:cs typeface="+mn-lt"/>
              </a:rPr>
              <a:t> and </a:t>
            </a:r>
            <a:r>
              <a:rPr lang="en-US" dirty="0">
                <a:ea typeface="+mn-lt"/>
                <a:cs typeface="+mn-lt"/>
                <a:hlinkClick r:id="rId3"/>
              </a:rPr>
              <a:t>attention deficit hyperactivity disorder (ADHD)</a:t>
            </a:r>
            <a:r>
              <a:rPr lang="en-US" dirty="0">
                <a:ea typeface="+mn-lt"/>
                <a:cs typeface="+mn-lt"/>
              </a:rPr>
              <a:t>.</a:t>
            </a:r>
            <a:endParaRPr lang="en-US" dirty="0"/>
          </a:p>
          <a:p>
            <a:r>
              <a:rPr lang="en-US" dirty="0">
                <a:ea typeface="+mn-lt"/>
                <a:cs typeface="+mn-lt"/>
              </a:rPr>
              <a:t>Some research suggests that transient tic disorder could be linked to neurotransmitters. Neurotransmitters are the chemicals in the brain that transmit nerve signals to your cells. However, no studies offer complete proof of the role neurotransmitters play. Medications to treat transient tic disorder alter neurotransmitter levels.</a:t>
            </a:r>
            <a:endParaRPr lang="en-US" dirty="0"/>
          </a:p>
        </p:txBody>
      </p:sp>
    </p:spTree>
    <p:extLst>
      <p:ext uri="{BB962C8B-B14F-4D97-AF65-F5344CB8AC3E}">
        <p14:creationId xmlns:p14="http://schemas.microsoft.com/office/powerpoint/2010/main" val="36265549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Comorbidity</a:t>
            </a:r>
            <a:endParaRPr lang="en-PH" sz="3600" b="1" dirty="0"/>
          </a:p>
        </p:txBody>
      </p:sp>
      <p:sp>
        <p:nvSpPr>
          <p:cNvPr id="3" name="Content Placeholder 2"/>
          <p:cNvSpPr>
            <a:spLocks noGrp="1"/>
          </p:cNvSpPr>
          <p:nvPr>
            <p:ph sz="quarter" idx="1"/>
          </p:nvPr>
        </p:nvSpPr>
        <p:spPr/>
        <p:txBody>
          <a:bodyPr>
            <a:normAutofit/>
          </a:bodyPr>
          <a:lstStyle/>
          <a:p>
            <a:endParaRPr lang="en-PH" dirty="0"/>
          </a:p>
        </p:txBody>
      </p:sp>
    </p:spTree>
    <p:extLst>
      <p:ext uri="{BB962C8B-B14F-4D97-AF65-F5344CB8AC3E}">
        <p14:creationId xmlns:p14="http://schemas.microsoft.com/office/powerpoint/2010/main" val="30646710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1517</TotalTime>
  <Words>2998</Words>
  <Application>Microsoft Office PowerPoint</Application>
  <PresentationFormat>On-screen Show (4:3)</PresentationFormat>
  <Paragraphs>312</Paragraphs>
  <Slides>69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69</vt:i4>
      </vt:variant>
    </vt:vector>
  </HeadingPairs>
  <TitlesOfParts>
    <vt:vector size="79" baseType="lpstr">
      <vt:lpstr>Gungsuh</vt:lpstr>
      <vt:lpstr>Arial</vt:lpstr>
      <vt:lpstr>Calibri</vt:lpstr>
      <vt:lpstr>Candara</vt:lpstr>
      <vt:lpstr>Century Schoolbook</vt:lpstr>
      <vt:lpstr>Google Sans</vt:lpstr>
      <vt:lpstr>Times New Roman</vt:lpstr>
      <vt:lpstr>Wingdings</vt:lpstr>
      <vt:lpstr>Wingdings 2</vt:lpstr>
      <vt:lpstr>Oriel</vt:lpstr>
      <vt:lpstr>PowerPoint Presentation</vt:lpstr>
      <vt:lpstr>NEURO DEVELOPMENTAL DISORDERS</vt:lpstr>
      <vt:lpstr>Neuro developmental disorders </vt:lpstr>
      <vt:lpstr>NEURO DEVELOPMENTAL DISORDERS</vt:lpstr>
      <vt:lpstr>PowerPoint Presentation</vt:lpstr>
      <vt:lpstr>Attention Deficit/ Hyperactivity Disorder or ADHD</vt:lpstr>
      <vt:lpstr>Diagnostic Criteria</vt:lpstr>
      <vt:lpstr>PowerPoint Presentation</vt:lpstr>
      <vt:lpstr>causes</vt:lpstr>
      <vt:lpstr>comorbidity</vt:lpstr>
      <vt:lpstr>Treatment</vt:lpstr>
      <vt:lpstr>Autism Spectrum Disorder</vt:lpstr>
      <vt:lpstr>Pervasive developmental disorder</vt:lpstr>
      <vt:lpstr>Clinical Description</vt:lpstr>
      <vt:lpstr>Quentin Pangilinan</vt:lpstr>
      <vt:lpstr>Causal factor </vt:lpstr>
      <vt:lpstr>Neurobiological Influences</vt:lpstr>
      <vt:lpstr>diagnostic criteria</vt:lpstr>
      <vt:lpstr>PowerPoint Presentation</vt:lpstr>
      <vt:lpstr> diagnostic criteria </vt:lpstr>
      <vt:lpstr>1) impairments in social communication and social interaction </vt:lpstr>
      <vt:lpstr>restricted, repetitive patterns of behavior, interests, or activities </vt:lpstr>
      <vt:lpstr> why some people develop autism and others don’t</vt:lpstr>
      <vt:lpstr>three levels of severity</vt:lpstr>
      <vt:lpstr>comorbidity</vt:lpstr>
      <vt:lpstr>The types of treatments generally can be broken down into the following categories:</vt:lpstr>
      <vt:lpstr>PowerPoint Presentation</vt:lpstr>
      <vt:lpstr>Specific Learning Disorder</vt:lpstr>
      <vt:lpstr>Clinical Description</vt:lpstr>
      <vt:lpstr>Epidemiology </vt:lpstr>
      <vt:lpstr>Four Causal factor </vt:lpstr>
      <vt:lpstr>Diagnostic Criteria</vt:lpstr>
      <vt:lpstr>Dyslexia</vt:lpstr>
      <vt:lpstr>Dysgraphia </vt:lpstr>
      <vt:lpstr>Dyscalculia</vt:lpstr>
      <vt:lpstr>Severity of Disorder</vt:lpstr>
      <vt:lpstr>Comorbidity </vt:lpstr>
      <vt:lpstr>Treatment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Childhood-Onset Fluency Disorder (Stuttering) </vt:lpstr>
      <vt:lpstr>Description</vt:lpstr>
      <vt:lpstr>PowerPoint Presentation</vt:lpstr>
      <vt:lpstr>PowerPoint Presentation</vt:lpstr>
      <vt:lpstr>Causes</vt:lpstr>
      <vt:lpstr>PowerPoint Presentation</vt:lpstr>
      <vt:lpstr>Selective Mutism</vt:lpstr>
      <vt:lpstr>Diagnostic Criteria</vt:lpstr>
      <vt:lpstr>PowerPoint Presentation</vt:lpstr>
      <vt:lpstr>PowerPoint Presentation</vt:lpstr>
      <vt:lpstr>Causes</vt:lpstr>
      <vt:lpstr>PowerPoint Presentation</vt:lpstr>
      <vt:lpstr>comorbidity</vt:lpstr>
      <vt:lpstr>Treatment</vt:lpstr>
      <vt:lpstr>Tic Disorder</vt:lpstr>
      <vt:lpstr>Tic Disorder</vt:lpstr>
      <vt:lpstr>Tourette’s Disorder </vt:lpstr>
      <vt:lpstr>Persistent (Chronic) Motor or Vocal Tic Disorder </vt:lpstr>
      <vt:lpstr>Provisional Tic Disorder</vt:lpstr>
      <vt:lpstr>Simple Tics </vt:lpstr>
      <vt:lpstr>Causes</vt:lpstr>
      <vt:lpstr>Comorbidity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Diagnosis criteria</dc:title>
  <dc:creator>joshuaremola</dc:creator>
  <cp:lastModifiedBy>joshua</cp:lastModifiedBy>
  <cp:revision>60</cp:revision>
  <dcterms:created xsi:type="dcterms:W3CDTF">2020-10-18T02:31:21Z</dcterms:created>
  <dcterms:modified xsi:type="dcterms:W3CDTF">2025-05-17T02:56:31Z</dcterms:modified>
</cp:coreProperties>
</file>