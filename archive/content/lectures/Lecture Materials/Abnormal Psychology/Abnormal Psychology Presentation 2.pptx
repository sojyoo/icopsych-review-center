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Arial Black"/>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hzZrtekw84hD7zmZhPdbGllRhV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AEE4AB-FEDD-41E7-9CBD-5DDE355220A3}">
  <a:tblStyle styleId="{57AEE4AB-FEDD-41E7-9CBD-5DDE355220A3}"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Calibri"/>
          <a:ea typeface="Calibri"/>
          <a:cs typeface="Calibri"/>
        </a:font>
        <a:schemeClr val="lt1"/>
      </a:tcTxStyle>
      <a:tcStyle>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ArialBlack-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Calibri"/>
              <a:buNone/>
            </a:pPr>
            <a:r>
              <a:t/>
            </a:r>
            <a:endParaRPr/>
          </a:p>
        </p:txBody>
      </p:sp>
      <p:sp>
        <p:nvSpPr>
          <p:cNvPr id="117" name="Google Shape;11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124" name="Google Shape;1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145" name="Google Shape;14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b="0"/>
          </a:p>
        </p:txBody>
      </p:sp>
      <p:sp>
        <p:nvSpPr>
          <p:cNvPr id="152" name="Google Shape;15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b="0"/>
          </a:p>
        </p:txBody>
      </p:sp>
      <p:sp>
        <p:nvSpPr>
          <p:cNvPr id="159" name="Google Shape;1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p>
        </p:txBody>
      </p:sp>
      <p:sp>
        <p:nvSpPr>
          <p:cNvPr id="166" name="Google Shape;16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p>
        </p:txBody>
      </p:sp>
      <p:sp>
        <p:nvSpPr>
          <p:cNvPr id="173" name="Google Shape;17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p>
        </p:txBody>
      </p:sp>
      <p:sp>
        <p:nvSpPr>
          <p:cNvPr id="180" name="Google Shape;18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p>
        </p:txBody>
      </p:sp>
      <p:sp>
        <p:nvSpPr>
          <p:cNvPr id="187" name="Google Shape;18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194" name="Google Shape;19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06" name="Google Shape;20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13" name="Google Shape;213;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20" name="Google Shape;22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27" name="Google Shape;22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35" name="Google Shape;23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43" name="Google Shape;24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51" name="Google Shape;25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58" name="Google Shape;258;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66" name="Google Shape;266;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73" name="Google Shape;273;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85" name="Google Shape;28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293" name="Google Shape;293;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310" name="Google Shape;310;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317" name="Google Shape;317;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324" name="Google Shape;324;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337" name="Google Shape;337;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400" name="Google Shape;400;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407" name="Google Shape;407;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p>
        </p:txBody>
      </p:sp>
      <p:sp>
        <p:nvSpPr>
          <p:cNvPr id="415" name="Google Shape;415;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1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1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14"/>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14"/>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1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1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114"/>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11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 name="Shape 33"/>
        <p:cNvGrpSpPr/>
        <p:nvPr/>
      </p:nvGrpSpPr>
      <p:grpSpPr>
        <a:xfrm>
          <a:off x="0" y="0"/>
          <a:ext cx="0" cy="0"/>
          <a:chOff x="0" y="0"/>
          <a:chExt cx="0" cy="0"/>
        </a:xfrm>
      </p:grpSpPr>
      <p:sp>
        <p:nvSpPr>
          <p:cNvPr id="34" name="Google Shape;34;p11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1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1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11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1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17"/>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17"/>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1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7" name="Google Shape;47;p11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1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18"/>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118"/>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1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19"/>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119"/>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119"/>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119"/>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1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1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121"/>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21"/>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21"/>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21"/>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121"/>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121"/>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1"/>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22"/>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22"/>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22"/>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122"/>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83" name="Google Shape;83;p122"/>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1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23"/>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1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12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2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24"/>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24"/>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3"/>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13"/>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1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1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1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13"/>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262626"/>
              </a:buClr>
              <a:buSzPts val="6600"/>
              <a:buFont typeface="Arial Black"/>
              <a:buNone/>
            </a:pPr>
            <a:r>
              <a:rPr lang="en-US" sz="6600">
                <a:latin typeface="Arial Black"/>
                <a:ea typeface="Arial Black"/>
                <a:cs typeface="Arial Black"/>
                <a:sym typeface="Arial Black"/>
              </a:rPr>
              <a:t>Mood, Anxiety, Dissociative, and Personality Disorders</a:t>
            </a:r>
            <a:endParaRPr sz="6600"/>
          </a:p>
        </p:txBody>
      </p:sp>
      <p:sp>
        <p:nvSpPr>
          <p:cNvPr id="106" name="Google Shape;106;p1"/>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marR="0" rtl="0" algn="l">
              <a:lnSpc>
                <a:spcPct val="120000"/>
              </a:lnSpc>
              <a:spcBef>
                <a:spcPts val="0"/>
              </a:spcBef>
              <a:spcAft>
                <a:spcPts val="0"/>
              </a:spcAft>
              <a:buClr>
                <a:srgbClr val="000000"/>
              </a:buClr>
              <a:buSzPts val="2400"/>
              <a:buFont typeface="Arial"/>
              <a:buNone/>
            </a:pPr>
            <a:r>
              <a:rPr b="0" i="0" lang="en-US" sz="2400" u="none" cap="none" strike="noStrike">
                <a:solidFill>
                  <a:srgbClr val="000000"/>
                </a:solidFill>
                <a:latin typeface="Avenir"/>
                <a:ea typeface="Avenir"/>
                <a:cs typeface="Avenir"/>
                <a:sym typeface="Avenir"/>
              </a:rPr>
              <a:t>Lloyd Toni Enriquez, RPm, RPsy</a:t>
            </a:r>
            <a:endParaRPr b="0" i="0" sz="2400" u="none" cap="none" strike="noStrike">
              <a:solidFill>
                <a:srgbClr val="000000"/>
              </a:solidFill>
              <a:latin typeface="Avenir"/>
              <a:ea typeface="Avenir"/>
              <a:cs typeface="Avenir"/>
              <a:sym typeface="Avenir"/>
            </a:endParaRPr>
          </a:p>
          <a:p>
            <a:pPr indent="0" lvl="0" marL="0" rtl="0" algn="l">
              <a:lnSpc>
                <a:spcPct val="90000"/>
              </a:lnSpc>
              <a:spcBef>
                <a:spcPts val="1200"/>
              </a:spcBef>
              <a:spcAft>
                <a:spcPts val="0"/>
              </a:spcAft>
              <a:buSzPts val="2400"/>
              <a:buNone/>
            </a:pPr>
            <a:r>
              <a:t/>
            </a:r>
            <a:endParaRPr/>
          </a:p>
          <a:p>
            <a:pPr indent="0" lvl="0" marL="0" rtl="0" algn="l">
              <a:lnSpc>
                <a:spcPct val="90000"/>
              </a:lnSpc>
              <a:spcBef>
                <a:spcPts val="1400"/>
              </a:spcBef>
              <a:spcAft>
                <a:spcPts val="0"/>
              </a:spcAft>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262626"/>
              </a:buClr>
              <a:buSzPts val="6600"/>
              <a:buFont typeface="Arial Black"/>
              <a:buNone/>
            </a:pPr>
            <a:r>
              <a:rPr lang="en-US" sz="6600">
                <a:latin typeface="Arial Black"/>
                <a:ea typeface="Arial Black"/>
                <a:cs typeface="Arial Black"/>
                <a:sym typeface="Arial Black"/>
              </a:rPr>
              <a:t>Mood, Anxiety, Dissociative, and Personality Disorders</a:t>
            </a:r>
            <a:endParaRPr/>
          </a:p>
        </p:txBody>
      </p:sp>
      <p:sp>
        <p:nvSpPr>
          <p:cNvPr id="113" name="Google Shape;113;p6"/>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rgbClr val="000000"/>
                </a:solidFill>
                <a:latin typeface="Avenir"/>
                <a:ea typeface="Avenir"/>
                <a:cs typeface="Avenir"/>
                <a:sym typeface="Avenir"/>
              </a:rPr>
              <a:t>Lloyd Toni Enriquez, RPm, RPsy</a:t>
            </a:r>
            <a:endParaRPr b="0" i="0" sz="1600" u="none" cap="none" strike="noStrike">
              <a:solidFill>
                <a:srgbClr val="000000"/>
              </a:solidFill>
              <a:latin typeface="Avenir"/>
              <a:ea typeface="Avenir"/>
              <a:cs typeface="Avenir"/>
              <a:sym typeface="Avenir"/>
            </a:endParaRPr>
          </a:p>
          <a:p>
            <a:pPr indent="0" lvl="0" marL="0" rtl="0" algn="l">
              <a:lnSpc>
                <a:spcPct val="90000"/>
              </a:lnSpc>
              <a:spcBef>
                <a:spcPts val="1200"/>
              </a:spcBef>
              <a:spcAft>
                <a:spcPts val="0"/>
              </a:spcAft>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Arial Black"/>
              <a:buNone/>
            </a:pPr>
            <a:r>
              <a:rPr lang="en-US" sz="4000">
                <a:latin typeface="Arial Black"/>
                <a:ea typeface="Arial Black"/>
                <a:cs typeface="Arial Black"/>
                <a:sym typeface="Arial Black"/>
              </a:rPr>
              <a:t>Mood Episodes</a:t>
            </a:r>
            <a:endParaRPr sz="4000">
              <a:latin typeface="Arial Black"/>
              <a:ea typeface="Arial Black"/>
              <a:cs typeface="Arial Black"/>
              <a:sym typeface="Arial Black"/>
            </a:endParaRPr>
          </a:p>
        </p:txBody>
      </p:sp>
      <p:sp>
        <p:nvSpPr>
          <p:cNvPr id="120" name="Google Shape;120;p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b="1" lang="en-US"/>
              <a:t>Major depressive episode</a:t>
            </a:r>
            <a:r>
              <a:rPr lang="en-US"/>
              <a:t>. For at least 2 weeks, the patient is in an extremely depressed mood state and has problems with eating and sleeping, feelings of worthlessness and guilt, trouble concentrating, anhedonia, and recurrent thoughts about death.</a:t>
            </a:r>
            <a:endParaRPr/>
          </a:p>
          <a:p>
            <a:pPr indent="-127000" lvl="0" marL="91440" rtl="0" algn="l">
              <a:lnSpc>
                <a:spcPct val="90000"/>
              </a:lnSpc>
              <a:spcBef>
                <a:spcPts val="1400"/>
              </a:spcBef>
              <a:spcAft>
                <a:spcPts val="0"/>
              </a:spcAft>
              <a:buSzPts val="2000"/>
              <a:buFont typeface="Noto Sans Symbols"/>
              <a:buChar char="▪"/>
            </a:pPr>
            <a:r>
              <a:rPr b="1" lang="en-US"/>
              <a:t>Manic episode (Mania)</a:t>
            </a:r>
            <a:r>
              <a:rPr lang="en-US"/>
              <a:t>. For at least 1 week, the patient feels elated (or sometimes only irritable) and may be grandiose, talkative (may have flight of ideas), hyperactive, restless (or requires little sleep) and distractible. Bad judgment leads to marked social or work impairment; often patients must be hospitalized (e.g engaging in unrestrained buying sprees, sexual indiscretions, or foolish business investments).</a:t>
            </a:r>
            <a:endParaRPr/>
          </a:p>
          <a:p>
            <a:pPr indent="-127000" lvl="0" marL="91440" rtl="0" algn="l">
              <a:lnSpc>
                <a:spcPct val="90000"/>
              </a:lnSpc>
              <a:spcBef>
                <a:spcPts val="1400"/>
              </a:spcBef>
              <a:spcAft>
                <a:spcPts val="0"/>
              </a:spcAft>
              <a:buSzPts val="2000"/>
              <a:buFont typeface="Noto Sans Symbols"/>
              <a:buChar char="▪"/>
            </a:pPr>
            <a:r>
              <a:rPr b="1" lang="en-US"/>
              <a:t>Hypomanic episode (Hypomania)</a:t>
            </a:r>
            <a:r>
              <a:rPr lang="en-US"/>
              <a:t>. Less severe form of mania that typically lasts 4 days.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Bipolar and Related Disorders</a:t>
            </a:r>
            <a:endParaRPr/>
          </a:p>
        </p:txBody>
      </p:sp>
      <p:sp>
        <p:nvSpPr>
          <p:cNvPr id="127" name="Google Shape;127;p1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100000"/>
              </a:lnSpc>
              <a:spcBef>
                <a:spcPts val="0"/>
              </a:spcBef>
              <a:spcAft>
                <a:spcPts val="0"/>
              </a:spcAft>
              <a:buSzPts val="2000"/>
              <a:buFont typeface="Noto Sans Symbols"/>
              <a:buChar char="▪"/>
            </a:pPr>
            <a:r>
              <a:rPr b="1" lang="en-US"/>
              <a:t>Bipolar I – </a:t>
            </a:r>
            <a:r>
              <a:rPr lang="en-US"/>
              <a:t>experience of a full manic episode.</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b="1" lang="en-US"/>
              <a:t>Bipolar II </a:t>
            </a:r>
            <a:r>
              <a:rPr lang="en-US"/>
              <a:t>– presence of hypomania and 1 major depressive episode. </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b="1" lang="en-US"/>
              <a:t>Cyclothymic Disorder (Cyclothymia) </a:t>
            </a:r>
            <a:r>
              <a:rPr lang="en-US"/>
              <a:t>– chronic mood swings for at least 2 years but do not meet the severity and criteria of manic and major depressive episodes</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b="1" lang="en-US"/>
              <a:t>Substance/Medication-Induced Bipolar and Related Disorder – </a:t>
            </a:r>
            <a:r>
              <a:rPr lang="en-US"/>
              <a:t>Manic or hypomanic symptoms developed during or soon after substance intoxication or withdrawal or after exposure to a medication</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b="1" lang="en-US"/>
              <a:t>Bipolar and Related Disorder due to another Medical Condition - </a:t>
            </a:r>
            <a:r>
              <a:rPr lang="en-US"/>
              <a:t>Persistent period of manic mood that is thought to be related to the direct physiological effects of another medical condition.</a:t>
            </a:r>
            <a:endParaRPr b="1"/>
          </a:p>
          <a:p>
            <a:pPr indent="0" lvl="0" marL="91440" rtl="0" algn="l">
              <a:lnSpc>
                <a:spcPct val="100000"/>
              </a:lnSpc>
              <a:spcBef>
                <a:spcPts val="0"/>
              </a:spcBef>
              <a:spcAft>
                <a:spcPts val="0"/>
              </a:spcAft>
              <a:buSzPts val="2000"/>
              <a:buFont typeface="Noto Sans Symbols"/>
              <a:buNone/>
            </a:pPr>
            <a:r>
              <a:t/>
            </a:r>
            <a:endParaRPr/>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p:nvPr/>
        </p:nvSpPr>
        <p:spPr>
          <a:xfrm>
            <a:off x="1435510" y="1356852"/>
            <a:ext cx="2792361" cy="4149213"/>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u="sng">
                <a:solidFill>
                  <a:schemeClr val="dk1"/>
                </a:solidFill>
                <a:latin typeface="Calibri"/>
                <a:ea typeface="Calibri"/>
                <a:cs typeface="Calibri"/>
                <a:sym typeface="Calibri"/>
              </a:rPr>
              <a:t>Bipolar I with psychotic features</a:t>
            </a:r>
            <a:endParaRPr/>
          </a:p>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Mania</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Hallucination &amp; Delusion present during manic or depressive episode</a:t>
            </a:r>
            <a:endParaRPr/>
          </a:p>
        </p:txBody>
      </p:sp>
      <p:sp>
        <p:nvSpPr>
          <p:cNvPr id="133" name="Google Shape;133;p17"/>
          <p:cNvSpPr/>
          <p:nvPr/>
        </p:nvSpPr>
        <p:spPr>
          <a:xfrm>
            <a:off x="4699819" y="1356852"/>
            <a:ext cx="2792361" cy="4149213"/>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u="sng">
                <a:solidFill>
                  <a:schemeClr val="dk1"/>
                </a:solidFill>
                <a:latin typeface="Calibri"/>
                <a:ea typeface="Calibri"/>
                <a:cs typeface="Calibri"/>
                <a:sym typeface="Calibri"/>
              </a:rPr>
              <a:t>Bipolar II with psychotic features</a:t>
            </a:r>
            <a:endParaRPr/>
          </a:p>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Hypomania</a:t>
            </a:r>
            <a:endParaRPr/>
          </a:p>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1 Major Depressive</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Hallucination and Delusion present during depressive episode</a:t>
            </a:r>
            <a:endParaRPr/>
          </a:p>
        </p:txBody>
      </p:sp>
      <p:sp>
        <p:nvSpPr>
          <p:cNvPr id="134" name="Google Shape;134;p17"/>
          <p:cNvSpPr/>
          <p:nvPr/>
        </p:nvSpPr>
        <p:spPr>
          <a:xfrm>
            <a:off x="7964129" y="1354393"/>
            <a:ext cx="2792361" cy="4149213"/>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u="sng">
                <a:solidFill>
                  <a:schemeClr val="dk1"/>
                </a:solidFill>
                <a:latin typeface="Calibri"/>
                <a:ea typeface="Calibri"/>
                <a:cs typeface="Calibri"/>
                <a:sym typeface="Calibri"/>
              </a:rPr>
              <a:t>Schizoaffective</a:t>
            </a:r>
            <a:endParaRPr/>
          </a:p>
          <a:p>
            <a:pPr indent="0" lvl="0" marL="0" marR="0" rtl="0" algn="ctr">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Present or past manic, depressive, or hypomania with at least 1 depressive episode</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Chronic Hallucination and Delusion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Depressive Disorders</a:t>
            </a:r>
            <a:endParaRPr/>
          </a:p>
        </p:txBody>
      </p:sp>
      <p:sp>
        <p:nvSpPr>
          <p:cNvPr id="141" name="Google Shape;141;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lang="en-US"/>
              <a:t> </a:t>
            </a:r>
            <a:r>
              <a:rPr b="1" lang="en-US"/>
              <a:t>Major Depressive Disorder</a:t>
            </a:r>
            <a:r>
              <a:rPr lang="en-US"/>
              <a:t>. Extremely depressed mood for at least 2 weeks and the absence of manic or hypomanic episodes. </a:t>
            </a:r>
            <a:endParaRPr/>
          </a:p>
          <a:p>
            <a:pPr indent="-127000" lvl="0" marL="91440" rtl="0" algn="l">
              <a:lnSpc>
                <a:spcPct val="90000"/>
              </a:lnSpc>
              <a:spcBef>
                <a:spcPts val="1200"/>
              </a:spcBef>
              <a:spcAft>
                <a:spcPts val="0"/>
              </a:spcAft>
              <a:buSzPts val="2000"/>
              <a:buFont typeface="Noto Sans Symbols"/>
              <a:buChar char="▪"/>
            </a:pPr>
            <a:r>
              <a:rPr b="1" lang="en-US"/>
              <a:t>Persistent Depressive Disorder (Dysthymia). </a:t>
            </a:r>
            <a:r>
              <a:rPr lang="en-US"/>
              <a:t>depressed mood that continues at least 2 years, differs from a major depressive disorder in the number of symptoms required, but mostly it is in the chronicity.</a:t>
            </a:r>
            <a:endParaRPr/>
          </a:p>
          <a:p>
            <a:pPr indent="-127000" lvl="0" marL="91440" rtl="0" algn="l">
              <a:lnSpc>
                <a:spcPct val="90000"/>
              </a:lnSpc>
              <a:spcBef>
                <a:spcPts val="1400"/>
              </a:spcBef>
              <a:spcAft>
                <a:spcPts val="0"/>
              </a:spcAft>
              <a:buSzPts val="2000"/>
              <a:buFont typeface="Noto Sans Symbols"/>
              <a:buChar char="▪"/>
            </a:pPr>
            <a:r>
              <a:rPr b="1" lang="en-US"/>
              <a:t>Disruptive Mood Dysregulation Disorder. </a:t>
            </a:r>
            <a:r>
              <a:rPr lang="en-US"/>
              <a:t>A child’s severe irritability and difficulty regulating their emotions resulting in frequent temper outburst.</a:t>
            </a:r>
            <a:endParaRPr/>
          </a:p>
          <a:p>
            <a:pPr indent="-127000" lvl="0" marL="91440" rtl="0" algn="l">
              <a:lnSpc>
                <a:spcPct val="90000"/>
              </a:lnSpc>
              <a:spcBef>
                <a:spcPts val="1400"/>
              </a:spcBef>
              <a:spcAft>
                <a:spcPts val="0"/>
              </a:spcAft>
              <a:buSzPts val="2000"/>
              <a:buFont typeface="Noto Sans Symbols"/>
              <a:buChar char="▪"/>
            </a:pPr>
            <a:r>
              <a:rPr b="1" lang="en-US"/>
              <a:t>Premenstrual Dysphoric Disorder. </a:t>
            </a:r>
            <a:r>
              <a:rPr lang="en-US"/>
              <a:t>A few days before her menses, a woman experiences symptoms of depression and anxiety that affects social or work functioning.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Depressive Disorders</a:t>
            </a:r>
            <a:endParaRPr/>
          </a:p>
        </p:txBody>
      </p:sp>
      <p:sp>
        <p:nvSpPr>
          <p:cNvPr id="148" name="Google Shape;148;p2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b="1" lang="en-US"/>
              <a:t>Substance/Medication-induced Depressive Disorder</a:t>
            </a:r>
            <a:r>
              <a:rPr lang="en-US"/>
              <a:t>. Depressive symptoms developed during or soon after substance intoxication or withdrawal or after exposure to a medication.</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b="1" lang="en-US"/>
              <a:t>Depressive Disorder due to another Medical Condition. </a:t>
            </a:r>
            <a:r>
              <a:rPr lang="en-US"/>
              <a:t>Persistent period of depressed mood that is thought to be related to the direct physiological effects of another medical condition.</a:t>
            </a:r>
            <a:endParaRPr b="1"/>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b="1" lang="en-US"/>
              <a:t>Other Specified, or Unspecified Depressive Disorder. </a:t>
            </a:r>
            <a:r>
              <a:rPr lang="en-US"/>
              <a:t>Depressive symptoms are present that cause impairment in important areas of functioning but do not meet the full criteria for any of the depressive disorders. </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Specifiers </a:t>
            </a:r>
            <a:endParaRPr/>
          </a:p>
        </p:txBody>
      </p:sp>
      <p:sp>
        <p:nvSpPr>
          <p:cNvPr id="155" name="Google Shape;155;p24"/>
          <p:cNvSpPr txBox="1"/>
          <p:nvPr>
            <p:ph idx="1" type="body"/>
          </p:nvPr>
        </p:nvSpPr>
        <p:spPr>
          <a:xfrm>
            <a:off x="1215267" y="1894676"/>
            <a:ext cx="8961120" cy="3709711"/>
          </a:xfrm>
          <a:prstGeom prst="rect">
            <a:avLst/>
          </a:prstGeom>
          <a:noFill/>
          <a:ln>
            <a:noFill/>
          </a:ln>
        </p:spPr>
        <p:txBody>
          <a:bodyPr anchorCtr="0" anchor="t" bIns="45700" lIns="0" spcFirstLastPara="1" rIns="0" wrap="square" tIns="45700">
            <a:noAutofit/>
          </a:bodyPr>
          <a:lstStyle/>
          <a:p>
            <a:pPr indent="-127000" lvl="0" marL="91440" rtl="0" algn="l">
              <a:lnSpc>
                <a:spcPct val="100000"/>
              </a:lnSpc>
              <a:spcBef>
                <a:spcPts val="0"/>
              </a:spcBef>
              <a:spcAft>
                <a:spcPts val="0"/>
              </a:spcAft>
              <a:buSzPts val="2000"/>
              <a:buFont typeface="Noto Sans Symbols"/>
              <a:buChar char="▪"/>
            </a:pPr>
            <a:r>
              <a:rPr b="1" lang="en-US"/>
              <a:t>Psychotic features - </a:t>
            </a:r>
            <a:r>
              <a:rPr lang="en-US"/>
              <a:t>psychotic symptoms, specifically hallucinations and delusions.</a:t>
            </a:r>
            <a:endParaRPr/>
          </a:p>
          <a:p>
            <a:pPr indent="0" lvl="0" marL="0" rtl="0" algn="l">
              <a:lnSpc>
                <a:spcPct val="100000"/>
              </a:lnSpc>
              <a:spcBef>
                <a:spcPts val="0"/>
              </a:spcBef>
              <a:spcAft>
                <a:spcPts val="0"/>
              </a:spcAft>
              <a:buSzPts val="2000"/>
              <a:buNone/>
            </a:pPr>
            <a:r>
              <a:t/>
            </a:r>
            <a:endParaRPr b="1"/>
          </a:p>
          <a:p>
            <a:pPr indent="-127000" lvl="0" marL="91440" rtl="0" algn="l">
              <a:lnSpc>
                <a:spcPct val="100000"/>
              </a:lnSpc>
              <a:spcBef>
                <a:spcPts val="0"/>
              </a:spcBef>
              <a:spcAft>
                <a:spcPts val="0"/>
              </a:spcAft>
              <a:buSzPts val="2000"/>
              <a:buFont typeface="Noto Sans Symbols"/>
              <a:buChar char="▪"/>
            </a:pPr>
            <a:r>
              <a:rPr b="1" lang="en-US"/>
              <a:t>Anxious distress - </a:t>
            </a:r>
            <a:r>
              <a:rPr lang="en-US"/>
              <a:t>high levels of anxiety have been associated with higher suicide risk, longer duration of illness, and greater likelihood of treatment nonresponse.</a:t>
            </a:r>
            <a:endParaRPr b="1"/>
          </a:p>
          <a:p>
            <a:pPr indent="0" lvl="0" marL="0" rtl="0" algn="l">
              <a:lnSpc>
                <a:spcPct val="100000"/>
              </a:lnSpc>
              <a:spcBef>
                <a:spcPts val="0"/>
              </a:spcBef>
              <a:spcAft>
                <a:spcPts val="0"/>
              </a:spcAft>
              <a:buSzPts val="2000"/>
              <a:buNone/>
            </a:pPr>
            <a:r>
              <a:t/>
            </a:r>
            <a:endParaRPr b="1"/>
          </a:p>
          <a:p>
            <a:pPr indent="-127000" lvl="0" marL="91440" rtl="0" algn="l">
              <a:lnSpc>
                <a:spcPct val="100000"/>
              </a:lnSpc>
              <a:spcBef>
                <a:spcPts val="0"/>
              </a:spcBef>
              <a:spcAft>
                <a:spcPts val="0"/>
              </a:spcAft>
              <a:buSzPts val="2000"/>
              <a:buFont typeface="Noto Sans Symbols"/>
              <a:buChar char="▪"/>
            </a:pPr>
            <a:r>
              <a:rPr b="1" lang="en-US"/>
              <a:t>Mixed features – </a:t>
            </a:r>
            <a:r>
              <a:rPr lang="en-US"/>
              <a:t>manic/hypomanic symptoms present during major depressive episode.</a:t>
            </a:r>
            <a:endParaRPr/>
          </a:p>
          <a:p>
            <a:pPr indent="0" lvl="0" marL="0" rtl="0" algn="l">
              <a:lnSpc>
                <a:spcPct val="100000"/>
              </a:lnSpc>
              <a:spcBef>
                <a:spcPts val="0"/>
              </a:spcBef>
              <a:spcAft>
                <a:spcPts val="0"/>
              </a:spcAft>
              <a:buSzPts val="2000"/>
              <a:buNone/>
            </a:pPr>
            <a:r>
              <a:t/>
            </a:r>
            <a:endParaRPr b="1"/>
          </a:p>
          <a:p>
            <a:pPr indent="-127000" lvl="0" marL="91440" rtl="0" algn="l">
              <a:lnSpc>
                <a:spcPct val="100000"/>
              </a:lnSpc>
              <a:spcBef>
                <a:spcPts val="0"/>
              </a:spcBef>
              <a:spcAft>
                <a:spcPts val="0"/>
              </a:spcAft>
              <a:buSzPts val="2000"/>
              <a:buFont typeface="Noto Sans Symbols"/>
              <a:buChar char="▪"/>
            </a:pPr>
            <a:r>
              <a:rPr b="1" lang="en-US"/>
              <a:t>Melancholic features – </a:t>
            </a:r>
            <a:r>
              <a:rPr lang="en-US"/>
              <a:t>severe somatic symptoms (weight loss, early morning awakenings) and anhedonia.</a:t>
            </a:r>
            <a:endParaRPr/>
          </a:p>
          <a:p>
            <a:pPr indent="0" lvl="0" marL="0" rtl="0" algn="l">
              <a:lnSpc>
                <a:spcPct val="100000"/>
              </a:lnSpc>
              <a:spcBef>
                <a:spcPts val="0"/>
              </a:spcBef>
              <a:spcAft>
                <a:spcPts val="0"/>
              </a:spcAft>
              <a:buSzPts val="1700"/>
              <a:buNone/>
            </a:pPr>
            <a:r>
              <a:t/>
            </a:r>
            <a:endParaRPr b="1"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Specifiers</a:t>
            </a:r>
            <a:endParaRPr/>
          </a:p>
        </p:txBody>
      </p:sp>
      <p:sp>
        <p:nvSpPr>
          <p:cNvPr id="162" name="Google Shape;162;p25"/>
          <p:cNvSpPr txBox="1"/>
          <p:nvPr>
            <p:ph idx="1" type="body"/>
          </p:nvPr>
        </p:nvSpPr>
        <p:spPr>
          <a:xfrm>
            <a:off x="1205434" y="1865178"/>
            <a:ext cx="9049610" cy="3562227"/>
          </a:xfrm>
          <a:prstGeom prst="rect">
            <a:avLst/>
          </a:prstGeom>
          <a:noFill/>
          <a:ln>
            <a:noFill/>
          </a:ln>
        </p:spPr>
        <p:txBody>
          <a:bodyPr anchorCtr="0" anchor="t" bIns="45700" lIns="0" spcFirstLastPara="1" rIns="0" wrap="square" tIns="45700">
            <a:noAutofit/>
          </a:bodyPr>
          <a:lstStyle/>
          <a:p>
            <a:pPr indent="-127000" lvl="0" marL="91440" rtl="0" algn="l">
              <a:lnSpc>
                <a:spcPct val="100000"/>
              </a:lnSpc>
              <a:spcBef>
                <a:spcPts val="0"/>
              </a:spcBef>
              <a:spcAft>
                <a:spcPts val="0"/>
              </a:spcAft>
              <a:buSzPts val="2000"/>
              <a:buFont typeface="Noto Sans Symbols"/>
              <a:buChar char="▪"/>
            </a:pPr>
            <a:r>
              <a:rPr b="1" lang="en-US"/>
              <a:t>Catatonic features - </a:t>
            </a:r>
            <a:r>
              <a:rPr lang="en-US"/>
              <a:t>excessive but random or purposeless movement.</a:t>
            </a:r>
            <a:endParaRPr b="1"/>
          </a:p>
          <a:p>
            <a:pPr indent="0" lvl="0" marL="0" rtl="0" algn="l">
              <a:lnSpc>
                <a:spcPct val="100000"/>
              </a:lnSpc>
              <a:spcBef>
                <a:spcPts val="0"/>
              </a:spcBef>
              <a:spcAft>
                <a:spcPts val="0"/>
              </a:spcAft>
              <a:buSzPts val="2000"/>
              <a:buNone/>
            </a:pPr>
            <a:r>
              <a:t/>
            </a:r>
            <a:endParaRPr b="1"/>
          </a:p>
          <a:p>
            <a:pPr indent="-127000" lvl="0" marL="91440" rtl="0" algn="l">
              <a:lnSpc>
                <a:spcPct val="100000"/>
              </a:lnSpc>
              <a:spcBef>
                <a:spcPts val="0"/>
              </a:spcBef>
              <a:spcAft>
                <a:spcPts val="0"/>
              </a:spcAft>
              <a:buSzPts val="2000"/>
              <a:buFont typeface="Noto Sans Symbols"/>
              <a:buChar char="▪"/>
            </a:pPr>
            <a:r>
              <a:rPr b="1" lang="en-US"/>
              <a:t>Atypical features - </a:t>
            </a:r>
            <a:r>
              <a:rPr lang="en-US"/>
              <a:t>oversleeping and overeating during depressive episode.</a:t>
            </a:r>
            <a:endParaRPr/>
          </a:p>
          <a:p>
            <a:pPr indent="0" lvl="0" marL="0" rtl="0" algn="l">
              <a:lnSpc>
                <a:spcPct val="100000"/>
              </a:lnSpc>
              <a:spcBef>
                <a:spcPts val="0"/>
              </a:spcBef>
              <a:spcAft>
                <a:spcPts val="0"/>
              </a:spcAft>
              <a:buSzPts val="2000"/>
              <a:buNone/>
            </a:pPr>
            <a:r>
              <a:t/>
            </a:r>
            <a:endParaRPr b="1"/>
          </a:p>
          <a:p>
            <a:pPr indent="-127000" lvl="0" marL="91440" rtl="0" algn="l">
              <a:lnSpc>
                <a:spcPct val="100000"/>
              </a:lnSpc>
              <a:spcBef>
                <a:spcPts val="0"/>
              </a:spcBef>
              <a:spcAft>
                <a:spcPts val="0"/>
              </a:spcAft>
              <a:buSzPts val="2000"/>
              <a:buFont typeface="Noto Sans Symbols"/>
              <a:buChar char="▪"/>
            </a:pPr>
            <a:r>
              <a:rPr b="1" lang="en-US"/>
              <a:t>Peripartum onset - </a:t>
            </a:r>
            <a:r>
              <a:rPr lang="en-US"/>
              <a:t>A manic, hypomanic, or major depressive episode (or a brief psychotic disorder) can occur in a woman during pregnancy or within a month of giving birth.</a:t>
            </a:r>
            <a:endParaRPr b="1"/>
          </a:p>
          <a:p>
            <a:pPr indent="0" lvl="0" marL="0" rtl="0" algn="l">
              <a:lnSpc>
                <a:spcPct val="100000"/>
              </a:lnSpc>
              <a:spcBef>
                <a:spcPts val="0"/>
              </a:spcBef>
              <a:spcAft>
                <a:spcPts val="0"/>
              </a:spcAft>
              <a:buSzPts val="2000"/>
              <a:buNone/>
            </a:pPr>
            <a:r>
              <a:t/>
            </a:r>
            <a:endParaRPr b="1"/>
          </a:p>
          <a:p>
            <a:pPr indent="-127000" lvl="0" marL="91440" rtl="0" algn="l">
              <a:lnSpc>
                <a:spcPct val="100000"/>
              </a:lnSpc>
              <a:spcBef>
                <a:spcPts val="0"/>
              </a:spcBef>
              <a:spcAft>
                <a:spcPts val="0"/>
              </a:spcAft>
              <a:buSzPts val="2000"/>
              <a:buFont typeface="Noto Sans Symbols"/>
              <a:buChar char="▪"/>
            </a:pPr>
            <a:r>
              <a:rPr b="1" lang="en-US"/>
              <a:t>Seasonal pattern- </a:t>
            </a:r>
            <a:r>
              <a:rPr lang="en-US"/>
              <a:t>episodes that occur during certain seasons.</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Mood Disorders</a:t>
            </a:r>
            <a:endParaRPr/>
          </a:p>
        </p:txBody>
      </p:sp>
      <p:sp>
        <p:nvSpPr>
          <p:cNvPr id="169" name="Google Shape;169;p2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b="1" lang="en-US"/>
              <a:t> Biological</a:t>
            </a:r>
            <a:endParaRPr/>
          </a:p>
          <a:p>
            <a:pPr indent="-127000" lvl="0" marL="91440" rtl="0" algn="l">
              <a:lnSpc>
                <a:spcPct val="100000"/>
              </a:lnSpc>
              <a:spcBef>
                <a:spcPts val="0"/>
              </a:spcBef>
              <a:spcAft>
                <a:spcPts val="0"/>
              </a:spcAft>
              <a:buSzPts val="2000"/>
              <a:buFont typeface="Calibri"/>
              <a:buChar char="-"/>
            </a:pPr>
            <a:r>
              <a:rPr lang="en-US"/>
              <a:t> genetic factors contribute to the susceptibility of an individual to develop a disorder.</a:t>
            </a:r>
            <a:endParaRPr/>
          </a:p>
          <a:p>
            <a:pPr indent="-127000" lvl="0" marL="91440" rtl="0" algn="l">
              <a:lnSpc>
                <a:spcPct val="100000"/>
              </a:lnSpc>
              <a:spcBef>
                <a:spcPts val="0"/>
              </a:spcBef>
              <a:spcAft>
                <a:spcPts val="0"/>
              </a:spcAft>
              <a:buSzPts val="2000"/>
              <a:buFont typeface="Calibri"/>
              <a:buChar char="-"/>
            </a:pPr>
            <a:r>
              <a:rPr lang="en-US"/>
              <a:t> low levels of serotonin is associated to depression.</a:t>
            </a:r>
            <a:endParaRPr/>
          </a:p>
          <a:p>
            <a:pPr indent="-127000" lvl="0" marL="91440" rtl="0" algn="l">
              <a:lnSpc>
                <a:spcPct val="100000"/>
              </a:lnSpc>
              <a:spcBef>
                <a:spcPts val="0"/>
              </a:spcBef>
              <a:spcAft>
                <a:spcPts val="0"/>
              </a:spcAft>
              <a:buSzPts val="2000"/>
              <a:buFont typeface="Calibri"/>
              <a:buChar char="-"/>
            </a:pPr>
            <a:r>
              <a:rPr lang="en-US"/>
              <a:t> high levels of cortisol are evident in patients with depression.</a:t>
            </a:r>
            <a:endParaRPr/>
          </a:p>
          <a:p>
            <a:pPr indent="-127000" lvl="0" marL="91440" rtl="0" algn="l">
              <a:lnSpc>
                <a:spcPct val="100000"/>
              </a:lnSpc>
              <a:spcBef>
                <a:spcPts val="0"/>
              </a:spcBef>
              <a:spcAft>
                <a:spcPts val="0"/>
              </a:spcAft>
              <a:buSzPts val="2000"/>
              <a:buFont typeface="Calibri"/>
              <a:buChar char="-"/>
            </a:pPr>
            <a:r>
              <a:rPr lang="en-US"/>
              <a:t> sleep disturbances are a hallmark of most mood disorders</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b="1" lang="en-US"/>
              <a:t> Psychological</a:t>
            </a:r>
            <a:endParaRPr/>
          </a:p>
          <a:p>
            <a:pPr indent="-127000" lvl="0" marL="91440" rtl="0" algn="l">
              <a:lnSpc>
                <a:spcPct val="100000"/>
              </a:lnSpc>
              <a:spcBef>
                <a:spcPts val="0"/>
              </a:spcBef>
              <a:spcAft>
                <a:spcPts val="0"/>
              </a:spcAft>
              <a:buSzPts val="2000"/>
              <a:buFont typeface="Calibri"/>
              <a:buChar char="-"/>
            </a:pPr>
            <a:r>
              <a:rPr lang="en-US"/>
              <a:t> Stressful life events are strongly associated to the onset of mood disorders.</a:t>
            </a:r>
            <a:endParaRPr/>
          </a:p>
          <a:p>
            <a:pPr indent="-127000" lvl="0" marL="91440" rtl="0" algn="l">
              <a:lnSpc>
                <a:spcPct val="100000"/>
              </a:lnSpc>
              <a:spcBef>
                <a:spcPts val="0"/>
              </a:spcBef>
              <a:spcAft>
                <a:spcPts val="0"/>
              </a:spcAft>
              <a:buSzPts val="2000"/>
              <a:buFont typeface="Calibri"/>
              <a:buChar char="-"/>
            </a:pPr>
            <a:r>
              <a:rPr lang="en-US"/>
              <a:t> </a:t>
            </a:r>
            <a:r>
              <a:rPr b="1" lang="en-US"/>
              <a:t>Seligman</a:t>
            </a:r>
            <a:r>
              <a:rPr lang="en-US"/>
              <a:t> suggests that people become anxious and depressed when they decide that they have no control over the stress in their lives (</a:t>
            </a:r>
            <a:r>
              <a:rPr b="1" i="1" lang="en-US"/>
              <a:t>learned helplessness theory of depression</a:t>
            </a:r>
            <a:r>
              <a:rPr lang="en-US"/>
              <a:t>).</a:t>
            </a:r>
            <a:endParaRPr/>
          </a:p>
          <a:p>
            <a:pPr indent="-127000" lvl="0" marL="91440" rtl="0" algn="l">
              <a:lnSpc>
                <a:spcPct val="100000"/>
              </a:lnSpc>
              <a:spcBef>
                <a:spcPts val="0"/>
              </a:spcBef>
              <a:spcAft>
                <a:spcPts val="0"/>
              </a:spcAft>
              <a:buSzPts val="2000"/>
              <a:buFont typeface="Calibri"/>
              <a:buChar char="-"/>
            </a:pPr>
            <a:r>
              <a:rPr lang="en-US"/>
              <a:t> </a:t>
            </a:r>
            <a:r>
              <a:rPr b="1" lang="en-US"/>
              <a:t>Beck</a:t>
            </a:r>
            <a:r>
              <a:rPr lang="en-US"/>
              <a:t> suggested that depression may result from a tendency to think negatively about themselves, their immediate world, and their future (</a:t>
            </a:r>
            <a:r>
              <a:rPr b="1" i="1" lang="en-US"/>
              <a:t>depressive cognitive triad</a:t>
            </a:r>
            <a:r>
              <a:rPr lang="en-US"/>
              <a:t>)</a:t>
            </a:r>
            <a:endParaRPr/>
          </a:p>
          <a:p>
            <a:pPr indent="0" lvl="0" marL="91440" rtl="0" algn="l">
              <a:lnSpc>
                <a:spcPct val="100000"/>
              </a:lnSpc>
              <a:spcBef>
                <a:spcPts val="0"/>
              </a:spcBef>
              <a:spcAft>
                <a:spcPts val="0"/>
              </a:spcAft>
              <a:buSzPts val="2000"/>
              <a:buFont typeface="Calibri"/>
              <a:buNone/>
            </a:pPr>
            <a:r>
              <a:t/>
            </a:r>
            <a:endParaRPr/>
          </a:p>
          <a:p>
            <a:pPr indent="0" lvl="0" marL="91440" rtl="0" algn="l">
              <a:lnSpc>
                <a:spcPct val="100000"/>
              </a:lnSpc>
              <a:spcBef>
                <a:spcPts val="0"/>
              </a:spcBef>
              <a:spcAft>
                <a:spcPts val="0"/>
              </a:spcAft>
              <a:buSzPts val="2000"/>
              <a:buFont typeface="Calibri"/>
              <a:buNone/>
            </a:pPr>
            <a:r>
              <a:t/>
            </a:r>
            <a:endParaRPr b="1"/>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Mood Disorders </a:t>
            </a:r>
            <a:endParaRPr/>
          </a:p>
        </p:txBody>
      </p:sp>
      <p:sp>
        <p:nvSpPr>
          <p:cNvPr id="176" name="Google Shape;176;p29"/>
          <p:cNvSpPr txBox="1"/>
          <p:nvPr>
            <p:ph idx="1" type="body"/>
          </p:nvPr>
        </p:nvSpPr>
        <p:spPr>
          <a:xfrm>
            <a:off x="1097280" y="1845734"/>
            <a:ext cx="9423236"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b="1" lang="en-US"/>
              <a:t> Social and Cultural </a:t>
            </a:r>
            <a:endParaRPr/>
          </a:p>
          <a:p>
            <a:pPr indent="-127000" lvl="0" marL="91440" rtl="0" algn="l">
              <a:lnSpc>
                <a:spcPct val="100000"/>
              </a:lnSpc>
              <a:spcBef>
                <a:spcPts val="0"/>
              </a:spcBef>
              <a:spcAft>
                <a:spcPts val="0"/>
              </a:spcAft>
              <a:buSzPts val="2000"/>
              <a:buFont typeface="Calibri"/>
              <a:buChar char="-"/>
            </a:pPr>
            <a:r>
              <a:rPr lang="en-US"/>
              <a:t> Disruptions in relationships often lead to depression.</a:t>
            </a:r>
            <a:endParaRPr/>
          </a:p>
          <a:p>
            <a:pPr indent="-127000" lvl="0" marL="91440" rtl="0" algn="l">
              <a:lnSpc>
                <a:spcPct val="100000"/>
              </a:lnSpc>
              <a:spcBef>
                <a:spcPts val="0"/>
              </a:spcBef>
              <a:spcAft>
                <a:spcPts val="0"/>
              </a:spcAft>
              <a:buSzPts val="2000"/>
              <a:buFont typeface="Calibri"/>
              <a:buChar char="-"/>
            </a:pPr>
            <a:r>
              <a:rPr lang="en-US"/>
              <a:t> Gender differences in the development of emotional disorders are strongly influenced by perceptions of uncontrollability</a:t>
            </a:r>
            <a:endParaRPr/>
          </a:p>
          <a:p>
            <a:pPr indent="-127000" lvl="0" marL="91440" rtl="0" algn="l">
              <a:lnSpc>
                <a:spcPct val="100000"/>
              </a:lnSpc>
              <a:spcBef>
                <a:spcPts val="0"/>
              </a:spcBef>
              <a:spcAft>
                <a:spcPts val="0"/>
              </a:spcAft>
              <a:buSzPts val="2000"/>
              <a:buFont typeface="Calibri"/>
              <a:buChar char="-"/>
            </a:pPr>
            <a:r>
              <a:rPr lang="en-US"/>
              <a:t> Social influences may also affect the psychological and biological functioning of an individual. </a:t>
            </a:r>
            <a:endParaRPr/>
          </a:p>
          <a:p>
            <a:pPr indent="-127000" lvl="0" marL="91440" rtl="0" algn="l">
              <a:lnSpc>
                <a:spcPct val="100000"/>
              </a:lnSpc>
              <a:spcBef>
                <a:spcPts val="0"/>
              </a:spcBef>
              <a:spcAft>
                <a:spcPts val="0"/>
              </a:spcAft>
              <a:buSzPts val="2000"/>
              <a:buFont typeface="Calibri"/>
              <a:buChar char="-"/>
            </a:pPr>
            <a:r>
              <a:rPr lang="en-US"/>
              <a:t> the risk of depression for people who live alone is almost 80% higher than for people who live with others</a:t>
            </a:r>
            <a:endParaRPr/>
          </a:p>
          <a:p>
            <a:pPr indent="0" lvl="0" marL="91440" rtl="0" algn="l">
              <a:lnSpc>
                <a:spcPct val="100000"/>
              </a:lnSpc>
              <a:spcBef>
                <a:spcPts val="0"/>
              </a:spcBef>
              <a:spcAft>
                <a:spcPts val="0"/>
              </a:spcAft>
              <a:buSzPts val="2000"/>
              <a:buFont typeface="Calibri"/>
              <a:buNone/>
            </a:pPr>
            <a:r>
              <a:t/>
            </a:r>
            <a:endParaRPr b="1"/>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Treatment for Mood Disorders </a:t>
            </a:r>
            <a:endParaRPr/>
          </a:p>
        </p:txBody>
      </p:sp>
      <p:sp>
        <p:nvSpPr>
          <p:cNvPr id="183" name="Google Shape;183;p32"/>
          <p:cNvSpPr txBox="1"/>
          <p:nvPr>
            <p:ph idx="1" type="body"/>
          </p:nvPr>
        </p:nvSpPr>
        <p:spPr>
          <a:xfrm>
            <a:off x="1097280" y="1845734"/>
            <a:ext cx="9275752"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100000"/>
              </a:lnSpc>
              <a:spcBef>
                <a:spcPts val="0"/>
              </a:spcBef>
              <a:spcAft>
                <a:spcPts val="0"/>
              </a:spcAft>
              <a:buSzPts val="2000"/>
              <a:buFont typeface="Noto Sans Symbols"/>
              <a:buChar char="▪"/>
            </a:pPr>
            <a:r>
              <a:rPr b="1" lang="en-US"/>
              <a:t> Medications</a:t>
            </a:r>
            <a:endParaRPr/>
          </a:p>
          <a:p>
            <a:pPr indent="-127000" lvl="0" marL="91440" rtl="0" algn="l">
              <a:lnSpc>
                <a:spcPct val="100000"/>
              </a:lnSpc>
              <a:spcBef>
                <a:spcPts val="0"/>
              </a:spcBef>
              <a:spcAft>
                <a:spcPts val="0"/>
              </a:spcAft>
              <a:buSzPts val="2000"/>
              <a:buFont typeface="Calibri"/>
              <a:buChar char="-"/>
            </a:pPr>
            <a:r>
              <a:rPr lang="en-US"/>
              <a:t>Antidepressants</a:t>
            </a:r>
            <a:r>
              <a:rPr b="1" lang="en-US"/>
              <a:t>: </a:t>
            </a:r>
            <a:r>
              <a:rPr lang="en-US"/>
              <a:t>selective-serotonin reuptake inhibitors (SSRIs) </a:t>
            </a:r>
            <a:r>
              <a:rPr i="1" lang="en-US"/>
              <a:t>e.g fluoxetine</a:t>
            </a:r>
            <a:r>
              <a:rPr lang="en-US"/>
              <a:t>, mixed reuptake inhibitors </a:t>
            </a:r>
            <a:r>
              <a:rPr i="1" lang="en-US"/>
              <a:t>e.g venlafaxine</a:t>
            </a:r>
            <a:r>
              <a:rPr lang="en-US"/>
              <a:t>, tricyclic antidepressants </a:t>
            </a:r>
            <a:r>
              <a:rPr i="1" lang="en-US"/>
              <a:t>e.g amitriptyline</a:t>
            </a:r>
            <a:r>
              <a:rPr lang="en-US"/>
              <a:t>, and monoamine oxidase (MAO) inhibitors</a:t>
            </a:r>
            <a:endParaRPr/>
          </a:p>
          <a:p>
            <a:pPr indent="-127000" lvl="0" marL="91440" rtl="0" algn="l">
              <a:lnSpc>
                <a:spcPct val="100000"/>
              </a:lnSpc>
              <a:spcBef>
                <a:spcPts val="0"/>
              </a:spcBef>
              <a:spcAft>
                <a:spcPts val="0"/>
              </a:spcAft>
              <a:buSzPts val="2000"/>
              <a:buFont typeface="Calibri"/>
              <a:buChar char="-"/>
            </a:pPr>
            <a:r>
              <a:rPr b="1" lang="en-US"/>
              <a:t>lithium carbonate</a:t>
            </a:r>
            <a:r>
              <a:rPr lang="en-US"/>
              <a:t>, also referred as “mood-stabilizing drug” is effective in preventing and treating manic episodes. </a:t>
            </a:r>
            <a:endParaRPr/>
          </a:p>
          <a:p>
            <a:pPr indent="0" lvl="0" marL="91440" rtl="0" algn="l">
              <a:lnSpc>
                <a:spcPct val="100000"/>
              </a:lnSpc>
              <a:spcBef>
                <a:spcPts val="0"/>
              </a:spcBef>
              <a:spcAft>
                <a:spcPts val="0"/>
              </a:spcAft>
              <a:buSzPts val="2000"/>
              <a:buFont typeface="Calibri"/>
              <a:buNone/>
            </a:pPr>
            <a:r>
              <a:t/>
            </a:r>
            <a:endParaRPr/>
          </a:p>
          <a:p>
            <a:pPr indent="-127000" lvl="0" marL="91440" rtl="0" algn="l">
              <a:lnSpc>
                <a:spcPct val="100000"/>
              </a:lnSpc>
              <a:spcBef>
                <a:spcPts val="0"/>
              </a:spcBef>
              <a:spcAft>
                <a:spcPts val="0"/>
              </a:spcAft>
              <a:buSzPts val="2000"/>
              <a:buFont typeface="Noto Sans Symbols"/>
              <a:buChar char="▪"/>
            </a:pPr>
            <a:r>
              <a:rPr b="1" lang="en-US"/>
              <a:t> Electroconvulsive Therapy - </a:t>
            </a:r>
            <a:r>
              <a:rPr lang="en-US"/>
              <a:t>the most controversial treatment for psychological disorders, there is some evidence that ECT increases levels of serotonin, blocks stress hormones, and promotes neurogenesis in the hippocampus.</a:t>
            </a:r>
            <a:endParaRPr/>
          </a:p>
          <a:p>
            <a:pPr indent="0" lvl="0" marL="91440" rtl="0" algn="l">
              <a:lnSpc>
                <a:spcPct val="100000"/>
              </a:lnSpc>
              <a:spcBef>
                <a:spcPts val="0"/>
              </a:spcBef>
              <a:spcAft>
                <a:spcPts val="0"/>
              </a:spcAft>
              <a:buSzPts val="2000"/>
              <a:buFont typeface="Noto Sans Symbols"/>
              <a:buNone/>
            </a:pPr>
            <a:r>
              <a:t/>
            </a:r>
            <a:endParaRPr b="1"/>
          </a:p>
          <a:p>
            <a:pPr indent="-127000" lvl="0" marL="91440" rtl="0" algn="l">
              <a:lnSpc>
                <a:spcPct val="100000"/>
              </a:lnSpc>
              <a:spcBef>
                <a:spcPts val="0"/>
              </a:spcBef>
              <a:spcAft>
                <a:spcPts val="0"/>
              </a:spcAft>
              <a:buSzPts val="2000"/>
              <a:buFont typeface="Noto Sans Symbols"/>
              <a:buChar char="▪"/>
            </a:pPr>
            <a:r>
              <a:rPr b="1" lang="en-US"/>
              <a:t> Transcranial Magnetic Stimulation (TMS) - </a:t>
            </a:r>
            <a:r>
              <a:rPr lang="en-US"/>
              <a:t>works by placing a magnetic coil over the individual’s head to generate a precisely localized electromagnetic pulse.</a:t>
            </a:r>
            <a:endParaRPr b="1"/>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Treatment for Mood Disoders </a:t>
            </a:r>
            <a:endParaRPr/>
          </a:p>
        </p:txBody>
      </p:sp>
      <p:sp>
        <p:nvSpPr>
          <p:cNvPr id="190" name="Google Shape;190;p33"/>
          <p:cNvSpPr txBox="1"/>
          <p:nvPr>
            <p:ph idx="1" type="body"/>
          </p:nvPr>
        </p:nvSpPr>
        <p:spPr>
          <a:xfrm>
            <a:off x="1097280" y="1845734"/>
            <a:ext cx="9246255" cy="40044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b="1" lang="en-US"/>
              <a:t> Cognitive Behavioral Therapy </a:t>
            </a:r>
            <a:r>
              <a:rPr lang="en-US"/>
              <a:t>– developed by Aaron Beck, clients are taught to contemplate their thought process and help manage it by changing the way they think in a much less depressing thoughts. </a:t>
            </a:r>
            <a:endParaRPr/>
          </a:p>
          <a:p>
            <a:pPr indent="0" lvl="0" marL="91440" rtl="0" algn="l">
              <a:lnSpc>
                <a:spcPct val="100000"/>
              </a:lnSpc>
              <a:spcBef>
                <a:spcPts val="0"/>
              </a:spcBef>
              <a:spcAft>
                <a:spcPts val="0"/>
              </a:spcAft>
              <a:buSzPts val="2000"/>
              <a:buFont typeface="Noto Sans Symbols"/>
              <a:buNone/>
            </a:pPr>
            <a:r>
              <a:t/>
            </a:r>
            <a:endParaRPr b="1"/>
          </a:p>
          <a:p>
            <a:pPr indent="-127000" lvl="0" marL="91440" rtl="0" algn="l">
              <a:lnSpc>
                <a:spcPct val="100000"/>
              </a:lnSpc>
              <a:spcBef>
                <a:spcPts val="0"/>
              </a:spcBef>
              <a:spcAft>
                <a:spcPts val="0"/>
              </a:spcAft>
              <a:buSzPts val="2000"/>
              <a:buFont typeface="Noto Sans Symbols"/>
              <a:buChar char="▪"/>
            </a:pPr>
            <a:r>
              <a:rPr b="1" lang="en-US"/>
              <a:t> Interpersonal Psychotherapy </a:t>
            </a:r>
            <a:r>
              <a:rPr lang="en-US"/>
              <a:t>- focuses on resolving problems in existing relationships and learning to form important new interpersonal relationships. </a:t>
            </a:r>
            <a:endParaRPr/>
          </a:p>
          <a:p>
            <a:pPr indent="0" lvl="0" marL="91440" rtl="0" algn="l">
              <a:lnSpc>
                <a:spcPct val="100000"/>
              </a:lnSpc>
              <a:spcBef>
                <a:spcPts val="0"/>
              </a:spcBef>
              <a:spcAft>
                <a:spcPts val="0"/>
              </a:spcAft>
              <a:buSzPts val="2000"/>
              <a:buFont typeface="Noto Sans Symbols"/>
              <a:buNone/>
            </a:pPr>
            <a:r>
              <a:t/>
            </a:r>
            <a:endParaRPr b="1"/>
          </a:p>
          <a:p>
            <a:pPr indent="-127000" lvl="0" marL="91440" rtl="0" algn="l">
              <a:lnSpc>
                <a:spcPct val="100000"/>
              </a:lnSpc>
              <a:spcBef>
                <a:spcPts val="0"/>
              </a:spcBef>
              <a:spcAft>
                <a:spcPts val="0"/>
              </a:spcAft>
              <a:buSzPts val="2000"/>
              <a:buFont typeface="Noto Sans Symbols"/>
              <a:buChar char="▪"/>
            </a:pPr>
            <a:r>
              <a:rPr b="1" lang="en-US"/>
              <a:t> Maintenance Treatment – </a:t>
            </a:r>
            <a:r>
              <a:rPr lang="en-US"/>
              <a:t>prevention of relapse or recurrence, it may be a combination of taking medications and psychological treatment such as CBT.</a:t>
            </a:r>
            <a:endParaRPr b="1"/>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Anxiety Disorders</a:t>
            </a:r>
            <a:endParaRPr/>
          </a:p>
        </p:txBody>
      </p:sp>
      <p:sp>
        <p:nvSpPr>
          <p:cNvPr id="197" name="Google Shape;197;p3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 Anxiety is a negative mood state characterized by bodily symptoms of physical tension and by apprehension about the future (American Psychiatric Association, 2013; Barlow, 2002)</a:t>
            </a:r>
            <a:endParaRPr/>
          </a:p>
          <a:p>
            <a:pPr indent="-127000" lvl="0" marL="91440" rtl="0" algn="l">
              <a:lnSpc>
                <a:spcPct val="90000"/>
              </a:lnSpc>
              <a:spcBef>
                <a:spcPts val="1400"/>
              </a:spcBef>
              <a:spcAft>
                <a:spcPts val="0"/>
              </a:spcAft>
              <a:buSzPts val="2000"/>
              <a:buFont typeface="Noto Sans Symbols"/>
              <a:buChar char="▪"/>
            </a:pPr>
            <a:r>
              <a:rPr b="1" lang="en-US"/>
              <a:t> Anxiety</a:t>
            </a:r>
            <a:r>
              <a:rPr lang="en-US"/>
              <a:t> is anticipation of future threat. (muscle tension and vigilance)</a:t>
            </a:r>
            <a:endParaRPr/>
          </a:p>
          <a:p>
            <a:pPr indent="-127000" lvl="0" marL="91440" rtl="0" algn="l">
              <a:lnSpc>
                <a:spcPct val="90000"/>
              </a:lnSpc>
              <a:spcBef>
                <a:spcPts val="1400"/>
              </a:spcBef>
              <a:spcAft>
                <a:spcPts val="0"/>
              </a:spcAft>
              <a:buSzPts val="2000"/>
              <a:buFont typeface="Noto Sans Symbols"/>
              <a:buChar char="▪"/>
            </a:pPr>
            <a:r>
              <a:rPr b="1" lang="en-US"/>
              <a:t> Fear</a:t>
            </a:r>
            <a:r>
              <a:rPr lang="en-US"/>
              <a:t> is the emotional response to real or perceived imminent threat (fight or flight); </a:t>
            </a:r>
            <a:endParaRPr/>
          </a:p>
          <a:p>
            <a:pPr indent="-127000" lvl="0" marL="91440" rtl="0" algn="l">
              <a:lnSpc>
                <a:spcPct val="90000"/>
              </a:lnSpc>
              <a:spcBef>
                <a:spcPts val="1400"/>
              </a:spcBef>
              <a:spcAft>
                <a:spcPts val="0"/>
              </a:spcAft>
              <a:buSzPts val="2000"/>
              <a:buFont typeface="Noto Sans Symbols"/>
              <a:buChar char="▪"/>
            </a:pPr>
            <a:r>
              <a:rPr lang="en-US"/>
              <a:t> </a:t>
            </a:r>
            <a:r>
              <a:rPr b="1" lang="en-US"/>
              <a:t>Panic</a:t>
            </a:r>
            <a:r>
              <a:rPr lang="en-US"/>
              <a:t> is the sudden overwhelming reaction</a:t>
            </a:r>
            <a:endParaRPr/>
          </a:p>
          <a:p>
            <a:pPr indent="-127000" lvl="0" marL="91440" rtl="0" algn="l">
              <a:lnSpc>
                <a:spcPct val="90000"/>
              </a:lnSpc>
              <a:spcBef>
                <a:spcPts val="1400"/>
              </a:spcBef>
              <a:spcAft>
                <a:spcPts val="0"/>
              </a:spcAft>
              <a:buSzPts val="2000"/>
              <a:buFont typeface="Noto Sans Symbols"/>
              <a:buChar char="▪"/>
            </a:pPr>
            <a:r>
              <a:rPr b="1" lang="en-US"/>
              <a:t> Panic</a:t>
            </a:r>
            <a:r>
              <a:rPr lang="en-US"/>
              <a:t> </a:t>
            </a:r>
            <a:r>
              <a:rPr b="1" lang="en-US"/>
              <a:t>attack</a:t>
            </a:r>
            <a:r>
              <a:rPr lang="en-US"/>
              <a:t> is defined as a sudden experience of intense fear or discomfort, accompanied by   physical symptoms that usually include heart palpitations, chest pain, shortness of breath, and dizziness. </a:t>
            </a:r>
            <a:endParaRPr/>
          </a:p>
          <a:p>
            <a:pPr indent="0" lvl="0" marL="0" rtl="0" algn="l">
              <a:lnSpc>
                <a:spcPct val="100000"/>
              </a:lnSpc>
              <a:spcBef>
                <a:spcPts val="200"/>
              </a:spcBef>
              <a:spcAft>
                <a:spcPts val="0"/>
              </a:spcAft>
              <a:buSzPts val="2000"/>
              <a:buNone/>
            </a:pPr>
            <a:r>
              <a:t/>
            </a:r>
            <a:endParaRPr/>
          </a:p>
          <a:p>
            <a:pPr indent="0" lvl="0" marL="91440" rtl="0" algn="l">
              <a:lnSpc>
                <a:spcPct val="100000"/>
              </a:lnSpc>
              <a:spcBef>
                <a:spcPts val="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5"/>
          <p:cNvPicPr preferRelativeResize="0"/>
          <p:nvPr/>
        </p:nvPicPr>
        <p:blipFill rotWithShape="1">
          <a:blip r:embed="rId3">
            <a:alphaModFix/>
          </a:blip>
          <a:srcRect b="0" l="0" r="0" t="0"/>
          <a:stretch/>
        </p:blipFill>
        <p:spPr>
          <a:xfrm>
            <a:off x="1306520" y="797207"/>
            <a:ext cx="5153273" cy="51062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Types of Panic Attack</a:t>
            </a:r>
            <a:endParaRPr/>
          </a:p>
        </p:txBody>
      </p:sp>
      <p:sp>
        <p:nvSpPr>
          <p:cNvPr id="209" name="Google Shape;209;p3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Situationally bound (cued) panic attack – The panic is bound to a specific stimulus. Ex. If you know you are afraid of high places or of driving over long bridges, you might have a panic attack in these situations but not anywhere else.</a:t>
            </a:r>
            <a:endParaRPr/>
          </a:p>
          <a:p>
            <a:pPr indent="-127000" lvl="0" marL="91440" rtl="0" algn="l">
              <a:lnSpc>
                <a:spcPct val="90000"/>
              </a:lnSpc>
              <a:spcBef>
                <a:spcPts val="1400"/>
              </a:spcBef>
              <a:spcAft>
                <a:spcPts val="0"/>
              </a:spcAft>
              <a:buSzPts val="2000"/>
              <a:buFont typeface="Noto Sans Symbols"/>
              <a:buChar char="▪"/>
            </a:pPr>
            <a:r>
              <a:rPr lang="en-US"/>
              <a:t>Unexpected (uncued) panic attacks – No stimulus can determine the panic attack. Ex. if you don’t have a clue when or where the next attack will occur.</a:t>
            </a:r>
            <a:endParaRPr/>
          </a:p>
          <a:p>
            <a:pPr indent="-127000" lvl="0" marL="91440" rtl="0" algn="l">
              <a:lnSpc>
                <a:spcPct val="90000"/>
              </a:lnSpc>
              <a:spcBef>
                <a:spcPts val="1400"/>
              </a:spcBef>
              <a:spcAft>
                <a:spcPts val="0"/>
              </a:spcAft>
              <a:buSzPts val="2000"/>
              <a:buFont typeface="Noto Sans Symbols"/>
              <a:buChar char="▪"/>
            </a:pPr>
            <a:r>
              <a:rPr lang="en-US"/>
              <a:t>Situationally predisposed panic attack – Between cued and uncued types. You are more likely to, but will not inevitably, have an attack where you have had one before</a:t>
            </a:r>
            <a:endParaRPr/>
          </a:p>
          <a:p>
            <a:pPr indent="0" lvl="0" marL="91440" rtl="0" algn="l">
              <a:lnSpc>
                <a:spcPct val="100000"/>
              </a:lnSpc>
              <a:spcBef>
                <a:spcPts val="200"/>
              </a:spcBef>
              <a:spcAft>
                <a:spcPts val="0"/>
              </a:spcAft>
              <a:buSzPts val="2000"/>
              <a:buFont typeface="Noto Sans Symbols"/>
              <a:buNone/>
            </a:pPr>
            <a:r>
              <a:t/>
            </a:r>
            <a:endParaRPr b="1"/>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Anxiety and Related Disorders</a:t>
            </a:r>
            <a:endParaRPr/>
          </a:p>
        </p:txBody>
      </p:sp>
      <p:sp>
        <p:nvSpPr>
          <p:cNvPr id="216" name="Google Shape;216;p3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100000"/>
              </a:lnSpc>
              <a:spcBef>
                <a:spcPts val="0"/>
              </a:spcBef>
              <a:spcAft>
                <a:spcPts val="0"/>
              </a:spcAft>
              <a:buSzPts val="2000"/>
              <a:buFont typeface="Noto Sans Symbols"/>
              <a:buChar char="▪"/>
            </a:pPr>
            <a:r>
              <a:rPr b="1" lang="en-US"/>
              <a:t>Biological </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Behavioral Inhibition System – activated by signals from the brain stem of unexpected events, such as major changes in body functioning that might signal danger; activation of this system leads to anxiety and frustration</a:t>
            </a:r>
            <a:endParaRPr/>
          </a:p>
          <a:p>
            <a:pPr indent="0" lvl="0" marL="91440" rtl="0" algn="l">
              <a:lnSpc>
                <a:spcPct val="100000"/>
              </a:lnSpc>
              <a:spcBef>
                <a:spcPts val="0"/>
              </a:spcBef>
              <a:spcAft>
                <a:spcPts val="0"/>
              </a:spcAft>
              <a:buSzPts val="2000"/>
              <a:buFont typeface="Noto Sans Symbols"/>
              <a:buNone/>
            </a:pPr>
            <a:r>
              <a:t/>
            </a:r>
            <a:endParaRPr b="1"/>
          </a:p>
          <a:p>
            <a:pPr indent="-127000" lvl="0" marL="91440" rtl="0" algn="l">
              <a:lnSpc>
                <a:spcPct val="100000"/>
              </a:lnSpc>
              <a:spcBef>
                <a:spcPts val="0"/>
              </a:spcBef>
              <a:spcAft>
                <a:spcPts val="0"/>
              </a:spcAft>
              <a:buSzPts val="2000"/>
              <a:buFont typeface="Noto Sans Symbols"/>
              <a:buChar char="⮚"/>
            </a:pPr>
            <a:r>
              <a:rPr lang="en-US"/>
              <a:t>Fight or Flight System – produces an immediate alarm-and-escape response</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Fear Circuit of the Brain – amygdala is activated and the medial prefrontal cortex appears to help regulate amygdala activity</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Imbalance of Neurotransmitters – persons with anxiety disorders has low levels of GABA and Serotonin, while Norepinephrine is in higher than normal levels. </a:t>
            </a:r>
            <a:endParaRPr/>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Anxiety and Related Disorders</a:t>
            </a:r>
            <a:endParaRPr/>
          </a:p>
        </p:txBody>
      </p:sp>
      <p:sp>
        <p:nvSpPr>
          <p:cNvPr id="223" name="Google Shape;223;p3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b="1" lang="en-US"/>
              <a:t>Psychological </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Behavioral theorists thought anxiety was the product of early classical conditioning, modeling, or other forms of learning.</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Anxiety sensitivity, which appears to be an important personality trait determines who will and who will not experience problems with anxiety under certain stressful conditions.</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A sense of control (or lack of it) that develops from these early experiences is the psychological</a:t>
            </a:r>
            <a:endParaRPr/>
          </a:p>
          <a:p>
            <a:pPr indent="0" lvl="0" marL="0" rtl="0" algn="l">
              <a:lnSpc>
                <a:spcPct val="100000"/>
              </a:lnSpc>
              <a:spcBef>
                <a:spcPts val="0"/>
              </a:spcBef>
              <a:spcAft>
                <a:spcPts val="0"/>
              </a:spcAft>
              <a:buSzPts val="2000"/>
              <a:buNone/>
            </a:pPr>
            <a:r>
              <a:rPr lang="en-US"/>
              <a:t>factor that makes us more or less vulnerable to anxiety in later life. </a:t>
            </a:r>
            <a:endParaRPr/>
          </a:p>
          <a:p>
            <a:pPr indent="0" lvl="0" marL="91440" rtl="0" algn="l">
              <a:lnSpc>
                <a:spcPct val="100000"/>
              </a:lnSpc>
              <a:spcBef>
                <a:spcPts val="0"/>
              </a:spcBef>
              <a:spcAft>
                <a:spcPts val="0"/>
              </a:spcAft>
              <a:buSzPts val="2000"/>
              <a:buFont typeface="Noto Sans Symbols"/>
              <a:buNone/>
            </a:pPr>
            <a:r>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Anxiety and Related Disorders</a:t>
            </a:r>
            <a:endParaRPr/>
          </a:p>
        </p:txBody>
      </p:sp>
      <p:sp>
        <p:nvSpPr>
          <p:cNvPr id="230" name="Google Shape;230;p3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b="1" lang="en-US"/>
              <a:t>Social  </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Stressful life events such as marriage, divorce, difficulties at work, death of a loved one, pressures to excel in school, and so on. Some might be physical, such as an injury or illness.</a:t>
            </a:r>
            <a:endParaRPr/>
          </a:p>
        </p:txBody>
      </p:sp>
      <p:pic>
        <p:nvPicPr>
          <p:cNvPr id="231" name="Google Shape;231;p39"/>
          <p:cNvPicPr preferRelativeResize="0"/>
          <p:nvPr/>
        </p:nvPicPr>
        <p:blipFill rotWithShape="1">
          <a:blip r:embed="rId3">
            <a:alphaModFix/>
          </a:blip>
          <a:srcRect b="0" l="0" r="0" t="0"/>
          <a:stretch/>
        </p:blipFill>
        <p:spPr>
          <a:xfrm>
            <a:off x="1782706" y="3429000"/>
            <a:ext cx="8626588" cy="25681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Generalized Anxiety Disorder</a:t>
            </a:r>
            <a:endParaRPr/>
          </a:p>
        </p:txBody>
      </p:sp>
      <p:sp>
        <p:nvSpPr>
          <p:cNvPr id="238" name="Google Shape;238;p42"/>
          <p:cNvSpPr txBox="1"/>
          <p:nvPr>
            <p:ph idx="1" type="body"/>
          </p:nvPr>
        </p:nvSpPr>
        <p:spPr>
          <a:xfrm>
            <a:off x="1097280" y="1845734"/>
            <a:ext cx="5077378" cy="4023360"/>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l">
              <a:lnSpc>
                <a:spcPct val="100000"/>
              </a:lnSpc>
              <a:spcBef>
                <a:spcPts val="0"/>
              </a:spcBef>
              <a:spcAft>
                <a:spcPts val="0"/>
              </a:spcAft>
              <a:buSzPct val="100000"/>
              <a:buFont typeface="Noto Sans Symbols"/>
              <a:buChar char="▪"/>
            </a:pPr>
            <a:r>
              <a:rPr lang="en-US"/>
              <a:t>eople with GAD are persistently worried, even about minor things. They worry about relationships, health, finances, and daily nuisance, and eventually cause distress or impairment in their daily life. </a:t>
            </a:r>
            <a:endParaRPr/>
          </a:p>
          <a:p>
            <a:pPr indent="0" lvl="0" marL="91440" rtl="0" algn="l">
              <a:lnSpc>
                <a:spcPct val="100000"/>
              </a:lnSpc>
              <a:spcBef>
                <a:spcPts val="0"/>
              </a:spcBef>
              <a:spcAft>
                <a:spcPts val="0"/>
              </a:spcAft>
              <a:buNone/>
            </a:pPr>
            <a:r>
              <a:t/>
            </a:r>
            <a:endParaRPr/>
          </a:p>
          <a:p>
            <a:pPr indent="-117475" lvl="0" marL="91440" rtl="0" algn="l">
              <a:lnSpc>
                <a:spcPct val="100000"/>
              </a:lnSpc>
              <a:spcBef>
                <a:spcPts val="0"/>
              </a:spcBef>
              <a:spcAft>
                <a:spcPts val="0"/>
              </a:spcAft>
              <a:buSzPct val="100000"/>
              <a:buFont typeface="Noto Sans Symbols"/>
              <a:buChar char="▪"/>
            </a:pPr>
            <a:r>
              <a:rPr lang="en-US"/>
              <a:t>GAD is characterized by muscle tension, mental agitation, susceptibility to fatigue, some irritability, and difficulty sleeping.</a:t>
            </a:r>
            <a:endParaRPr/>
          </a:p>
          <a:p>
            <a:pPr indent="0" lvl="0" marL="91440" rtl="0" algn="l">
              <a:lnSpc>
                <a:spcPct val="100000"/>
              </a:lnSpc>
              <a:spcBef>
                <a:spcPts val="0"/>
              </a:spcBef>
              <a:spcAft>
                <a:spcPts val="0"/>
              </a:spcAft>
              <a:buNone/>
            </a:pPr>
            <a:r>
              <a:t/>
            </a:r>
            <a:endParaRPr b="1"/>
          </a:p>
          <a:p>
            <a:pPr indent="-117475" lvl="0" marL="91440" rtl="0" algn="l">
              <a:lnSpc>
                <a:spcPct val="100000"/>
              </a:lnSpc>
              <a:spcBef>
                <a:spcPts val="0"/>
              </a:spcBef>
              <a:spcAft>
                <a:spcPts val="0"/>
              </a:spcAft>
              <a:buSzPct val="100000"/>
              <a:buFont typeface="Noto Sans Symbols"/>
              <a:buChar char="▪"/>
            </a:pPr>
            <a:r>
              <a:rPr lang="en-US"/>
              <a:t>Common among adults (45 y.o and above)</a:t>
            </a:r>
            <a:endParaRPr/>
          </a:p>
          <a:p>
            <a:pPr indent="0" lvl="0" marL="0" rtl="0" algn="l">
              <a:lnSpc>
                <a:spcPct val="100000"/>
              </a:lnSpc>
              <a:spcBef>
                <a:spcPts val="0"/>
              </a:spcBef>
              <a:spcAft>
                <a:spcPts val="0"/>
              </a:spcAft>
              <a:buNone/>
            </a:pPr>
            <a:r>
              <a:t/>
            </a:r>
            <a:endParaRPr/>
          </a:p>
          <a:p>
            <a:pPr indent="-117475" lvl="0" marL="91440" rtl="0" algn="l">
              <a:lnSpc>
                <a:spcPct val="100000"/>
              </a:lnSpc>
              <a:spcBef>
                <a:spcPts val="0"/>
              </a:spcBef>
              <a:spcAft>
                <a:spcPts val="0"/>
              </a:spcAft>
              <a:buSzPct val="100000"/>
              <a:buFont typeface="Noto Sans Symbols"/>
              <a:buChar char="▪"/>
            </a:pPr>
            <a:r>
              <a:rPr lang="en-US"/>
              <a:t>Some reports onset in early adulthood.</a:t>
            </a:r>
            <a:endParaRPr/>
          </a:p>
          <a:p>
            <a:pPr indent="0" lvl="0" marL="91440" rtl="0" algn="l">
              <a:lnSpc>
                <a:spcPct val="100000"/>
              </a:lnSpc>
              <a:spcBef>
                <a:spcPts val="0"/>
              </a:spcBef>
              <a:spcAft>
                <a:spcPts val="0"/>
              </a:spcAft>
              <a:buNone/>
            </a:pPr>
            <a:r>
              <a:t/>
            </a:r>
            <a:endParaRPr/>
          </a:p>
          <a:p>
            <a:pPr indent="-117475" lvl="0" marL="91440" rtl="0" algn="l">
              <a:lnSpc>
                <a:spcPct val="100000"/>
              </a:lnSpc>
              <a:spcBef>
                <a:spcPts val="0"/>
              </a:spcBef>
              <a:spcAft>
                <a:spcPts val="0"/>
              </a:spcAft>
              <a:buSzPct val="100000"/>
              <a:buFont typeface="Noto Sans Symbols"/>
              <a:buChar char="▪"/>
            </a:pPr>
            <a:r>
              <a:rPr lang="en-US"/>
              <a:t>“free-floating”</a:t>
            </a:r>
            <a:r>
              <a:rPr lang="en-US"/>
              <a:t>P</a:t>
            </a:r>
            <a:endParaRPr/>
          </a:p>
        </p:txBody>
      </p:sp>
      <p:pic>
        <p:nvPicPr>
          <p:cNvPr id="239" name="Google Shape;239;p42"/>
          <p:cNvPicPr preferRelativeResize="0"/>
          <p:nvPr/>
        </p:nvPicPr>
        <p:blipFill rotWithShape="1">
          <a:blip r:embed="rId3">
            <a:alphaModFix/>
          </a:blip>
          <a:srcRect b="0" l="0" r="0" t="0"/>
          <a:stretch/>
        </p:blipFill>
        <p:spPr>
          <a:xfrm>
            <a:off x="7651175" y="1845734"/>
            <a:ext cx="3587095" cy="446617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GAD</a:t>
            </a:r>
            <a:endParaRPr/>
          </a:p>
        </p:txBody>
      </p:sp>
      <p:sp>
        <p:nvSpPr>
          <p:cNvPr id="246" name="Google Shape;246;p43"/>
          <p:cNvSpPr txBox="1"/>
          <p:nvPr>
            <p:ph idx="1" type="body"/>
          </p:nvPr>
        </p:nvSpPr>
        <p:spPr>
          <a:xfrm>
            <a:off x="1185770" y="1875231"/>
            <a:ext cx="6241726"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100000"/>
              </a:lnSpc>
              <a:spcBef>
                <a:spcPts val="0"/>
              </a:spcBef>
              <a:spcAft>
                <a:spcPts val="0"/>
              </a:spcAft>
              <a:buSzPts val="2000"/>
              <a:buFont typeface="Noto Sans Symbols"/>
              <a:buChar char="▪"/>
            </a:pPr>
            <a:r>
              <a:rPr lang="en-US"/>
              <a:t> Generalized biological vulnerability – inherited tendency to become anxious</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Several studies have found that individuals with GAD have been called </a:t>
            </a:r>
            <a:r>
              <a:rPr b="1" lang="en-US"/>
              <a:t>autonomic restrictors</a:t>
            </a:r>
            <a:r>
              <a:rPr lang="en-US"/>
              <a:t> since they show less responsiveness on most physiological measures, such as heart rate, blood pressure, skin conductance, and respiration rate than do individuals with other anxiety disorders.</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 Generalized psychological vulnerability - highly sensitive to threat </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Left frontal lobe activation</a:t>
            </a:r>
            <a:endParaRPr/>
          </a:p>
          <a:p>
            <a:pPr indent="0" lvl="0" marL="0" rtl="0" algn="l">
              <a:lnSpc>
                <a:spcPct val="100000"/>
              </a:lnSpc>
              <a:spcBef>
                <a:spcPts val="0"/>
              </a:spcBef>
              <a:spcAft>
                <a:spcPts val="0"/>
              </a:spcAft>
              <a:buSzPts val="2000"/>
              <a:buNone/>
            </a:pPr>
            <a:r>
              <a:t/>
            </a:r>
            <a:endParaRPr/>
          </a:p>
        </p:txBody>
      </p:sp>
      <p:pic>
        <p:nvPicPr>
          <p:cNvPr id="247" name="Google Shape;247;p43"/>
          <p:cNvPicPr preferRelativeResize="0"/>
          <p:nvPr/>
        </p:nvPicPr>
        <p:blipFill rotWithShape="1">
          <a:blip r:embed="rId3">
            <a:alphaModFix/>
          </a:blip>
          <a:srcRect b="0" l="0" r="0" t="0"/>
          <a:stretch/>
        </p:blipFill>
        <p:spPr>
          <a:xfrm>
            <a:off x="7792500" y="1875231"/>
            <a:ext cx="3363180" cy="426038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Treatment of GAD</a:t>
            </a:r>
            <a:endParaRPr/>
          </a:p>
        </p:txBody>
      </p:sp>
      <p:sp>
        <p:nvSpPr>
          <p:cNvPr id="254" name="Google Shape;254;p44"/>
          <p:cNvSpPr txBox="1"/>
          <p:nvPr>
            <p:ph idx="1" type="body"/>
          </p:nvPr>
        </p:nvSpPr>
        <p:spPr>
          <a:xfrm>
            <a:off x="1185770" y="1875231"/>
            <a:ext cx="8872630"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lang="en-US"/>
              <a:t> Benzodiazepines are most often prescribed for generalized anxiety.</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 Antidepressants</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 Cognitive-behavioral Treatment (CBT)</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Meditational and mindfulness-based approaches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Panic Disorder and Agoraphobia</a:t>
            </a:r>
            <a:endParaRPr/>
          </a:p>
        </p:txBody>
      </p:sp>
      <p:sp>
        <p:nvSpPr>
          <p:cNvPr id="261" name="Google Shape;261;p45"/>
          <p:cNvSpPr txBox="1"/>
          <p:nvPr>
            <p:ph idx="1" type="body"/>
          </p:nvPr>
        </p:nvSpPr>
        <p:spPr>
          <a:xfrm>
            <a:off x="1097280" y="1845734"/>
            <a:ext cx="5077378"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100000"/>
              </a:lnSpc>
              <a:spcBef>
                <a:spcPts val="0"/>
              </a:spcBef>
              <a:spcAft>
                <a:spcPts val="0"/>
              </a:spcAft>
              <a:buSzPts val="2000"/>
              <a:buFont typeface="Noto Sans Symbols"/>
              <a:buChar char="▪"/>
            </a:pPr>
            <a:r>
              <a:rPr lang="en-US"/>
              <a:t>In Panic Disorder, individuals experience severe, unexpected panic attacks; they may think</a:t>
            </a:r>
            <a:endParaRPr/>
          </a:p>
          <a:p>
            <a:pPr indent="0" lvl="0" marL="0" rtl="0" algn="l">
              <a:lnSpc>
                <a:spcPct val="100000"/>
              </a:lnSpc>
              <a:spcBef>
                <a:spcPts val="0"/>
              </a:spcBef>
              <a:spcAft>
                <a:spcPts val="0"/>
              </a:spcAft>
              <a:buSzPts val="2000"/>
              <a:buNone/>
            </a:pPr>
            <a:r>
              <a:rPr lang="en-US"/>
              <a:t> they’re dying or otherwise losing control.</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Agoraphobia is a disorder that is characterized by fear and avoidance  of situations in which a person feels unsafe and unable to escape to get home or to a hospital in the event of a developing panic, panic-like symptoms, or other physical symptoms</a:t>
            </a:r>
            <a:endParaRPr/>
          </a:p>
          <a:p>
            <a:pPr indent="0" lvl="0" marL="0" rtl="0" algn="l">
              <a:lnSpc>
                <a:spcPct val="100000"/>
              </a:lnSpc>
              <a:spcBef>
                <a:spcPts val="0"/>
              </a:spcBef>
              <a:spcAft>
                <a:spcPts val="0"/>
              </a:spcAft>
              <a:buSzPts val="2000"/>
              <a:buNone/>
            </a:pPr>
            <a:r>
              <a:t/>
            </a:r>
            <a:endParaRPr/>
          </a:p>
          <a:p>
            <a:pPr indent="-127000" lvl="0" marL="91440" rtl="0" algn="l">
              <a:lnSpc>
                <a:spcPct val="100000"/>
              </a:lnSpc>
              <a:spcBef>
                <a:spcPts val="0"/>
              </a:spcBef>
              <a:spcAft>
                <a:spcPts val="0"/>
              </a:spcAft>
              <a:buSzPts val="2000"/>
              <a:buFont typeface="Noto Sans Symbols"/>
              <a:buChar char="▪"/>
            </a:pPr>
            <a:r>
              <a:rPr lang="en-US"/>
              <a:t>The term </a:t>
            </a:r>
            <a:r>
              <a:rPr b="1" lang="en-US"/>
              <a:t>agoraphobia</a:t>
            </a:r>
            <a:r>
              <a:rPr lang="en-US"/>
              <a:t> was coined by Karl Westphal, a German physician, which refers to fear of the marketplace.</a:t>
            </a:r>
            <a:endParaRPr/>
          </a:p>
        </p:txBody>
      </p:sp>
      <p:pic>
        <p:nvPicPr>
          <p:cNvPr id="262" name="Google Shape;262;p45"/>
          <p:cNvPicPr preferRelativeResize="0"/>
          <p:nvPr/>
        </p:nvPicPr>
        <p:blipFill rotWithShape="1">
          <a:blip r:embed="rId3">
            <a:alphaModFix/>
          </a:blip>
          <a:srcRect b="0" l="0" r="0" t="0"/>
          <a:stretch/>
        </p:blipFill>
        <p:spPr>
          <a:xfrm>
            <a:off x="6872869" y="2554005"/>
            <a:ext cx="4282811" cy="226333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46"/>
          <p:cNvPicPr preferRelativeResize="0"/>
          <p:nvPr/>
        </p:nvPicPr>
        <p:blipFill rotWithShape="1">
          <a:blip r:embed="rId3">
            <a:alphaModFix/>
          </a:blip>
          <a:srcRect b="0" l="0" r="0" t="0"/>
          <a:stretch/>
        </p:blipFill>
        <p:spPr>
          <a:xfrm>
            <a:off x="7177547" y="318943"/>
            <a:ext cx="3418415" cy="5796721"/>
          </a:xfrm>
          <a:prstGeom prst="rect">
            <a:avLst/>
          </a:prstGeom>
          <a:noFill/>
          <a:ln>
            <a:noFill/>
          </a:ln>
        </p:spPr>
      </p:pic>
      <p:pic>
        <p:nvPicPr>
          <p:cNvPr id="269" name="Google Shape;269;p46"/>
          <p:cNvPicPr preferRelativeResize="0"/>
          <p:nvPr/>
        </p:nvPicPr>
        <p:blipFill rotWithShape="1">
          <a:blip r:embed="rId4">
            <a:alphaModFix/>
          </a:blip>
          <a:srcRect b="0" l="10678" r="0" t="0"/>
          <a:stretch/>
        </p:blipFill>
        <p:spPr>
          <a:xfrm>
            <a:off x="1455493" y="607357"/>
            <a:ext cx="4277506" cy="402363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Panic Disorder</a:t>
            </a:r>
            <a:endParaRPr/>
          </a:p>
        </p:txBody>
      </p:sp>
      <p:sp>
        <p:nvSpPr>
          <p:cNvPr id="276" name="Google Shape;276;p47"/>
          <p:cNvSpPr txBox="1"/>
          <p:nvPr>
            <p:ph idx="1" type="body"/>
          </p:nvPr>
        </p:nvSpPr>
        <p:spPr>
          <a:xfrm>
            <a:off x="1185769" y="1875231"/>
            <a:ext cx="9531391"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lang="en-US"/>
              <a:t> Generalized biological vulnerability – generally neurobiologically overreactive to the events of daily life</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Behavioral factor - Classical conditioning of panic attacks in response to bodily sensations has been called </a:t>
            </a:r>
            <a:r>
              <a:rPr b="1" lang="en-US"/>
              <a:t>interoceptive conditioning</a:t>
            </a:r>
            <a:r>
              <a:rPr lang="en-US"/>
              <a:t>: a person experiences somatic signs of anxiety, which are followed by the person’s first panic attack; panic attacks then become a conditioned response to the somatic changes.</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The influential cognitive theories of David Clark (1986, 1996) emphasizes the specific psychological vulnerability of people with this disorder to interpret normal physical sensations in a catastrophic way.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48"/>
          <p:cNvPicPr preferRelativeResize="0"/>
          <p:nvPr/>
        </p:nvPicPr>
        <p:blipFill rotWithShape="1">
          <a:blip r:embed="rId3">
            <a:alphaModFix/>
          </a:blip>
          <a:srcRect b="0" l="0" r="0" t="0"/>
          <a:stretch/>
        </p:blipFill>
        <p:spPr>
          <a:xfrm>
            <a:off x="2297820" y="497283"/>
            <a:ext cx="8009314" cy="527349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Treatment of Panic Disorder</a:t>
            </a:r>
            <a:endParaRPr/>
          </a:p>
        </p:txBody>
      </p:sp>
      <p:sp>
        <p:nvSpPr>
          <p:cNvPr id="288" name="Google Shape;288;p49"/>
          <p:cNvSpPr txBox="1"/>
          <p:nvPr>
            <p:ph idx="1" type="body"/>
          </p:nvPr>
        </p:nvSpPr>
        <p:spPr>
          <a:xfrm>
            <a:off x="1185770" y="1875231"/>
            <a:ext cx="8872630"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lang="en-US"/>
              <a:t> Medications</a:t>
            </a:r>
            <a:endParaRPr/>
          </a:p>
          <a:p>
            <a:pPr indent="0" lvl="0" marL="0" rtl="0" algn="l">
              <a:lnSpc>
                <a:spcPct val="100000"/>
              </a:lnSpc>
              <a:spcBef>
                <a:spcPts val="0"/>
              </a:spcBef>
              <a:spcAft>
                <a:spcPts val="0"/>
              </a:spcAft>
              <a:buSzPts val="2000"/>
              <a:buNone/>
            </a:pPr>
            <a:r>
              <a:rPr lang="en-US"/>
              <a:t>- benzodiazepines, selective-serotonin reuptake inhibitors (SSRIs) such as Prozac and Paxil, and serotonin-norepinephrine reuptake inhibitors (SNRIs)</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Psychological intervention</a:t>
            </a:r>
            <a:endParaRPr/>
          </a:p>
          <a:p>
            <a:pPr indent="-127000" lvl="0" marL="91440" rtl="0" algn="l">
              <a:lnSpc>
                <a:spcPct val="100000"/>
              </a:lnSpc>
              <a:spcBef>
                <a:spcPts val="0"/>
              </a:spcBef>
              <a:spcAft>
                <a:spcPts val="0"/>
              </a:spcAft>
              <a:buSzPts val="2000"/>
              <a:buFont typeface="Calibri"/>
              <a:buChar char="-"/>
            </a:pPr>
            <a:r>
              <a:rPr lang="en-US"/>
              <a:t>exposure-based treatments</a:t>
            </a:r>
            <a:endParaRPr/>
          </a:p>
          <a:p>
            <a:pPr indent="-127000" lvl="0" marL="91440" rtl="0" algn="l">
              <a:lnSpc>
                <a:spcPct val="100000"/>
              </a:lnSpc>
              <a:spcBef>
                <a:spcPts val="0"/>
              </a:spcBef>
              <a:spcAft>
                <a:spcPts val="0"/>
              </a:spcAft>
              <a:buSzPts val="2000"/>
              <a:buFont typeface="Calibri"/>
              <a:buChar char="-"/>
            </a:pPr>
            <a:r>
              <a:rPr lang="en-US"/>
              <a:t>Panic control treatment (PCT) – the therapist uses exposure techniques that convinces the client to deliberately elicit the sensations associated with panic.</a:t>
            </a:r>
            <a:endParaRPr/>
          </a:p>
          <a:p>
            <a:pPr indent="0" lvl="0" marL="0" rtl="0" algn="l">
              <a:lnSpc>
                <a:spcPct val="100000"/>
              </a:lnSpc>
              <a:spcBef>
                <a:spcPts val="0"/>
              </a:spcBef>
              <a:spcAft>
                <a:spcPts val="0"/>
              </a:spcAft>
              <a:buSzPts val="2000"/>
              <a:buNone/>
            </a:pPr>
            <a:r>
              <a:t/>
            </a:r>
            <a:endParaRPr/>
          </a:p>
        </p:txBody>
      </p:sp>
      <p:pic>
        <p:nvPicPr>
          <p:cNvPr id="289" name="Google Shape;289;p49"/>
          <p:cNvPicPr preferRelativeResize="0"/>
          <p:nvPr/>
        </p:nvPicPr>
        <p:blipFill rotWithShape="1">
          <a:blip r:embed="rId3">
            <a:alphaModFix/>
          </a:blip>
          <a:srcRect b="0" l="0" r="0" t="0"/>
          <a:stretch/>
        </p:blipFill>
        <p:spPr>
          <a:xfrm>
            <a:off x="3930160" y="4538149"/>
            <a:ext cx="4186810" cy="157751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Specific Phobia</a:t>
            </a:r>
            <a:endParaRPr/>
          </a:p>
        </p:txBody>
      </p:sp>
      <p:sp>
        <p:nvSpPr>
          <p:cNvPr id="296" name="Google Shape;296;p50"/>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fontScale="85000" lnSpcReduction="10000"/>
          </a:bodyPr>
          <a:lstStyle/>
          <a:p>
            <a:pPr indent="-107950" lvl="0" marL="91440" rtl="0" algn="l">
              <a:lnSpc>
                <a:spcPct val="100000"/>
              </a:lnSpc>
              <a:spcBef>
                <a:spcPts val="0"/>
              </a:spcBef>
              <a:spcAft>
                <a:spcPts val="0"/>
              </a:spcAft>
              <a:buSzPct val="100000"/>
              <a:buFont typeface="Noto Sans Symbols"/>
              <a:buChar char="▪"/>
            </a:pPr>
            <a:r>
              <a:rPr lang="en-US"/>
              <a:t>A specific phobia is an irrational fear of a specific object or situation that markedly interferes with an individual’s ability to function</a:t>
            </a:r>
            <a:endParaRPr/>
          </a:p>
          <a:p>
            <a:pPr indent="0" lvl="0" marL="91440" rtl="0" algn="l">
              <a:lnSpc>
                <a:spcPct val="100000"/>
              </a:lnSpc>
              <a:spcBef>
                <a:spcPts val="0"/>
              </a:spcBef>
              <a:spcAft>
                <a:spcPts val="0"/>
              </a:spcAft>
              <a:buSzPct val="100000"/>
              <a:buFont typeface="Noto Sans Symbols"/>
              <a:buNone/>
            </a:pPr>
            <a:r>
              <a:t/>
            </a:r>
            <a:endParaRPr/>
          </a:p>
          <a:p>
            <a:pPr indent="-107950" lvl="0" marL="91440" rtl="0" algn="l">
              <a:lnSpc>
                <a:spcPct val="100000"/>
              </a:lnSpc>
              <a:spcBef>
                <a:spcPts val="0"/>
              </a:spcBef>
              <a:spcAft>
                <a:spcPts val="0"/>
              </a:spcAft>
              <a:buSzPct val="100000"/>
              <a:buFont typeface="Noto Sans Symbols"/>
              <a:buChar char="▪"/>
            </a:pPr>
            <a:r>
              <a:rPr lang="en-US"/>
              <a:t>Fear and anxiety were out of proportion to any actual danger</a:t>
            </a:r>
            <a:endParaRPr/>
          </a:p>
          <a:p>
            <a:pPr indent="0" lvl="0" marL="91440" rtl="0" algn="l">
              <a:lnSpc>
                <a:spcPct val="100000"/>
              </a:lnSpc>
              <a:spcBef>
                <a:spcPts val="0"/>
              </a:spcBef>
              <a:spcAft>
                <a:spcPts val="0"/>
              </a:spcAft>
              <a:buSzPct val="100000"/>
              <a:buFont typeface="Noto Sans Symbols"/>
              <a:buNone/>
            </a:pPr>
            <a:r>
              <a:t/>
            </a:r>
            <a:endParaRPr/>
          </a:p>
          <a:p>
            <a:pPr indent="-107950" lvl="0" marL="91440" rtl="0" algn="l">
              <a:lnSpc>
                <a:spcPct val="100000"/>
              </a:lnSpc>
              <a:spcBef>
                <a:spcPts val="0"/>
              </a:spcBef>
              <a:spcAft>
                <a:spcPts val="0"/>
              </a:spcAft>
              <a:buSzPct val="100000"/>
              <a:buFont typeface="Noto Sans Symbols"/>
              <a:buChar char="▪"/>
            </a:pPr>
            <a:r>
              <a:rPr lang="en-US"/>
              <a:t> Blood–injection–injury Phobias – average onset is approx. 9 years, inherited strong</a:t>
            </a:r>
            <a:endParaRPr/>
          </a:p>
          <a:p>
            <a:pPr indent="0" lvl="0" marL="0" rtl="0" algn="l">
              <a:lnSpc>
                <a:spcPct val="100000"/>
              </a:lnSpc>
              <a:spcBef>
                <a:spcPts val="0"/>
              </a:spcBef>
              <a:spcAft>
                <a:spcPts val="0"/>
              </a:spcAft>
              <a:buSzPct val="100000"/>
              <a:buNone/>
            </a:pPr>
            <a:r>
              <a:rPr lang="en-US"/>
              <a:t>vasovagal response to blood, injury, or the possibility of an injection, all of which cause a tendency to faint</a:t>
            </a:r>
            <a:endParaRPr/>
          </a:p>
          <a:p>
            <a:pPr indent="0" lvl="0" marL="91440" rtl="0" algn="l">
              <a:lnSpc>
                <a:spcPct val="100000"/>
              </a:lnSpc>
              <a:spcBef>
                <a:spcPts val="0"/>
              </a:spcBef>
              <a:spcAft>
                <a:spcPts val="0"/>
              </a:spcAft>
              <a:buSzPct val="100000"/>
              <a:buFont typeface="Noto Sans Symbols"/>
              <a:buNone/>
            </a:pPr>
            <a:r>
              <a:t/>
            </a:r>
            <a:endParaRPr/>
          </a:p>
          <a:p>
            <a:pPr indent="-107950" lvl="0" marL="91440" rtl="0" algn="l">
              <a:lnSpc>
                <a:spcPct val="100000"/>
              </a:lnSpc>
              <a:spcBef>
                <a:spcPts val="0"/>
              </a:spcBef>
              <a:spcAft>
                <a:spcPts val="0"/>
              </a:spcAft>
              <a:buSzPct val="100000"/>
              <a:buFont typeface="Noto Sans Symbols"/>
              <a:buChar char="▪"/>
            </a:pPr>
            <a:r>
              <a:rPr lang="en-US"/>
              <a:t>Situational Phobias - characterized by fear of public transportation or enclosed places. Onset is mid-teens to mid-20s, cued panic attacks</a:t>
            </a:r>
            <a:endParaRPr/>
          </a:p>
          <a:p>
            <a:pPr indent="0" lvl="0" marL="91440" rtl="0" algn="l">
              <a:lnSpc>
                <a:spcPct val="100000"/>
              </a:lnSpc>
              <a:spcBef>
                <a:spcPts val="0"/>
              </a:spcBef>
              <a:spcAft>
                <a:spcPts val="0"/>
              </a:spcAft>
              <a:buSzPct val="100000"/>
              <a:buFont typeface="Noto Sans Symbols"/>
              <a:buNone/>
            </a:pPr>
            <a:r>
              <a:t/>
            </a:r>
            <a:endParaRPr/>
          </a:p>
          <a:p>
            <a:pPr indent="-107950" lvl="0" marL="91440" rtl="0" algn="l">
              <a:lnSpc>
                <a:spcPct val="100000"/>
              </a:lnSpc>
              <a:spcBef>
                <a:spcPts val="0"/>
              </a:spcBef>
              <a:spcAft>
                <a:spcPts val="0"/>
              </a:spcAft>
              <a:buSzPct val="100000"/>
              <a:buFont typeface="Noto Sans Symbols"/>
              <a:buChar char="▪"/>
            </a:pPr>
            <a:r>
              <a:rPr lang="en-US"/>
              <a:t> Natural Environment Phobias – e.g heights, storms, and water; fears also seem to cluster together, associated with real dangers; peak age of onset of about 7 years</a:t>
            </a:r>
            <a:endParaRPr/>
          </a:p>
          <a:p>
            <a:pPr indent="0" lvl="0" marL="91440" rtl="0" algn="l">
              <a:lnSpc>
                <a:spcPct val="100000"/>
              </a:lnSpc>
              <a:spcBef>
                <a:spcPts val="0"/>
              </a:spcBef>
              <a:spcAft>
                <a:spcPts val="0"/>
              </a:spcAft>
              <a:buSzPct val="100000"/>
              <a:buFont typeface="Noto Sans Symbols"/>
              <a:buNone/>
            </a:pPr>
            <a:r>
              <a:t/>
            </a:r>
            <a:endParaRPr/>
          </a:p>
          <a:p>
            <a:pPr indent="-107950" lvl="0" marL="91440" rtl="0" algn="l">
              <a:lnSpc>
                <a:spcPct val="100000"/>
              </a:lnSpc>
              <a:spcBef>
                <a:spcPts val="0"/>
              </a:spcBef>
              <a:spcAft>
                <a:spcPts val="0"/>
              </a:spcAft>
              <a:buSzPct val="100000"/>
              <a:buFont typeface="Noto Sans Symbols"/>
              <a:buChar char="▪"/>
            </a:pPr>
            <a:r>
              <a:rPr lang="en-US"/>
              <a:t>Animal Phobias - fears of animals and insects (e.g dogs, snakes, mice), peak age of onset of about 7 years</a:t>
            </a:r>
            <a:endParaRPr/>
          </a:p>
          <a:p>
            <a:pPr indent="0" lvl="0" marL="91440" rtl="0" algn="l">
              <a:lnSpc>
                <a:spcPct val="100000"/>
              </a:lnSpc>
              <a:spcBef>
                <a:spcPts val="0"/>
              </a:spcBef>
              <a:spcAft>
                <a:spcPts val="0"/>
              </a:spcAft>
              <a:buSzPct val="100000"/>
              <a:buFont typeface="Noto Sans Symbols"/>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graphicFrame>
        <p:nvGraphicFramePr>
          <p:cNvPr id="301" name="Google Shape;301;p51"/>
          <p:cNvGraphicFramePr/>
          <p:nvPr/>
        </p:nvGraphicFramePr>
        <p:xfrm>
          <a:off x="2032000" y="1034298"/>
          <a:ext cx="3000000" cy="3000000"/>
        </p:xfrm>
        <a:graphic>
          <a:graphicData uri="http://schemas.openxmlformats.org/drawingml/2006/table">
            <a:tbl>
              <a:tblPr bandRow="1" firstRow="1">
                <a:noFill/>
                <a:tableStyleId>{57AEE4AB-FEDD-41E7-9CBD-5DDE355220A3}</a:tableStyleId>
              </a:tblPr>
              <a:tblGrid>
                <a:gridCol w="4064000"/>
                <a:gridCol w="4064000"/>
              </a:tblGrid>
              <a:tr h="541775">
                <a:tc>
                  <a:txBody>
                    <a:bodyPr/>
                    <a:lstStyle/>
                    <a:p>
                      <a:pPr indent="0" lvl="0" marL="0" marR="0" rtl="0" algn="ctr">
                        <a:spcBef>
                          <a:spcPts val="0"/>
                        </a:spcBef>
                        <a:spcAft>
                          <a:spcPts val="0"/>
                        </a:spcAft>
                        <a:buNone/>
                      </a:pPr>
                      <a:r>
                        <a:rPr lang="en-US" sz="2700" u="none" cap="none" strike="noStrike">
                          <a:solidFill>
                            <a:schemeClr val="dk1"/>
                          </a:solidFill>
                          <a:latin typeface="Times New Roman"/>
                          <a:ea typeface="Times New Roman"/>
                          <a:cs typeface="Times New Roman"/>
                          <a:sym typeface="Times New Roman"/>
                        </a:rPr>
                        <a:t>Phobia</a:t>
                      </a:r>
                      <a:endParaRPr sz="2300">
                        <a:solidFill>
                          <a:schemeClr val="dk1"/>
                        </a:solidFill>
                        <a:latin typeface="Times New Roman"/>
                        <a:ea typeface="Times New Roman"/>
                        <a:cs typeface="Times New Roman"/>
                        <a:sym typeface="Times New Roman"/>
                      </a:endParaRPr>
                    </a:p>
                  </a:txBody>
                  <a:tcPr marT="45725" marB="45725" marR="91450" marL="91450">
                    <a:solidFill>
                      <a:srgbClr val="F4CCCC"/>
                    </a:solidFill>
                  </a:tcPr>
                </a:tc>
                <a:tc>
                  <a:txBody>
                    <a:bodyPr/>
                    <a:lstStyle/>
                    <a:p>
                      <a:pPr indent="0" lvl="0" marL="0" marR="0" rtl="0" algn="ctr">
                        <a:spcBef>
                          <a:spcPts val="0"/>
                        </a:spcBef>
                        <a:spcAft>
                          <a:spcPts val="0"/>
                        </a:spcAft>
                        <a:buNone/>
                      </a:pPr>
                      <a:r>
                        <a:rPr lang="en-US" sz="2700" u="none" cap="none" strike="noStrike">
                          <a:solidFill>
                            <a:schemeClr val="dk1"/>
                          </a:solidFill>
                          <a:latin typeface="Times New Roman"/>
                          <a:ea typeface="Times New Roman"/>
                          <a:cs typeface="Times New Roman"/>
                          <a:sym typeface="Times New Roman"/>
                        </a:rPr>
                        <a:t>Object of Fear</a:t>
                      </a:r>
                      <a:endParaRPr sz="2300">
                        <a:solidFill>
                          <a:schemeClr val="dk1"/>
                        </a:solidFill>
                        <a:latin typeface="Times New Roman"/>
                        <a:ea typeface="Times New Roman"/>
                        <a:cs typeface="Times New Roman"/>
                        <a:sym typeface="Times New Roman"/>
                      </a:endParaRPr>
                    </a:p>
                  </a:txBody>
                  <a:tcPr marT="45725" marB="45725" marR="91450" marL="91450">
                    <a:solidFill>
                      <a:srgbClr val="F4CCCC"/>
                    </a:solidFill>
                  </a:tcPr>
                </a:tc>
              </a:tr>
              <a:tr h="541775">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Claustrophobia</a:t>
                      </a:r>
                      <a:endParaRPr sz="21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Closed spaces</a:t>
                      </a:r>
                      <a:endParaRPr sz="2100">
                        <a:latin typeface="Times New Roman"/>
                        <a:ea typeface="Times New Roman"/>
                        <a:cs typeface="Times New Roman"/>
                        <a:sym typeface="Times New Roman"/>
                      </a:endParaRPr>
                    </a:p>
                  </a:txBody>
                  <a:tcPr marT="45725" marB="45725" marR="91450" marL="91450"/>
                </a:tc>
              </a:tr>
              <a:tr h="541775">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Astraphobia </a:t>
                      </a:r>
                      <a:endParaRPr sz="21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Thunder, lighting</a:t>
                      </a:r>
                      <a:endParaRPr sz="2100">
                        <a:latin typeface="Times New Roman"/>
                        <a:ea typeface="Times New Roman"/>
                        <a:cs typeface="Times New Roman"/>
                        <a:sym typeface="Times New Roman"/>
                      </a:endParaRPr>
                    </a:p>
                  </a:txBody>
                  <a:tcPr marT="45725" marB="45725" marR="91450" marL="91450"/>
                </a:tc>
              </a:tr>
              <a:tr h="541775">
                <a:tc>
                  <a:txBody>
                    <a:bodyPr/>
                    <a:lstStyle/>
                    <a:p>
                      <a:pPr indent="0" lvl="0" marL="0" marR="0" rtl="0" algn="ctr">
                        <a:spcBef>
                          <a:spcPts val="0"/>
                        </a:spcBef>
                        <a:spcAft>
                          <a:spcPts val="0"/>
                        </a:spcAft>
                        <a:buNone/>
                      </a:pPr>
                      <a:r>
                        <a:rPr lang="en-US" sz="2100">
                          <a:latin typeface="Times New Roman"/>
                          <a:ea typeface="Times New Roman"/>
                          <a:cs typeface="Times New Roman"/>
                          <a:sym typeface="Times New Roman"/>
                        </a:rPr>
                        <a:t>Arachnophobia</a:t>
                      </a:r>
                      <a:endParaRPr sz="21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Spiders</a:t>
                      </a:r>
                      <a:endParaRPr sz="2100">
                        <a:latin typeface="Times New Roman"/>
                        <a:ea typeface="Times New Roman"/>
                        <a:cs typeface="Times New Roman"/>
                        <a:sym typeface="Times New Roman"/>
                      </a:endParaRPr>
                    </a:p>
                  </a:txBody>
                  <a:tcPr marT="45725" marB="45725" marR="91450" marL="91450"/>
                </a:tc>
              </a:tr>
              <a:tr h="541775">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Acrophobia</a:t>
                      </a:r>
                      <a:endParaRPr sz="21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Heights</a:t>
                      </a:r>
                      <a:endParaRPr sz="2100">
                        <a:latin typeface="Times New Roman"/>
                        <a:ea typeface="Times New Roman"/>
                        <a:cs typeface="Times New Roman"/>
                        <a:sym typeface="Times New Roman"/>
                      </a:endParaRPr>
                    </a:p>
                  </a:txBody>
                  <a:tcPr marT="45725" marB="45725" marR="91450" marL="91450"/>
                </a:tc>
              </a:tr>
              <a:tr h="541775">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Nyctophobia</a:t>
                      </a:r>
                      <a:endParaRPr sz="21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Dark</a:t>
                      </a:r>
                      <a:endParaRPr sz="2100">
                        <a:latin typeface="Times New Roman"/>
                        <a:ea typeface="Times New Roman"/>
                        <a:cs typeface="Times New Roman"/>
                        <a:sym typeface="Times New Roman"/>
                      </a:endParaRPr>
                    </a:p>
                  </a:txBody>
                  <a:tcPr marT="45725" marB="45725" marR="91450" marL="91450"/>
                </a:tc>
              </a:tr>
              <a:tr h="541775">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Gamophobia</a:t>
                      </a:r>
                      <a:endParaRPr sz="21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Marriage</a:t>
                      </a:r>
                      <a:endParaRPr sz="2100">
                        <a:latin typeface="Times New Roman"/>
                        <a:ea typeface="Times New Roman"/>
                        <a:cs typeface="Times New Roman"/>
                        <a:sym typeface="Times New Roman"/>
                      </a:endParaRPr>
                    </a:p>
                  </a:txBody>
                  <a:tcPr marT="45725" marB="45725" marR="91450" marL="91450"/>
                </a:tc>
              </a:tr>
              <a:tr h="541775">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Ochlophobia</a:t>
                      </a:r>
                      <a:endParaRPr sz="21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100" u="none" cap="none" strike="noStrike">
                          <a:latin typeface="Times New Roman"/>
                          <a:ea typeface="Times New Roman"/>
                          <a:cs typeface="Times New Roman"/>
                          <a:sym typeface="Times New Roman"/>
                        </a:rPr>
                        <a:t>Crowd</a:t>
                      </a:r>
                      <a:endParaRPr sz="21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52"/>
          <p:cNvPicPr preferRelativeResize="0"/>
          <p:nvPr/>
        </p:nvPicPr>
        <p:blipFill rotWithShape="1">
          <a:blip r:embed="rId3">
            <a:alphaModFix/>
          </a:blip>
          <a:srcRect b="0" l="0" r="0" t="0"/>
          <a:stretch/>
        </p:blipFill>
        <p:spPr>
          <a:xfrm>
            <a:off x="4050890" y="380727"/>
            <a:ext cx="3778433" cy="574477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Specific Phobia</a:t>
            </a:r>
            <a:endParaRPr/>
          </a:p>
        </p:txBody>
      </p:sp>
      <p:sp>
        <p:nvSpPr>
          <p:cNvPr id="313" name="Google Shape;313;p55"/>
          <p:cNvSpPr txBox="1"/>
          <p:nvPr>
            <p:ph idx="1" type="body"/>
          </p:nvPr>
        </p:nvSpPr>
        <p:spPr>
          <a:xfrm>
            <a:off x="1185769" y="1875231"/>
            <a:ext cx="9531391"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lang="en-US"/>
              <a:t> Traumatic conditioning experience</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 Prepared learning - inherited tendency to fear situations that have always been dangerous to the human race</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 Susceptible to developing anxiety about the possibility that the event will happen again.</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Social and cultural factors strong determinants of who develops and reports a specific phobia.</a:t>
            </a:r>
            <a:endParaRPr/>
          </a:p>
          <a:p>
            <a:pPr indent="0" lvl="0" marL="0" rtl="0" algn="l">
              <a:lnSpc>
                <a:spcPct val="100000"/>
              </a:lnSpc>
              <a:spcBef>
                <a:spcPts val="0"/>
              </a:spcBef>
              <a:spcAft>
                <a:spcPts val="0"/>
              </a:spcAft>
              <a:buSzPts val="2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Separation Anxiety Disorder</a:t>
            </a:r>
            <a:endParaRPr/>
          </a:p>
        </p:txBody>
      </p:sp>
      <p:sp>
        <p:nvSpPr>
          <p:cNvPr id="320" name="Google Shape;320;p56"/>
          <p:cNvSpPr txBox="1"/>
          <p:nvPr>
            <p:ph idx="1" type="body"/>
          </p:nvPr>
        </p:nvSpPr>
        <p:spPr>
          <a:xfrm>
            <a:off x="1185769" y="1875231"/>
            <a:ext cx="9531391"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lang="en-US"/>
              <a:t>  Separation anxiety disorder is characterized by children’s unrealistic and persistent worry that something will happen to their parents or other important people in their life.</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Children often refuse to go to school or even to leave home, not because they are afraid of school but because they are afraid of separating from loved ones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Social Anxiety Disorder</a:t>
            </a:r>
            <a:endParaRPr/>
          </a:p>
        </p:txBody>
      </p:sp>
      <p:sp>
        <p:nvSpPr>
          <p:cNvPr id="327" name="Google Shape;327;p57"/>
          <p:cNvSpPr txBox="1"/>
          <p:nvPr>
            <p:ph idx="1" type="body"/>
          </p:nvPr>
        </p:nvSpPr>
        <p:spPr>
          <a:xfrm>
            <a:off x="1185769" y="1875231"/>
            <a:ext cx="9531391" cy="4023360"/>
          </a:xfrm>
          <a:prstGeom prst="rect">
            <a:avLst/>
          </a:prstGeom>
          <a:noFill/>
          <a:ln>
            <a:noFill/>
          </a:ln>
        </p:spPr>
        <p:txBody>
          <a:bodyPr anchorCtr="0" anchor="t" bIns="45700" lIns="0" spcFirstLastPara="1" rIns="0" wrap="square" tIns="45700">
            <a:normAutofit/>
          </a:bodyPr>
          <a:lstStyle/>
          <a:p>
            <a:pPr indent="-127000" lvl="0" marL="91440" rtl="0" algn="l">
              <a:lnSpc>
                <a:spcPct val="100000"/>
              </a:lnSpc>
              <a:spcBef>
                <a:spcPts val="0"/>
              </a:spcBef>
              <a:spcAft>
                <a:spcPts val="0"/>
              </a:spcAft>
              <a:buSzPts val="2000"/>
              <a:buFont typeface="Noto Sans Symbols"/>
              <a:buChar char="▪"/>
            </a:pPr>
            <a:r>
              <a:rPr lang="en-US"/>
              <a:t>Marked fear or anxiety about one or more social situations in which the person is exposed to possible scrutiny by others. Examples include social interactions (e.g., having a conversation; meeting unfamiliar people), being observed (e.g., eating or drinking), or performing in front of others (e.g., giving a speech).</a:t>
            </a:r>
            <a:endParaRPr/>
          </a:p>
          <a:p>
            <a:pPr indent="0" lvl="0" marL="91440" rtl="0" algn="l">
              <a:lnSpc>
                <a:spcPct val="100000"/>
              </a:lnSpc>
              <a:spcBef>
                <a:spcPts val="0"/>
              </a:spcBef>
              <a:spcAft>
                <a:spcPts val="0"/>
              </a:spcAft>
              <a:buSzPts val="2000"/>
              <a:buFont typeface="Noto Sans Symbols"/>
              <a:buNone/>
            </a:pPr>
            <a:r>
              <a:t/>
            </a:r>
            <a:endParaRPr/>
          </a:p>
          <a:p>
            <a:pPr indent="-127000" lvl="0" marL="91440" rtl="0" algn="l">
              <a:lnSpc>
                <a:spcPct val="100000"/>
              </a:lnSpc>
              <a:spcBef>
                <a:spcPts val="0"/>
              </a:spcBef>
              <a:spcAft>
                <a:spcPts val="0"/>
              </a:spcAft>
              <a:buSzPts val="2000"/>
              <a:buFont typeface="Noto Sans Symbols"/>
              <a:buChar char="▪"/>
            </a:pPr>
            <a:r>
              <a:rPr lang="en-US"/>
              <a:t>In Japan, taijin kyofusho is the fear of offending others.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Post Traumatic Stress Disorder</a:t>
            </a:r>
            <a:endParaRPr/>
          </a:p>
        </p:txBody>
      </p:sp>
      <p:sp>
        <p:nvSpPr>
          <p:cNvPr id="333" name="Google Shape;333;p6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Exposure to a traumatic event (e.g witnesses death or threatened death, actual or threatened serious injury, or actual or threatened sexual violation). Learning that the traumatic event occurred to a close family member or friend, or enduring repeated exposure to details of a traumatic event (as in first responders to a terrorist attack dealing with human remains) are also setting events. </a:t>
            </a:r>
            <a:endParaRPr/>
          </a:p>
          <a:p>
            <a:pPr indent="-127000" lvl="0" marL="91440" rtl="0" algn="l">
              <a:lnSpc>
                <a:spcPct val="90000"/>
              </a:lnSpc>
              <a:spcBef>
                <a:spcPts val="1400"/>
              </a:spcBef>
              <a:spcAft>
                <a:spcPts val="0"/>
              </a:spcAft>
              <a:buSzPts val="2000"/>
              <a:buFont typeface="Noto Sans Symbols"/>
              <a:buChar char="▪"/>
            </a:pPr>
            <a:r>
              <a:rPr lang="en-US"/>
              <a:t>Avoidance </a:t>
            </a:r>
            <a:endParaRPr/>
          </a:p>
          <a:p>
            <a:pPr indent="-127000" lvl="0" marL="91440" rtl="0" algn="l">
              <a:lnSpc>
                <a:spcPct val="90000"/>
              </a:lnSpc>
              <a:spcBef>
                <a:spcPts val="1400"/>
              </a:spcBef>
              <a:spcAft>
                <a:spcPts val="0"/>
              </a:spcAft>
              <a:buSzPts val="2000"/>
              <a:buFont typeface="Noto Sans Symbols"/>
              <a:buChar char="▪"/>
            </a:pPr>
            <a:r>
              <a:rPr lang="en-US"/>
              <a:t>Having flashback </a:t>
            </a:r>
            <a:endParaRPr/>
          </a:p>
          <a:p>
            <a:pPr indent="-127000" lvl="0" marL="91440" rtl="0" algn="l">
              <a:lnSpc>
                <a:spcPct val="90000"/>
              </a:lnSpc>
              <a:spcBef>
                <a:spcPts val="1400"/>
              </a:spcBef>
              <a:spcAft>
                <a:spcPts val="0"/>
              </a:spcAft>
              <a:buSzPts val="2000"/>
              <a:buFont typeface="Noto Sans Symbols"/>
              <a:buChar char="▪"/>
            </a:pPr>
            <a:r>
              <a:rPr lang="en-US"/>
              <a:t>restriction or numbing of emotional responsiveness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65"/>
          <p:cNvSpPr txBox="1"/>
          <p:nvPr>
            <p:ph type="title"/>
          </p:nvPr>
        </p:nvSpPr>
        <p:spPr>
          <a:xfrm>
            <a:off x="1036320" y="394977"/>
            <a:ext cx="10565331"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Obsessive</a:t>
            </a:r>
            <a:r>
              <a:rPr lang="en-US">
                <a:latin typeface="Arial Black"/>
                <a:ea typeface="Arial Black"/>
                <a:cs typeface="Arial Black"/>
                <a:sym typeface="Arial Black"/>
              </a:rPr>
              <a:t>-compulsive Disorder</a:t>
            </a:r>
            <a:endParaRPr/>
          </a:p>
        </p:txBody>
      </p:sp>
      <p:sp>
        <p:nvSpPr>
          <p:cNvPr id="340" name="Google Shape;340;p6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b="1" lang="en-US"/>
              <a:t>Obsessions</a:t>
            </a:r>
            <a:r>
              <a:rPr lang="en-US"/>
              <a:t> are intrusive and mostly nonsensical thoughts, images, or urges that the individual tries to resist or eliminate. </a:t>
            </a:r>
            <a:endParaRPr/>
          </a:p>
          <a:p>
            <a:pPr indent="-127000" lvl="0" marL="91440" rtl="0" algn="l">
              <a:lnSpc>
                <a:spcPct val="90000"/>
              </a:lnSpc>
              <a:spcBef>
                <a:spcPts val="1400"/>
              </a:spcBef>
              <a:spcAft>
                <a:spcPts val="0"/>
              </a:spcAft>
              <a:buSzPts val="2000"/>
              <a:buFont typeface="Noto Sans Symbols"/>
              <a:buChar char="▪"/>
            </a:pPr>
            <a:r>
              <a:rPr b="1" lang="en-US"/>
              <a:t>Compulsions</a:t>
            </a:r>
            <a:r>
              <a:rPr lang="en-US"/>
              <a:t> are the thoughts or actions used to suppress the obsessions and provide relief.</a:t>
            </a:r>
            <a:endParaRPr/>
          </a:p>
          <a:p>
            <a:pPr indent="-127000" lvl="0" marL="91440" rtl="0" algn="l">
              <a:lnSpc>
                <a:spcPct val="90000"/>
              </a:lnSpc>
              <a:spcBef>
                <a:spcPts val="1400"/>
              </a:spcBef>
              <a:spcAft>
                <a:spcPts val="0"/>
              </a:spcAft>
              <a:buSzPts val="2000"/>
              <a:buFont typeface="Noto Sans Symbols"/>
              <a:buChar char="▪"/>
            </a:pPr>
            <a:r>
              <a:rPr lang="en-US"/>
              <a:t> Symmetry obsessions account for most obsessions (26.7%), followed by “forbidden thoughts or actions” (21%), cleaning and contamination (15.9%), and hoarding (15.4%)</a:t>
            </a:r>
            <a:endParaRPr/>
          </a:p>
          <a:p>
            <a:pPr indent="0" lvl="0" marL="91440" rtl="0" algn="l">
              <a:lnSpc>
                <a:spcPct val="90000"/>
              </a:lnSpc>
              <a:spcBef>
                <a:spcPts val="1400"/>
              </a:spcBef>
              <a:spcAft>
                <a:spcPts val="0"/>
              </a:spcAft>
              <a:buSzPts val="2000"/>
              <a:buFont typeface="Noto Sans Symbols"/>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66"/>
          <p:cNvPicPr preferRelativeResize="0"/>
          <p:nvPr/>
        </p:nvPicPr>
        <p:blipFill rotWithShape="1">
          <a:blip r:embed="rId3">
            <a:alphaModFix/>
          </a:blip>
          <a:srcRect b="0" l="0" r="0" t="0"/>
          <a:stretch/>
        </p:blipFill>
        <p:spPr>
          <a:xfrm>
            <a:off x="3514445" y="902390"/>
            <a:ext cx="4650987" cy="459997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Specifiers for OCD</a:t>
            </a:r>
            <a:endParaRPr/>
          </a:p>
        </p:txBody>
      </p:sp>
      <p:sp>
        <p:nvSpPr>
          <p:cNvPr id="352" name="Google Shape;352;p6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Specify if:</a:t>
            </a:r>
            <a:endParaRPr/>
          </a:p>
          <a:p>
            <a:pPr indent="-127000" lvl="0" marL="91440" rtl="0" algn="l">
              <a:lnSpc>
                <a:spcPct val="90000"/>
              </a:lnSpc>
              <a:spcBef>
                <a:spcPts val="1400"/>
              </a:spcBef>
              <a:spcAft>
                <a:spcPts val="0"/>
              </a:spcAft>
              <a:buSzPts val="2000"/>
              <a:buChar char=" "/>
            </a:pPr>
            <a:r>
              <a:rPr b="1" lang="en-US"/>
              <a:t>With good or fair insight: </a:t>
            </a:r>
            <a:r>
              <a:rPr lang="en-US"/>
              <a:t>the individual recognizes that obsessive-compulsive disorder beliefs are definitely or probably not true or that they may or may not be true.</a:t>
            </a:r>
            <a:endParaRPr/>
          </a:p>
          <a:p>
            <a:pPr indent="-127000" lvl="0" marL="91440" rtl="0" algn="l">
              <a:lnSpc>
                <a:spcPct val="90000"/>
              </a:lnSpc>
              <a:spcBef>
                <a:spcPts val="1400"/>
              </a:spcBef>
              <a:spcAft>
                <a:spcPts val="0"/>
              </a:spcAft>
              <a:buSzPts val="2000"/>
              <a:buChar char=" "/>
            </a:pPr>
            <a:r>
              <a:rPr b="1" lang="en-US"/>
              <a:t>With poor insight: </a:t>
            </a:r>
            <a:r>
              <a:rPr lang="en-US"/>
              <a:t>The individual thinks obsessive-compulsive disorder beliefs are probably true.</a:t>
            </a:r>
            <a:endParaRPr/>
          </a:p>
          <a:p>
            <a:pPr indent="-127000" lvl="0" marL="91440" rtl="0" algn="l">
              <a:lnSpc>
                <a:spcPct val="90000"/>
              </a:lnSpc>
              <a:spcBef>
                <a:spcPts val="1400"/>
              </a:spcBef>
              <a:spcAft>
                <a:spcPts val="0"/>
              </a:spcAft>
              <a:buSzPts val="2000"/>
              <a:buChar char=" "/>
            </a:pPr>
            <a:r>
              <a:rPr b="1" lang="en-US"/>
              <a:t>With absent insight/delusional: </a:t>
            </a:r>
            <a:r>
              <a:rPr lang="en-US"/>
              <a:t>the person is completely convinced that obsessive-compulsive  disorder beliefs are true.</a:t>
            </a:r>
            <a:endParaRPr/>
          </a:p>
          <a:p>
            <a:pPr indent="-127000" lvl="0" marL="91440" rtl="0" algn="l">
              <a:lnSpc>
                <a:spcPct val="90000"/>
              </a:lnSpc>
              <a:spcBef>
                <a:spcPts val="1400"/>
              </a:spcBef>
              <a:spcAft>
                <a:spcPts val="0"/>
              </a:spcAft>
              <a:buSzPts val="2000"/>
              <a:buChar char=" "/>
            </a:pPr>
            <a:r>
              <a:rPr b="1" lang="en-US"/>
              <a:t>Tic-related: </a:t>
            </a:r>
            <a:r>
              <a:rPr lang="en-US"/>
              <a:t>The individual has a current or past history of a tic disorder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Body Dysmorphic Disorder</a:t>
            </a:r>
            <a:endParaRPr/>
          </a:p>
        </p:txBody>
      </p:sp>
      <p:sp>
        <p:nvSpPr>
          <p:cNvPr id="358" name="Google Shape;358;p68"/>
          <p:cNvSpPr txBox="1"/>
          <p:nvPr>
            <p:ph idx="1" type="body"/>
          </p:nvPr>
        </p:nvSpPr>
        <p:spPr>
          <a:xfrm>
            <a:off x="1097280" y="1845734"/>
            <a:ext cx="5451004"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 preoccupation with some imagined defect in appearance by someone who actually looks reasonably normal </a:t>
            </a:r>
            <a:endParaRPr/>
          </a:p>
          <a:p>
            <a:pPr indent="-127000" lvl="0" marL="91440" rtl="0" algn="l">
              <a:lnSpc>
                <a:spcPct val="90000"/>
              </a:lnSpc>
              <a:spcBef>
                <a:spcPts val="1400"/>
              </a:spcBef>
              <a:spcAft>
                <a:spcPts val="0"/>
              </a:spcAft>
              <a:buSzPts val="2000"/>
              <a:buFont typeface="Noto Sans Symbols"/>
              <a:buChar char="▪"/>
            </a:pPr>
            <a:r>
              <a:rPr lang="en-US"/>
              <a:t>“imagined ugliness”</a:t>
            </a:r>
            <a:endParaRPr/>
          </a:p>
          <a:p>
            <a:pPr indent="-127000" lvl="0" marL="91440" rtl="0" algn="l">
              <a:lnSpc>
                <a:spcPct val="90000"/>
              </a:lnSpc>
              <a:spcBef>
                <a:spcPts val="1400"/>
              </a:spcBef>
              <a:spcAft>
                <a:spcPts val="0"/>
              </a:spcAft>
              <a:buSzPts val="2000"/>
              <a:buFont typeface="Noto Sans Symbols"/>
              <a:buChar char="▪"/>
            </a:pPr>
            <a:r>
              <a:rPr lang="en-US"/>
              <a:t>causes clinically significant distress or impairment in social, occupational, or other important areas of functioning because they think they are so ugly to interact with others and that others will make fun of their physical appearance.</a:t>
            </a:r>
            <a:endParaRPr/>
          </a:p>
        </p:txBody>
      </p:sp>
      <p:pic>
        <p:nvPicPr>
          <p:cNvPr id="359" name="Google Shape;359;p68"/>
          <p:cNvPicPr preferRelativeResize="0"/>
          <p:nvPr/>
        </p:nvPicPr>
        <p:blipFill rotWithShape="1">
          <a:blip r:embed="rId3">
            <a:alphaModFix/>
          </a:blip>
          <a:srcRect b="0" l="0" r="0" t="0"/>
          <a:stretch/>
        </p:blipFill>
        <p:spPr>
          <a:xfrm>
            <a:off x="7490663" y="1809574"/>
            <a:ext cx="3354318" cy="447242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7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Other Obsessive-Compulsive</a:t>
            </a:r>
            <a:br>
              <a:rPr lang="en-US" sz="4800">
                <a:latin typeface="Arial Black"/>
                <a:ea typeface="Arial Black"/>
                <a:cs typeface="Arial Black"/>
                <a:sym typeface="Arial Black"/>
              </a:rPr>
            </a:br>
            <a:r>
              <a:rPr lang="en-US" sz="4800">
                <a:latin typeface="Arial Black"/>
                <a:ea typeface="Arial Black"/>
                <a:cs typeface="Arial Black"/>
                <a:sym typeface="Arial Black"/>
              </a:rPr>
              <a:t>and Related Disorders</a:t>
            </a:r>
            <a:endParaRPr sz="4800">
              <a:latin typeface="Arial Black"/>
              <a:ea typeface="Arial Black"/>
              <a:cs typeface="Arial Black"/>
              <a:sym typeface="Arial Black"/>
            </a:endParaRPr>
          </a:p>
        </p:txBody>
      </p:sp>
      <p:sp>
        <p:nvSpPr>
          <p:cNvPr id="365" name="Google Shape;365;p71"/>
          <p:cNvSpPr txBox="1"/>
          <p:nvPr>
            <p:ph idx="1" type="body"/>
          </p:nvPr>
        </p:nvSpPr>
        <p:spPr>
          <a:xfrm>
            <a:off x="1097279" y="1845734"/>
            <a:ext cx="8911959"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 </a:t>
            </a:r>
            <a:r>
              <a:rPr b="1" lang="en-US"/>
              <a:t>Hoarding Disorder </a:t>
            </a:r>
            <a:r>
              <a:rPr lang="en-US"/>
              <a:t>- experience strong anxiety and distress about throwing anything away, because everything has either some potential use or sentimental value in their minds, or simply becomes an extension of their own identity.</a:t>
            </a:r>
            <a:endParaRPr/>
          </a:p>
          <a:p>
            <a:pPr indent="-127000" lvl="0" marL="91440" rtl="0" algn="l">
              <a:lnSpc>
                <a:spcPct val="90000"/>
              </a:lnSpc>
              <a:spcBef>
                <a:spcPts val="1400"/>
              </a:spcBef>
              <a:spcAft>
                <a:spcPts val="0"/>
              </a:spcAft>
              <a:buSzPts val="2000"/>
              <a:buFont typeface="Noto Sans Symbols"/>
              <a:buChar char="▪"/>
            </a:pPr>
            <a:r>
              <a:rPr lang="en-US"/>
              <a:t> </a:t>
            </a:r>
            <a:r>
              <a:rPr b="1" lang="en-US"/>
              <a:t>Trichotillomania (Hair Pulling Disorder)</a:t>
            </a:r>
            <a:r>
              <a:rPr lang="en-US"/>
              <a:t> - The urge to pull out one’s own hair from anywhere on the body, including the scalp, eyebrows, and arms</a:t>
            </a:r>
            <a:endParaRPr/>
          </a:p>
          <a:p>
            <a:pPr indent="-127000" lvl="0" marL="91440" rtl="0" algn="l">
              <a:lnSpc>
                <a:spcPct val="90000"/>
              </a:lnSpc>
              <a:spcBef>
                <a:spcPts val="1400"/>
              </a:spcBef>
              <a:spcAft>
                <a:spcPts val="0"/>
              </a:spcAft>
              <a:buSzPts val="2000"/>
              <a:buFont typeface="Noto Sans Symbols"/>
              <a:buChar char="▪"/>
            </a:pPr>
            <a:r>
              <a:rPr lang="en-US"/>
              <a:t> </a:t>
            </a:r>
            <a:r>
              <a:rPr b="1" lang="en-US"/>
              <a:t>Excoriation (Skin Picking Disorder) </a:t>
            </a:r>
            <a:r>
              <a:rPr lang="en-US"/>
              <a:t>- repetitive and compulsive picking of the skin, leading to tissue damage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Personality Disorders</a:t>
            </a:r>
            <a:endParaRPr sz="4800">
              <a:latin typeface="Arial Black"/>
              <a:ea typeface="Arial Black"/>
              <a:cs typeface="Arial Black"/>
              <a:sym typeface="Arial Black"/>
            </a:endParaRPr>
          </a:p>
        </p:txBody>
      </p:sp>
      <p:sp>
        <p:nvSpPr>
          <p:cNvPr id="371" name="Google Shape;371;p72"/>
          <p:cNvSpPr txBox="1"/>
          <p:nvPr>
            <p:ph idx="1" type="body"/>
          </p:nvPr>
        </p:nvSpPr>
        <p:spPr>
          <a:xfrm>
            <a:off x="1097279" y="1845734"/>
            <a:ext cx="8911959" cy="4023360"/>
          </a:xfrm>
          <a:prstGeom prst="rect">
            <a:avLst/>
          </a:prstGeom>
          <a:noFill/>
          <a:ln>
            <a:noFill/>
          </a:ln>
        </p:spPr>
        <p:txBody>
          <a:bodyPr anchorCtr="0" anchor="t" bIns="45700" lIns="0" spcFirstLastPara="1" rIns="0" wrap="square" tIns="45700">
            <a:normAutofit fontScale="92500" lnSpcReduction="20000"/>
          </a:bodyPr>
          <a:lstStyle/>
          <a:p>
            <a:pPr indent="-117475" lvl="0" marL="91440" rtl="0" algn="l">
              <a:lnSpc>
                <a:spcPct val="90000"/>
              </a:lnSpc>
              <a:spcBef>
                <a:spcPts val="0"/>
              </a:spcBef>
              <a:spcAft>
                <a:spcPts val="0"/>
              </a:spcAft>
              <a:buSzPct val="100000"/>
              <a:buFont typeface="Noto Sans Symbols"/>
              <a:buChar char="▪"/>
            </a:pPr>
            <a:r>
              <a:rPr lang="en-US"/>
              <a:t> A persistent pattern of emotions, cognitions, and behavior that results in enduring emotional distress for the person affected and/or for others and may cause difficulties with work and relationships.</a:t>
            </a:r>
            <a:endParaRPr/>
          </a:p>
          <a:p>
            <a:pPr indent="-117475" lvl="0" marL="91440" rtl="0" algn="l">
              <a:lnSpc>
                <a:spcPct val="90000"/>
              </a:lnSpc>
              <a:spcBef>
                <a:spcPts val="1400"/>
              </a:spcBef>
              <a:spcAft>
                <a:spcPts val="0"/>
              </a:spcAft>
              <a:buSzPct val="100000"/>
              <a:buFont typeface="Noto Sans Symbols"/>
              <a:buChar char="▪"/>
            </a:pPr>
            <a:r>
              <a:rPr lang="en-US"/>
              <a:t>Poor prognosis</a:t>
            </a:r>
            <a:endParaRPr/>
          </a:p>
          <a:p>
            <a:pPr indent="-117475" lvl="0" marL="91440" rtl="0" algn="l">
              <a:lnSpc>
                <a:spcPct val="90000"/>
              </a:lnSpc>
              <a:spcBef>
                <a:spcPts val="1400"/>
              </a:spcBef>
              <a:spcAft>
                <a:spcPts val="0"/>
              </a:spcAft>
              <a:buSzPct val="100000"/>
              <a:buFont typeface="Noto Sans Symbols"/>
              <a:buChar char="▪"/>
            </a:pPr>
            <a:r>
              <a:rPr b="1" lang="en-US"/>
              <a:t>Cluster A </a:t>
            </a:r>
            <a:r>
              <a:rPr lang="en-US"/>
              <a:t>is called the odd or eccentric cluster; it includes paranoid, schizoid, and schizotypal personality disorders. </a:t>
            </a:r>
            <a:endParaRPr/>
          </a:p>
          <a:p>
            <a:pPr indent="-117475" lvl="0" marL="91440" rtl="0" algn="l">
              <a:lnSpc>
                <a:spcPct val="90000"/>
              </a:lnSpc>
              <a:spcBef>
                <a:spcPts val="1400"/>
              </a:spcBef>
              <a:spcAft>
                <a:spcPts val="0"/>
              </a:spcAft>
              <a:buSzPct val="100000"/>
              <a:buFont typeface="Noto Sans Symbols"/>
              <a:buChar char="▪"/>
            </a:pPr>
            <a:r>
              <a:rPr b="1" lang="en-US"/>
              <a:t>Cluster B </a:t>
            </a:r>
            <a:r>
              <a:rPr lang="en-US"/>
              <a:t>is the dramatic, emotional, or erratic cluster; it consists of antisocial, borderline, histrionic, and narcissistic personality disorders. </a:t>
            </a:r>
            <a:endParaRPr/>
          </a:p>
          <a:p>
            <a:pPr indent="-117475" lvl="0" marL="91440" rtl="0" algn="l">
              <a:lnSpc>
                <a:spcPct val="90000"/>
              </a:lnSpc>
              <a:spcBef>
                <a:spcPts val="1400"/>
              </a:spcBef>
              <a:spcAft>
                <a:spcPts val="0"/>
              </a:spcAft>
              <a:buSzPct val="100000"/>
              <a:buFont typeface="Noto Sans Symbols"/>
              <a:buChar char="▪"/>
            </a:pPr>
            <a:r>
              <a:rPr b="1" lang="en-US"/>
              <a:t>Cluster C </a:t>
            </a:r>
            <a:r>
              <a:rPr lang="en-US"/>
              <a:t>is the anxious or fearful cluster; it includes avoidant, dependent, and obsessive-compulsive personality disorders.</a:t>
            </a:r>
            <a:endParaRPr/>
          </a:p>
          <a:p>
            <a:pPr indent="-117475" lvl="0" marL="91440" rtl="0" algn="l">
              <a:lnSpc>
                <a:spcPct val="90000"/>
              </a:lnSpc>
              <a:spcBef>
                <a:spcPts val="1400"/>
              </a:spcBef>
              <a:spcAft>
                <a:spcPts val="0"/>
              </a:spcAft>
              <a:buSzPct val="100000"/>
              <a:buFont typeface="Noto Sans Symbols"/>
              <a:buChar char="▪"/>
            </a:pPr>
            <a:r>
              <a:rPr lang="en-US"/>
              <a:t>Men diagnosed with a personality disorder tend to display traits characterized as more aggressive, structured, self-assertive, and detached.</a:t>
            </a:r>
            <a:endParaRPr/>
          </a:p>
          <a:p>
            <a:pPr indent="-117475" lvl="0" marL="91440" rtl="0" algn="l">
              <a:lnSpc>
                <a:spcPct val="90000"/>
              </a:lnSpc>
              <a:spcBef>
                <a:spcPts val="1400"/>
              </a:spcBef>
              <a:spcAft>
                <a:spcPts val="0"/>
              </a:spcAft>
              <a:buSzPct val="100000"/>
              <a:buFont typeface="Noto Sans Symbols"/>
              <a:buChar char="▪"/>
            </a:pPr>
            <a:r>
              <a:rPr lang="en-US"/>
              <a:t>Women tend to present with characteristics that are more submissive, emotional, and insecure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73"/>
          <p:cNvPicPr preferRelativeResize="0"/>
          <p:nvPr/>
        </p:nvPicPr>
        <p:blipFill rotWithShape="1">
          <a:blip r:embed="rId3">
            <a:alphaModFix/>
          </a:blip>
          <a:srcRect b="0" l="0" r="0" t="0"/>
          <a:stretch/>
        </p:blipFill>
        <p:spPr>
          <a:xfrm>
            <a:off x="1629201" y="376845"/>
            <a:ext cx="9314103" cy="553410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74"/>
          <p:cNvPicPr preferRelativeResize="0"/>
          <p:nvPr/>
        </p:nvPicPr>
        <p:blipFill rotWithShape="1">
          <a:blip r:embed="rId3">
            <a:alphaModFix/>
          </a:blip>
          <a:srcRect b="0" l="0" r="0" t="0"/>
          <a:stretch/>
        </p:blipFill>
        <p:spPr>
          <a:xfrm>
            <a:off x="2915899" y="978797"/>
            <a:ext cx="6360202" cy="443601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83"/>
          <p:cNvSpPr/>
          <p:nvPr/>
        </p:nvSpPr>
        <p:spPr>
          <a:xfrm>
            <a:off x="1435510" y="1356852"/>
            <a:ext cx="2792361" cy="4723106"/>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u="sng">
                <a:solidFill>
                  <a:schemeClr val="dk1"/>
                </a:solidFill>
                <a:latin typeface="Arial"/>
                <a:ea typeface="Arial"/>
                <a:cs typeface="Arial"/>
                <a:sym typeface="Arial"/>
              </a:rPr>
              <a:t>CLUSTER A</a:t>
            </a:r>
            <a:endParaRPr/>
          </a:p>
          <a:p>
            <a:pPr indent="0" lvl="0" marL="0" marR="0" rtl="0" algn="ctr">
              <a:spcBef>
                <a:spcPts val="0"/>
              </a:spcBef>
              <a:spcAft>
                <a:spcPts val="0"/>
              </a:spcAft>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Paranoid PD - </a:t>
            </a:r>
            <a:r>
              <a:rPr lang="en-US" sz="1800">
                <a:solidFill>
                  <a:schemeClr val="dk1"/>
                </a:solidFill>
                <a:latin typeface="Arial"/>
                <a:ea typeface="Arial"/>
                <a:cs typeface="Arial"/>
                <a:sym typeface="Arial"/>
              </a:rPr>
              <a:t>suspicious and quick to take offense</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Schizoid PD - </a:t>
            </a:r>
            <a:r>
              <a:rPr lang="en-US" sz="1800">
                <a:solidFill>
                  <a:schemeClr val="dk1"/>
                </a:solidFill>
                <a:latin typeface="Arial"/>
                <a:ea typeface="Arial"/>
                <a:cs typeface="Arial"/>
                <a:sym typeface="Arial"/>
              </a:rPr>
              <a:t>care little for social relationships</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Schizotypal PD -</a:t>
            </a:r>
            <a:r>
              <a:rPr lang="en-US" sz="1800">
                <a:solidFill>
                  <a:schemeClr val="dk1"/>
                </a:solidFill>
                <a:latin typeface="Arial"/>
                <a:ea typeface="Arial"/>
                <a:cs typeface="Arial"/>
                <a:sym typeface="Arial"/>
              </a:rPr>
              <a:t>Interpersonal relationships are so difficult they appear peculiar or strange to others</a:t>
            </a:r>
            <a:endParaRPr sz="1800">
              <a:solidFill>
                <a:schemeClr val="dk1"/>
              </a:solidFill>
              <a:latin typeface="Arial"/>
              <a:ea typeface="Arial"/>
              <a:cs typeface="Arial"/>
              <a:sym typeface="Arial"/>
            </a:endParaRPr>
          </a:p>
        </p:txBody>
      </p:sp>
      <p:sp>
        <p:nvSpPr>
          <p:cNvPr id="387" name="Google Shape;387;p83"/>
          <p:cNvSpPr/>
          <p:nvPr/>
        </p:nvSpPr>
        <p:spPr>
          <a:xfrm>
            <a:off x="4699819" y="1354393"/>
            <a:ext cx="2792361" cy="4723106"/>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u="sng">
                <a:solidFill>
                  <a:schemeClr val="dk1"/>
                </a:solidFill>
                <a:latin typeface="Arial"/>
                <a:ea typeface="Arial"/>
                <a:cs typeface="Arial"/>
                <a:sym typeface="Arial"/>
              </a:rPr>
              <a:t>CLUSTER B</a:t>
            </a:r>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Antisocial PD - </a:t>
            </a:r>
            <a:r>
              <a:rPr lang="en-US" sz="1800">
                <a:solidFill>
                  <a:schemeClr val="dk1"/>
                </a:solidFill>
                <a:latin typeface="Arial"/>
                <a:ea typeface="Arial"/>
                <a:cs typeface="Arial"/>
                <a:sym typeface="Arial"/>
              </a:rPr>
              <a:t>show no remorse for their behavior </a:t>
            </a:r>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Borderline PD - </a:t>
            </a:r>
            <a:r>
              <a:rPr lang="en-US" sz="1800">
                <a:solidFill>
                  <a:schemeClr val="dk1"/>
                </a:solidFill>
                <a:latin typeface="Arial"/>
                <a:ea typeface="Arial"/>
                <a:cs typeface="Arial"/>
                <a:sym typeface="Arial"/>
              </a:rPr>
              <a:t>lack the ability to maintain stable interpersonal relationships </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Histrionic PD - </a:t>
            </a:r>
            <a:r>
              <a:rPr lang="en-US" sz="1800">
                <a:solidFill>
                  <a:schemeClr val="dk1"/>
                </a:solidFill>
                <a:latin typeface="Arial"/>
                <a:ea typeface="Arial"/>
                <a:cs typeface="Arial"/>
                <a:sym typeface="Arial"/>
              </a:rPr>
              <a:t>Overly emotional, vague, and desperate for attention</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Narcissistic PD - </a:t>
            </a:r>
            <a:r>
              <a:rPr lang="en-US" sz="1800">
                <a:solidFill>
                  <a:schemeClr val="dk1"/>
                </a:solidFill>
                <a:latin typeface="Arial"/>
                <a:ea typeface="Arial"/>
                <a:cs typeface="Arial"/>
                <a:sym typeface="Arial"/>
              </a:rPr>
              <a:t>self-important</a:t>
            </a:r>
            <a:endParaRPr/>
          </a:p>
        </p:txBody>
      </p:sp>
      <p:sp>
        <p:nvSpPr>
          <p:cNvPr id="388" name="Google Shape;388;p83"/>
          <p:cNvSpPr/>
          <p:nvPr/>
        </p:nvSpPr>
        <p:spPr>
          <a:xfrm>
            <a:off x="7964129" y="1354393"/>
            <a:ext cx="2792361" cy="4723106"/>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u="sng">
                <a:solidFill>
                  <a:schemeClr val="dk1"/>
                </a:solidFill>
                <a:latin typeface="Arial"/>
                <a:ea typeface="Arial"/>
                <a:cs typeface="Arial"/>
                <a:sym typeface="Arial"/>
              </a:rPr>
              <a:t>CLUSTER C</a:t>
            </a:r>
            <a:endParaRPr/>
          </a:p>
          <a:p>
            <a:pPr indent="0" lvl="0" marL="0" marR="0" rtl="0" algn="ctr">
              <a:spcBef>
                <a:spcPts val="0"/>
              </a:spcBef>
              <a:spcAft>
                <a:spcPts val="0"/>
              </a:spcAft>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Avoidant PD - </a:t>
            </a:r>
            <a:r>
              <a:rPr lang="en-US" sz="1800">
                <a:solidFill>
                  <a:schemeClr val="dk1"/>
                </a:solidFill>
                <a:latin typeface="Arial"/>
                <a:ea typeface="Arial"/>
                <a:cs typeface="Arial"/>
                <a:sym typeface="Arial"/>
              </a:rPr>
              <a:t>they hesitate to become involved with others</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Dependent PD - </a:t>
            </a:r>
            <a:r>
              <a:rPr lang="en-US" sz="1800">
                <a:solidFill>
                  <a:schemeClr val="dk1"/>
                </a:solidFill>
                <a:latin typeface="Arial"/>
                <a:ea typeface="Arial"/>
                <a:cs typeface="Arial"/>
                <a:sym typeface="Arial"/>
              </a:rPr>
              <a:t>need the approval of others that they have trouble making independent decisions </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Obsessive-Compulsive PD -  </a:t>
            </a:r>
            <a:r>
              <a:rPr lang="en-US" sz="1800">
                <a:solidFill>
                  <a:schemeClr val="dk1"/>
                </a:solidFill>
                <a:latin typeface="Arial"/>
                <a:ea typeface="Arial"/>
                <a:cs typeface="Arial"/>
                <a:sym typeface="Arial"/>
              </a:rPr>
              <a:t>Perfectionist and preoccupied with</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detail</a:t>
            </a:r>
            <a:endParaRPr/>
          </a:p>
        </p:txBody>
      </p:sp>
      <p:sp>
        <p:nvSpPr>
          <p:cNvPr id="389" name="Google Shape;389;p83"/>
          <p:cNvSpPr/>
          <p:nvPr/>
        </p:nvSpPr>
        <p:spPr>
          <a:xfrm>
            <a:off x="3914274" y="545432"/>
            <a:ext cx="4251158" cy="609600"/>
          </a:xfrm>
          <a:prstGeom prst="rect">
            <a:avLst/>
          </a:prstGeom>
          <a:gradFill>
            <a:gsLst>
              <a:gs pos="0">
                <a:srgbClr val="F0AF8D"/>
              </a:gs>
              <a:gs pos="45000">
                <a:srgbClr val="F4BCA0"/>
              </a:gs>
              <a:gs pos="100000">
                <a:srgbClr val="FDC2A5"/>
              </a:gs>
            </a:gsLst>
            <a:path path="circle">
              <a:fillToRect b="50%" l="50%" r="50%" t="50%"/>
            </a:path>
            <a:tileRect/>
          </a:gra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Black"/>
                <a:ea typeface="Arial Black"/>
                <a:cs typeface="Arial Black"/>
                <a:sym typeface="Arial Black"/>
              </a:rPr>
              <a:t>PERSONALITY DISORDERS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9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Dissociative </a:t>
            </a:r>
            <a:r>
              <a:rPr lang="en-US">
                <a:latin typeface="Arial Black"/>
                <a:ea typeface="Arial Black"/>
                <a:cs typeface="Arial Black"/>
                <a:sym typeface="Arial Black"/>
              </a:rPr>
              <a:t>I</a:t>
            </a:r>
            <a:r>
              <a:rPr lang="en-US" sz="4800">
                <a:latin typeface="Arial Black"/>
                <a:ea typeface="Arial Black"/>
                <a:cs typeface="Arial Black"/>
                <a:sym typeface="Arial Black"/>
              </a:rPr>
              <a:t>dentity Disorder</a:t>
            </a:r>
            <a:endParaRPr sz="4800">
              <a:latin typeface="Arial Black"/>
              <a:ea typeface="Arial Black"/>
              <a:cs typeface="Arial Black"/>
              <a:sym typeface="Arial Black"/>
            </a:endParaRPr>
          </a:p>
        </p:txBody>
      </p:sp>
      <p:sp>
        <p:nvSpPr>
          <p:cNvPr id="395" name="Google Shape;395;p96"/>
          <p:cNvSpPr txBox="1"/>
          <p:nvPr>
            <p:ph idx="1" type="body"/>
          </p:nvPr>
        </p:nvSpPr>
        <p:spPr>
          <a:xfrm>
            <a:off x="1097280" y="1845734"/>
            <a:ext cx="5804966" cy="4023360"/>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l">
              <a:lnSpc>
                <a:spcPct val="90000"/>
              </a:lnSpc>
              <a:spcBef>
                <a:spcPts val="0"/>
              </a:spcBef>
              <a:spcAft>
                <a:spcPts val="0"/>
              </a:spcAft>
              <a:buSzPct val="100000"/>
              <a:buFont typeface="Noto Sans Symbols"/>
              <a:buChar char="▪"/>
            </a:pPr>
            <a:r>
              <a:rPr lang="en-US"/>
              <a:t>May adopt as many as 100 new identities, all simultaneously coexisting, although the average number is closer to 15. In some cases, the identities are complete, each with its own behavior, tone of voice, and physical gestures</a:t>
            </a:r>
            <a:endParaRPr/>
          </a:p>
          <a:p>
            <a:pPr indent="-117475" lvl="0" marL="91440" rtl="0" algn="l">
              <a:lnSpc>
                <a:spcPct val="90000"/>
              </a:lnSpc>
              <a:spcBef>
                <a:spcPts val="1400"/>
              </a:spcBef>
              <a:spcAft>
                <a:spcPts val="0"/>
              </a:spcAft>
              <a:buSzPct val="100000"/>
              <a:buFont typeface="Noto Sans Symbols"/>
              <a:buChar char="▪"/>
            </a:pPr>
            <a:r>
              <a:rPr lang="en-US"/>
              <a:t>Alters—The different identities</a:t>
            </a:r>
            <a:endParaRPr/>
          </a:p>
          <a:p>
            <a:pPr indent="-117475" lvl="0" marL="91440" rtl="0" algn="l">
              <a:lnSpc>
                <a:spcPct val="90000"/>
              </a:lnSpc>
              <a:spcBef>
                <a:spcPts val="1400"/>
              </a:spcBef>
              <a:spcAft>
                <a:spcPts val="0"/>
              </a:spcAft>
              <a:buSzPct val="100000"/>
              <a:buFont typeface="Noto Sans Symbols"/>
              <a:buChar char="▪"/>
            </a:pPr>
            <a:r>
              <a:rPr lang="en-US"/>
              <a:t>Host—The identity that keeps other identities together</a:t>
            </a:r>
            <a:endParaRPr/>
          </a:p>
          <a:p>
            <a:pPr indent="-117475" lvl="0" marL="91440" rtl="0" algn="l">
              <a:lnSpc>
                <a:spcPct val="90000"/>
              </a:lnSpc>
              <a:spcBef>
                <a:spcPts val="1400"/>
              </a:spcBef>
              <a:spcAft>
                <a:spcPts val="0"/>
              </a:spcAft>
              <a:buSzPct val="100000"/>
              <a:buFont typeface="Noto Sans Symbols"/>
              <a:buChar char="▪"/>
            </a:pPr>
            <a:r>
              <a:rPr lang="en-US"/>
              <a:t>Switch—Quick transition from one personality to another</a:t>
            </a:r>
            <a:endParaRPr/>
          </a:p>
          <a:p>
            <a:pPr indent="-117475" lvl="0" marL="91440" rtl="0" algn="l">
              <a:lnSpc>
                <a:spcPct val="90000"/>
              </a:lnSpc>
              <a:spcBef>
                <a:spcPts val="1400"/>
              </a:spcBef>
              <a:spcAft>
                <a:spcPts val="0"/>
              </a:spcAft>
              <a:buSzPct val="100000"/>
              <a:buFont typeface="Noto Sans Symbols"/>
              <a:buChar char="▪"/>
            </a:pPr>
            <a:r>
              <a:rPr lang="en-US"/>
              <a:t>Dissociative amnesia</a:t>
            </a:r>
            <a:endParaRPr/>
          </a:p>
          <a:p>
            <a:pPr indent="-117475" lvl="0" marL="91440" rtl="0" algn="l">
              <a:lnSpc>
                <a:spcPct val="90000"/>
              </a:lnSpc>
              <a:spcBef>
                <a:spcPts val="1400"/>
              </a:spcBef>
              <a:spcAft>
                <a:spcPts val="0"/>
              </a:spcAft>
              <a:buSzPct val="100000"/>
              <a:buFont typeface="Noto Sans Symbols"/>
              <a:buChar char="▪"/>
            </a:pPr>
            <a:r>
              <a:rPr lang="en-US"/>
              <a:t>The onset is childhood, often as young as 4 years of age</a:t>
            </a:r>
            <a:endParaRPr/>
          </a:p>
          <a:p>
            <a:pPr indent="-117475" lvl="0" marL="91440" rtl="0" algn="l">
              <a:lnSpc>
                <a:spcPct val="90000"/>
              </a:lnSpc>
              <a:spcBef>
                <a:spcPts val="1400"/>
              </a:spcBef>
              <a:spcAft>
                <a:spcPts val="0"/>
              </a:spcAft>
              <a:buSzPct val="100000"/>
              <a:buFont typeface="Noto Sans Symbols"/>
              <a:buChar char="▪"/>
            </a:pPr>
            <a:r>
              <a:rPr lang="en-US"/>
              <a:t>Lifelong, chronic course</a:t>
            </a:r>
            <a:endParaRPr/>
          </a:p>
        </p:txBody>
      </p:sp>
      <p:pic>
        <p:nvPicPr>
          <p:cNvPr id="396" name="Google Shape;396;p96"/>
          <p:cNvPicPr preferRelativeResize="0"/>
          <p:nvPr/>
        </p:nvPicPr>
        <p:blipFill rotWithShape="1">
          <a:blip r:embed="rId3">
            <a:alphaModFix/>
          </a:blip>
          <a:srcRect b="0" l="0" r="0" t="0"/>
          <a:stretch/>
        </p:blipFill>
        <p:spPr>
          <a:xfrm>
            <a:off x="7538173" y="1845734"/>
            <a:ext cx="3556547" cy="437949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9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Causes of DID </a:t>
            </a:r>
            <a:endParaRPr sz="4800">
              <a:latin typeface="Arial Black"/>
              <a:ea typeface="Arial Black"/>
              <a:cs typeface="Arial Black"/>
              <a:sym typeface="Arial Black"/>
            </a:endParaRPr>
          </a:p>
        </p:txBody>
      </p:sp>
      <p:sp>
        <p:nvSpPr>
          <p:cNvPr id="403" name="Google Shape;403;p97"/>
          <p:cNvSpPr txBox="1"/>
          <p:nvPr>
            <p:ph idx="1" type="body"/>
          </p:nvPr>
        </p:nvSpPr>
        <p:spPr>
          <a:xfrm>
            <a:off x="1097280" y="1845734"/>
            <a:ext cx="9728036"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Some people are particularly likely to use dissociation to cope with trauma, and this is seen as a key factor in causing people to develop alters after trauma</a:t>
            </a:r>
            <a:endParaRPr/>
          </a:p>
          <a:p>
            <a:pPr indent="-127000" lvl="0" marL="91440" rtl="0" algn="l">
              <a:lnSpc>
                <a:spcPct val="90000"/>
              </a:lnSpc>
              <a:spcBef>
                <a:spcPts val="1400"/>
              </a:spcBef>
              <a:spcAft>
                <a:spcPts val="0"/>
              </a:spcAft>
              <a:buSzPts val="2000"/>
              <a:buFont typeface="Noto Sans Symbols"/>
              <a:buChar char="▪"/>
            </a:pPr>
            <a:r>
              <a:rPr lang="en-US"/>
              <a:t>DID may be the result of learning to enact social roles. According to this model, alters appear in response to suggestions by therapists, exposure to media reports of DID, or other cultural influences</a:t>
            </a:r>
            <a:endParaRPr/>
          </a:p>
          <a:p>
            <a:pPr indent="-127000" lvl="0" marL="91440" rtl="0" algn="l">
              <a:lnSpc>
                <a:spcPct val="90000"/>
              </a:lnSpc>
              <a:spcBef>
                <a:spcPts val="1400"/>
              </a:spcBef>
              <a:spcAft>
                <a:spcPts val="0"/>
              </a:spcAft>
              <a:buSzPts val="2000"/>
              <a:buFont typeface="Noto Sans Symbols"/>
              <a:buChar char="▪"/>
            </a:pPr>
            <a:r>
              <a:rPr lang="en-US"/>
              <a:t> According to the autohypnotic model, people who are suggestible may be able to use dissociation as a defense against extreme trauma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0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Depersonalization-Derealization </a:t>
            </a:r>
            <a:r>
              <a:rPr lang="en-US">
                <a:latin typeface="Arial Black"/>
                <a:ea typeface="Arial Black"/>
                <a:cs typeface="Arial Black"/>
                <a:sym typeface="Arial Black"/>
              </a:rPr>
              <a:t>d</a:t>
            </a:r>
            <a:r>
              <a:rPr lang="en-US" sz="4800">
                <a:latin typeface="Arial Black"/>
                <a:ea typeface="Arial Black"/>
                <a:cs typeface="Arial Black"/>
                <a:sym typeface="Arial Black"/>
              </a:rPr>
              <a:t>isorder</a:t>
            </a:r>
            <a:endParaRPr sz="4800">
              <a:latin typeface="Arial Black"/>
              <a:ea typeface="Arial Black"/>
              <a:cs typeface="Arial Black"/>
              <a:sym typeface="Arial Black"/>
            </a:endParaRPr>
          </a:p>
        </p:txBody>
      </p:sp>
      <p:sp>
        <p:nvSpPr>
          <p:cNvPr id="410" name="Google Shape;410;p104"/>
          <p:cNvSpPr txBox="1"/>
          <p:nvPr>
            <p:ph idx="1" type="body"/>
          </p:nvPr>
        </p:nvSpPr>
        <p:spPr>
          <a:xfrm>
            <a:off x="1097280" y="1845734"/>
            <a:ext cx="5716475"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 Depersonalization - your perception alters so that you temporarily lose the sense of your own reality, as if you were in a dream and you were watching yourself.</a:t>
            </a:r>
            <a:endParaRPr/>
          </a:p>
          <a:p>
            <a:pPr indent="-127000" lvl="0" marL="91440" rtl="0" algn="l">
              <a:lnSpc>
                <a:spcPct val="90000"/>
              </a:lnSpc>
              <a:spcBef>
                <a:spcPts val="1400"/>
              </a:spcBef>
              <a:spcAft>
                <a:spcPts val="0"/>
              </a:spcAft>
              <a:buSzPts val="2000"/>
              <a:buFont typeface="Noto Sans Symbols"/>
              <a:buChar char="▪"/>
            </a:pPr>
            <a:r>
              <a:rPr lang="en-US"/>
              <a:t> Derealization - your sense of the reality of the external world is lost. Things may seem to change shape or size; people may seem dead or mechanical.</a:t>
            </a:r>
            <a:endParaRPr/>
          </a:p>
          <a:p>
            <a:pPr indent="-127000" lvl="0" marL="91440" rtl="0" algn="l">
              <a:lnSpc>
                <a:spcPct val="90000"/>
              </a:lnSpc>
              <a:spcBef>
                <a:spcPts val="1400"/>
              </a:spcBef>
              <a:spcAft>
                <a:spcPts val="0"/>
              </a:spcAft>
              <a:buSzPts val="2000"/>
              <a:buFont typeface="Noto Sans Symbols"/>
              <a:buChar char="▪"/>
            </a:pPr>
            <a:r>
              <a:rPr lang="en-US"/>
              <a:t>Onset is at the age of 16</a:t>
            </a:r>
            <a:endParaRPr/>
          </a:p>
          <a:p>
            <a:pPr indent="-127000" lvl="0" marL="91440" rtl="0" algn="l">
              <a:lnSpc>
                <a:spcPct val="90000"/>
              </a:lnSpc>
              <a:spcBef>
                <a:spcPts val="1400"/>
              </a:spcBef>
              <a:spcAft>
                <a:spcPts val="0"/>
              </a:spcAft>
              <a:buSzPts val="2000"/>
              <a:buFont typeface="Noto Sans Symbols"/>
              <a:buChar char="▪"/>
            </a:pPr>
            <a:r>
              <a:rPr lang="en-US"/>
              <a:t>Lifelong, chronic course</a:t>
            </a:r>
            <a:endParaRPr/>
          </a:p>
          <a:p>
            <a:pPr indent="-127000" lvl="0" marL="91440" rtl="0" algn="l">
              <a:lnSpc>
                <a:spcPct val="90000"/>
              </a:lnSpc>
              <a:spcBef>
                <a:spcPts val="1400"/>
              </a:spcBef>
              <a:spcAft>
                <a:spcPts val="0"/>
              </a:spcAft>
              <a:buSzPts val="2000"/>
              <a:buFont typeface="Noto Sans Symbols"/>
              <a:buChar char="▪"/>
            </a:pPr>
            <a:r>
              <a:rPr lang="en-US"/>
              <a:t>High comorbidities: Anxiety, mood, and personality disorders</a:t>
            </a:r>
            <a:endParaRPr/>
          </a:p>
        </p:txBody>
      </p:sp>
      <p:pic>
        <p:nvPicPr>
          <p:cNvPr id="411" name="Google Shape;411;p104"/>
          <p:cNvPicPr preferRelativeResize="0"/>
          <p:nvPr/>
        </p:nvPicPr>
        <p:blipFill rotWithShape="1">
          <a:blip r:embed="rId3">
            <a:alphaModFix/>
          </a:blip>
          <a:srcRect b="0" l="0" r="0" t="0"/>
          <a:stretch/>
        </p:blipFill>
        <p:spPr>
          <a:xfrm>
            <a:off x="7342158" y="1845734"/>
            <a:ext cx="3813522" cy="442724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0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rial Black"/>
              <a:buNone/>
            </a:pPr>
            <a:r>
              <a:rPr lang="en-US" sz="4800">
                <a:latin typeface="Arial Black"/>
                <a:ea typeface="Arial Black"/>
                <a:cs typeface="Arial Black"/>
                <a:sym typeface="Arial Black"/>
              </a:rPr>
              <a:t>Dissociative Amnesia</a:t>
            </a:r>
            <a:endParaRPr sz="4800">
              <a:latin typeface="Arial Black"/>
              <a:ea typeface="Arial Black"/>
              <a:cs typeface="Arial Black"/>
              <a:sym typeface="Arial Black"/>
            </a:endParaRPr>
          </a:p>
        </p:txBody>
      </p:sp>
      <p:sp>
        <p:nvSpPr>
          <p:cNvPr id="418" name="Google Shape;418;p109"/>
          <p:cNvSpPr txBox="1"/>
          <p:nvPr>
            <p:ph idx="1" type="body"/>
          </p:nvPr>
        </p:nvSpPr>
        <p:spPr>
          <a:xfrm>
            <a:off x="1097280" y="1845734"/>
            <a:ext cx="5716475"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 </a:t>
            </a:r>
            <a:r>
              <a:rPr b="1" lang="en-US"/>
              <a:t>Generalized amnesia </a:t>
            </a:r>
            <a:r>
              <a:rPr lang="en-US"/>
              <a:t>- unable to remember anything, including their identity; may be lifelong or may extend from a period in the more recent past, such as 6 months or a year previously.</a:t>
            </a:r>
            <a:endParaRPr/>
          </a:p>
          <a:p>
            <a:pPr indent="-127000" lvl="0" marL="91440" rtl="0" algn="l">
              <a:lnSpc>
                <a:spcPct val="90000"/>
              </a:lnSpc>
              <a:spcBef>
                <a:spcPts val="1400"/>
              </a:spcBef>
              <a:spcAft>
                <a:spcPts val="0"/>
              </a:spcAft>
              <a:buSzPts val="2000"/>
              <a:buFont typeface="Noto Sans Symbols"/>
              <a:buChar char="▪"/>
            </a:pPr>
            <a:r>
              <a:rPr lang="en-US"/>
              <a:t> </a:t>
            </a:r>
            <a:r>
              <a:rPr b="1" lang="en-US"/>
              <a:t>Localized or selective amnesia </a:t>
            </a:r>
            <a:r>
              <a:rPr lang="en-US"/>
              <a:t>- failure to recall specific events, usually traumatic, that occur during a specific period</a:t>
            </a:r>
            <a:endParaRPr/>
          </a:p>
          <a:p>
            <a:pPr indent="-127000" lvl="0" marL="91440" rtl="0" algn="l">
              <a:lnSpc>
                <a:spcPct val="90000"/>
              </a:lnSpc>
              <a:spcBef>
                <a:spcPts val="1400"/>
              </a:spcBef>
              <a:spcAft>
                <a:spcPts val="0"/>
              </a:spcAft>
              <a:buSzPts val="2000"/>
              <a:buFont typeface="Noto Sans Symbols"/>
              <a:buChar char="▪"/>
            </a:pPr>
            <a:r>
              <a:rPr b="1" lang="en-US"/>
              <a:t>Dissociative fugue </a:t>
            </a:r>
            <a:r>
              <a:rPr lang="en-US"/>
              <a:t>– subtype of dissociative amnesia, which refers to individuals who just take off and later find themselves in a new place, unable to remember why or how they got there; “flight”</a:t>
            </a:r>
            <a:endParaRPr/>
          </a:p>
        </p:txBody>
      </p:sp>
      <p:pic>
        <p:nvPicPr>
          <p:cNvPr id="419" name="Google Shape;419;p109"/>
          <p:cNvPicPr preferRelativeResize="0"/>
          <p:nvPr/>
        </p:nvPicPr>
        <p:blipFill rotWithShape="1">
          <a:blip r:embed="rId3">
            <a:alphaModFix/>
          </a:blip>
          <a:srcRect b="0" l="0" r="0" t="0"/>
          <a:stretch/>
        </p:blipFill>
        <p:spPr>
          <a:xfrm>
            <a:off x="7538599" y="1845734"/>
            <a:ext cx="3741744" cy="439712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12"/>
          <p:cNvSpPr txBox="1"/>
          <p:nvPr/>
        </p:nvSpPr>
        <p:spPr>
          <a:xfrm>
            <a:off x="1140542" y="884903"/>
            <a:ext cx="7836310" cy="18466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References:</a:t>
            </a:r>
            <a:br>
              <a:rPr lang="en-US" sz="40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Morrison, J. (2017). </a:t>
            </a:r>
            <a:r>
              <a:rPr i="1" lang="en-US" sz="1800">
                <a:solidFill>
                  <a:schemeClr val="dk1"/>
                </a:solidFill>
                <a:latin typeface="Calibri"/>
                <a:ea typeface="Calibri"/>
                <a:cs typeface="Calibri"/>
                <a:sym typeface="Calibri"/>
              </a:rPr>
              <a:t>Dsm-5 Made Easy: The Clinician’s Guide to Diagnosis</a:t>
            </a:r>
            <a:r>
              <a:rPr lang="en-US" sz="1800">
                <a:solidFill>
                  <a:schemeClr val="dk1"/>
                </a:solidFill>
                <a:latin typeface="Calibri"/>
                <a:ea typeface="Calibri"/>
                <a:cs typeface="Calibri"/>
                <a:sym typeface="Calibri"/>
              </a:rPr>
              <a:t>. Guilford Publications.</a:t>
            </a:r>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Barlow, D. H., &amp; Durand, M. V. (2014). Abnormal Psychology: An Integrative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Approach, 7th Edition (7th ed.). Cengage Learning.</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2023-05-17T14:46:27Z</dcterms:created>
  <dc:creator>gsgreciaaa@outlook.com</dc:creator>
</cp:coreProperties>
</file>