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12192000"/>
  <p:notesSz cx="9144000" cy="6858000"/>
  <p:embeddedFontLst>
    <p:embeddedFont>
      <p:font typeface="Arial Black"/>
      <p:regular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8" roundtripDataSignature="AMtx7mgTv2+4xZNkiaWQ29BRUmyTRKrm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rialBlack-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5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5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5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5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6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6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6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62"/>
          <p:cNvSpPr/>
          <p:nvPr>
            <p:ph idx="2" type="pic"/>
          </p:nvPr>
        </p:nvSpPr>
        <p:spPr>
          <a:xfrm>
            <a:off x="5183188" y="987425"/>
            <a:ext cx="6172200" cy="4873625"/>
          </a:xfrm>
          <a:prstGeom prst="rect">
            <a:avLst/>
          </a:prstGeom>
          <a:noFill/>
          <a:ln>
            <a:noFill/>
          </a:ln>
        </p:spPr>
      </p:sp>
      <p:sp>
        <p:nvSpPr>
          <p:cNvPr id="76" name="Google Shape;76;p6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6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6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 name="Google Shape;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 name="Google Shape;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 name="Google Shape;1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Google Shape;2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5" name="Shape 95"/>
        <p:cNvGrpSpPr/>
        <p:nvPr/>
      </p:nvGrpSpPr>
      <p:grpSpPr>
        <a:xfrm>
          <a:off x="0" y="0"/>
          <a:ext cx="0" cy="0"/>
          <a:chOff x="0" y="0"/>
          <a:chExt cx="0" cy="0"/>
        </a:xfrm>
      </p:grpSpPr>
      <p:sp>
        <p:nvSpPr>
          <p:cNvPr id="96" name="Google Shape;96;p1"/>
          <p:cNvSpPr txBox="1"/>
          <p:nvPr>
            <p:ph type="ctrTitle"/>
          </p:nvPr>
        </p:nvSpPr>
        <p:spPr>
          <a:xfrm>
            <a:off x="6951165" y="1025969"/>
            <a:ext cx="4645250" cy="288911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3800"/>
              <a:buFont typeface="Arial Rounded"/>
              <a:buNone/>
            </a:pPr>
            <a:r>
              <a:rPr b="1" lang="en-US" sz="3800">
                <a:latin typeface="Arial Rounded"/>
                <a:ea typeface="Arial Rounded"/>
                <a:cs typeface="Arial Rounded"/>
                <a:sym typeface="Arial Rounded"/>
              </a:rPr>
              <a:t>DEVELOPMENTAL PSYCHOLOGY</a:t>
            </a:r>
            <a:br>
              <a:rPr b="1" lang="en-US" sz="3800">
                <a:latin typeface="Arial Rounded"/>
                <a:ea typeface="Arial Rounded"/>
                <a:cs typeface="Arial Rounded"/>
                <a:sym typeface="Arial Rounded"/>
              </a:rPr>
            </a:br>
            <a:br>
              <a:rPr b="1" lang="en-US" sz="3800">
                <a:latin typeface="Arial Rounded"/>
                <a:ea typeface="Arial Rounded"/>
                <a:cs typeface="Arial Rounded"/>
                <a:sym typeface="Arial Rounded"/>
              </a:rPr>
            </a:br>
            <a:r>
              <a:rPr b="1" lang="en-US" sz="3800">
                <a:latin typeface="Arial Rounded"/>
                <a:ea typeface="Arial Rounded"/>
                <a:cs typeface="Arial Rounded"/>
                <a:sym typeface="Arial Rounded"/>
              </a:rPr>
              <a:t>Learning Session I</a:t>
            </a:r>
            <a:endParaRPr b="1" sz="3800">
              <a:latin typeface="Arial Rounded"/>
              <a:ea typeface="Arial Rounded"/>
              <a:cs typeface="Arial Rounded"/>
              <a:sym typeface="Arial Rounded"/>
            </a:endParaRPr>
          </a:p>
        </p:txBody>
      </p:sp>
      <p:sp>
        <p:nvSpPr>
          <p:cNvPr id="97" name="Google Shape;97;p1"/>
          <p:cNvSpPr/>
          <p:nvPr/>
        </p:nvSpPr>
        <p:spPr>
          <a:xfrm flipH="1">
            <a:off x="0" y="0"/>
            <a:ext cx="6172782" cy="685800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98" name="Google Shape;98;p1"/>
          <p:cNvPicPr preferRelativeResize="0"/>
          <p:nvPr/>
        </p:nvPicPr>
        <p:blipFill rotWithShape="1">
          <a:blip r:embed="rId3">
            <a:alphaModFix/>
          </a:blip>
          <a:srcRect b="0" l="0" r="0" t="0"/>
          <a:stretch/>
        </p:blipFill>
        <p:spPr>
          <a:xfrm>
            <a:off x="0" y="0"/>
            <a:ext cx="6667500" cy="6857999"/>
          </a:xfrm>
          <a:prstGeom prst="rect">
            <a:avLst/>
          </a:prstGeom>
          <a:noFill/>
          <a:ln>
            <a:noFill/>
          </a:ln>
        </p:spPr>
      </p:pic>
    </p:spTree>
  </p:cSld>
  <p:clrMapOvr>
    <a:masterClrMapping/>
  </p:clrMapOvr>
  <mc:AlternateContent>
    <mc:Choice Requires="p14">
      <p:transition spd="slow" p14:dur="1400">
        <p14:rippl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2"/>
          <p:cNvSpPr/>
          <p:nvPr/>
        </p:nvSpPr>
        <p:spPr>
          <a:xfrm rot="2700000">
            <a:off x="101632" y="996662"/>
            <a:ext cx="4864676" cy="4864676"/>
          </a:xfrm>
          <a:custGeom>
            <a:rect b="b" l="l" r="r" t="t"/>
            <a:pathLst>
              <a:path extrusionOk="0" h="4864676" w="4864676">
                <a:moveTo>
                  <a:pt x="0" y="0"/>
                </a:moveTo>
                <a:lnTo>
                  <a:pt x="4864676" y="0"/>
                </a:lnTo>
                <a:lnTo>
                  <a:pt x="4864676" y="4864676"/>
                </a:lnTo>
                <a:lnTo>
                  <a:pt x="1281101" y="4864676"/>
                </a:lnTo>
                <a:lnTo>
                  <a:pt x="0" y="3583575"/>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p:nvPr/>
        </p:nvSpPr>
        <p:spPr>
          <a:xfrm rot="2700000">
            <a:off x="7225693" y="996662"/>
            <a:ext cx="4864676" cy="4864676"/>
          </a:xfrm>
          <a:custGeom>
            <a:rect b="b" l="l" r="r" t="t"/>
            <a:pathLst>
              <a:path extrusionOk="0" h="4864676" w="4864676">
                <a:moveTo>
                  <a:pt x="0" y="0"/>
                </a:moveTo>
                <a:lnTo>
                  <a:pt x="3583574" y="0"/>
                </a:lnTo>
                <a:lnTo>
                  <a:pt x="4864676" y="1281103"/>
                </a:lnTo>
                <a:lnTo>
                  <a:pt x="4864676" y="4864676"/>
                </a:lnTo>
                <a:lnTo>
                  <a:pt x="0" y="4864676"/>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p:nvPr/>
        </p:nvSpPr>
        <p:spPr>
          <a:xfrm rot="10800000">
            <a:off x="2789020" y="1"/>
            <a:ext cx="6613961" cy="3286380"/>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2"/>
          <p:cNvSpPr/>
          <p:nvPr/>
        </p:nvSpPr>
        <p:spPr>
          <a:xfrm>
            <a:off x="2809286" y="3571620"/>
            <a:ext cx="6613961" cy="3286380"/>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2"/>
          <p:cNvSpPr/>
          <p:nvPr/>
        </p:nvSpPr>
        <p:spPr>
          <a:xfrm rot="2700000">
            <a:off x="3401311" y="734311"/>
            <a:ext cx="5389379" cy="5389379"/>
          </a:xfrm>
          <a:custGeom>
            <a:rect b="b" l="l" r="r" t="t"/>
            <a:pathLst>
              <a:path extrusionOk="0" h="5389379" w="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2"/>
          <p:cNvSpPr/>
          <p:nvPr/>
        </p:nvSpPr>
        <p:spPr>
          <a:xfrm rot="2700000">
            <a:off x="10271208" y="5287803"/>
            <a:ext cx="955808" cy="95580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rot="2700000">
            <a:off x="2700283" y="33283"/>
            <a:ext cx="6791435" cy="6791435"/>
          </a:xfrm>
          <a:custGeom>
            <a:rect b="b" l="l" r="r" t="t"/>
            <a:pathLst>
              <a:path extrusionOk="0" h="6791435" w="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2"/>
          <p:cNvSpPr txBox="1"/>
          <p:nvPr>
            <p:ph type="ctrTitle"/>
          </p:nvPr>
        </p:nvSpPr>
        <p:spPr>
          <a:xfrm>
            <a:off x="1852862" y="1522873"/>
            <a:ext cx="10339137" cy="308522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80808"/>
              </a:buClr>
              <a:buSzPts val="4000"/>
              <a:buFont typeface="Arial Rounded"/>
              <a:buNone/>
            </a:pPr>
            <a:r>
              <a:rPr b="1" lang="en-US" sz="4000">
                <a:solidFill>
                  <a:srgbClr val="080808"/>
                </a:solidFill>
                <a:latin typeface="Arial Rounded"/>
                <a:ea typeface="Arial Rounded"/>
                <a:cs typeface="Arial Rounded"/>
                <a:sym typeface="Arial Rounded"/>
              </a:rPr>
              <a:t>                  </a:t>
            </a:r>
            <a:r>
              <a:rPr b="1" lang="en-US" sz="4000">
                <a:solidFill>
                  <a:srgbClr val="C00000"/>
                </a:solidFill>
                <a:latin typeface="Arial Rounded"/>
                <a:ea typeface="Arial Rounded"/>
                <a:cs typeface="Arial Rounded"/>
                <a:sym typeface="Arial Rounded"/>
              </a:rPr>
              <a:t>Topic Outline</a:t>
            </a:r>
            <a:br>
              <a:rPr b="1" lang="en-US" sz="4000">
                <a:solidFill>
                  <a:srgbClr val="C00000"/>
                </a:solidFill>
                <a:latin typeface="Arial Rounded"/>
                <a:ea typeface="Arial Rounded"/>
                <a:cs typeface="Arial Rounded"/>
                <a:sym typeface="Arial Rounded"/>
              </a:rPr>
            </a:br>
            <a:r>
              <a:rPr b="1" lang="en-US" sz="4000">
                <a:solidFill>
                  <a:srgbClr val="080808"/>
                </a:solidFill>
                <a:latin typeface="Arial Rounded"/>
                <a:ea typeface="Arial Rounded"/>
                <a:cs typeface="Arial Rounded"/>
                <a:sym typeface="Arial Rounded"/>
              </a:rPr>
              <a:t>1. Introduction, Background &amp; Issues</a:t>
            </a:r>
            <a:br>
              <a:rPr b="1" lang="en-US" sz="4000">
                <a:solidFill>
                  <a:srgbClr val="080808"/>
                </a:solidFill>
                <a:latin typeface="Arial Rounded"/>
                <a:ea typeface="Arial Rounded"/>
                <a:cs typeface="Arial Rounded"/>
                <a:sym typeface="Arial Rounded"/>
              </a:rPr>
            </a:br>
            <a:r>
              <a:rPr b="1" lang="en-US" sz="4000">
                <a:solidFill>
                  <a:srgbClr val="080808"/>
                </a:solidFill>
                <a:latin typeface="Arial Rounded"/>
                <a:ea typeface="Arial Rounded"/>
                <a:cs typeface="Arial Rounded"/>
                <a:sym typeface="Arial Rounded"/>
              </a:rPr>
              <a:t>2. Research Methods</a:t>
            </a:r>
            <a:br>
              <a:rPr b="1" lang="en-US" sz="4000">
                <a:solidFill>
                  <a:srgbClr val="080808"/>
                </a:solidFill>
                <a:latin typeface="Arial Rounded"/>
                <a:ea typeface="Arial Rounded"/>
                <a:cs typeface="Arial Rounded"/>
                <a:sym typeface="Arial Rounded"/>
              </a:rPr>
            </a:br>
            <a:r>
              <a:rPr b="1" lang="en-US" sz="4000">
                <a:solidFill>
                  <a:srgbClr val="080808"/>
                </a:solidFill>
                <a:latin typeface="Arial Rounded"/>
                <a:ea typeface="Arial Rounded"/>
                <a:cs typeface="Arial Rounded"/>
                <a:sym typeface="Arial Rounded"/>
              </a:rPr>
              <a:t>3. Theories of Human Development</a:t>
            </a:r>
            <a:endParaRPr b="1" sz="4000">
              <a:solidFill>
                <a:srgbClr val="080808"/>
              </a:solidFill>
              <a:latin typeface="Arial Rounded"/>
              <a:ea typeface="Arial Rounded"/>
              <a:cs typeface="Arial Rounded"/>
              <a:sym typeface="Arial Rounded"/>
            </a:endParaRPr>
          </a:p>
        </p:txBody>
      </p:sp>
      <p:sp>
        <p:nvSpPr>
          <p:cNvPr id="112" name="Google Shape;112;p2"/>
          <p:cNvSpPr/>
          <p:nvPr/>
        </p:nvSpPr>
        <p:spPr>
          <a:xfrm rot="2700000">
            <a:off x="1042846" y="410171"/>
            <a:ext cx="1321281" cy="1321281"/>
          </a:xfrm>
          <a:prstGeom prst="rect">
            <a:avLst/>
          </a:prstGeom>
          <a:solidFill>
            <a:schemeClr val="accent4">
              <a:alpha val="4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2"/>
          <p:cNvSpPr/>
          <p:nvPr/>
        </p:nvSpPr>
        <p:spPr>
          <a:xfrm rot="2700000">
            <a:off x="430319" y="1508609"/>
            <a:ext cx="700047" cy="700047"/>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ransition spd="slow" p14:dur="1500">
    <p:split orient="ver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3"/>
          <p:cNvSpPr/>
          <p:nvPr/>
        </p:nvSpPr>
        <p:spPr>
          <a:xfrm>
            <a:off x="-1" y="0"/>
            <a:ext cx="12191695" cy="6858000"/>
          </a:xfrm>
          <a:prstGeom prst="rect">
            <a:avLst/>
          </a:prstGeom>
          <a:gradFill>
            <a:gsLst>
              <a:gs pos="0">
                <a:srgbClr val="FFFAF2"/>
              </a:gs>
              <a:gs pos="74000">
                <a:srgbClr val="F8D49F"/>
              </a:gs>
              <a:gs pos="83000">
                <a:srgbClr val="F8D49F"/>
              </a:gs>
              <a:gs pos="100000">
                <a:srgbClr val="FBE3BF"/>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3"/>
          <p:cNvSpPr/>
          <p:nvPr/>
        </p:nvSpPr>
        <p:spPr>
          <a:xfrm>
            <a:off x="0" y="891540"/>
            <a:ext cx="722376" cy="5071110"/>
          </a:xfrm>
          <a:prstGeom prst="rect">
            <a:avLst/>
          </a:prstGeom>
          <a:solidFill>
            <a:srgbClr val="4C52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3"/>
          <p:cNvSpPr/>
          <p:nvPr/>
        </p:nvSpPr>
        <p:spPr>
          <a:xfrm>
            <a:off x="1202435" y="891540"/>
            <a:ext cx="10989565" cy="5071110"/>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3"/>
          <p:cNvSpPr txBox="1"/>
          <p:nvPr>
            <p:ph type="ctrTitle"/>
          </p:nvPr>
        </p:nvSpPr>
        <p:spPr>
          <a:xfrm>
            <a:off x="1366160" y="1660121"/>
            <a:ext cx="9623404" cy="330549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Arial Black"/>
              <a:buNone/>
            </a:pPr>
            <a:r>
              <a:rPr lang="en-US" sz="5500">
                <a:latin typeface="Arial Black"/>
                <a:ea typeface="Arial Black"/>
                <a:cs typeface="Arial Black"/>
                <a:sym typeface="Arial Black"/>
              </a:rPr>
              <a:t>I. INTRODUCTION, BACKGROUND AND ISSUES</a:t>
            </a:r>
            <a:br>
              <a:rPr lang="en-US" sz="5500">
                <a:latin typeface="Arial Black"/>
                <a:ea typeface="Arial Black"/>
                <a:cs typeface="Arial Black"/>
                <a:sym typeface="Arial Black"/>
              </a:rPr>
            </a:br>
            <a:endParaRPr sz="5500">
              <a:latin typeface="Arial Black"/>
              <a:ea typeface="Arial Black"/>
              <a:cs typeface="Arial Black"/>
              <a:sym typeface="Arial Black"/>
            </a:endParaRP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27" name="Google Shape;127;p4"/>
          <p:cNvGrpSpPr/>
          <p:nvPr/>
        </p:nvGrpSpPr>
        <p:grpSpPr>
          <a:xfrm>
            <a:off x="409710" y="635715"/>
            <a:ext cx="11142208" cy="2482136"/>
            <a:chOff x="409710" y="635715"/>
            <a:chExt cx="11142208" cy="2482136"/>
          </a:xfrm>
        </p:grpSpPr>
        <p:sp>
          <p:nvSpPr>
            <p:cNvPr id="128" name="Google Shape;128;p4"/>
            <p:cNvSpPr/>
            <p:nvPr/>
          </p:nvSpPr>
          <p:spPr>
            <a:xfrm>
              <a:off x="11223203" y="635716"/>
              <a:ext cx="328612" cy="1742360"/>
            </a:xfrm>
            <a:custGeom>
              <a:rect b="b" l="l" r="r" t="t"/>
              <a:pathLst>
                <a:path extrusionOk="0" h="1114" w="207">
                  <a:moveTo>
                    <a:pt x="207" y="987"/>
                  </a:moveTo>
                  <a:lnTo>
                    <a:pt x="0" y="1114"/>
                  </a:lnTo>
                  <a:lnTo>
                    <a:pt x="0" y="127"/>
                  </a:lnTo>
                  <a:lnTo>
                    <a:pt x="207" y="0"/>
                  </a:lnTo>
                  <a:lnTo>
                    <a:pt x="207" y="987"/>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4"/>
            <p:cNvSpPr/>
            <p:nvPr/>
          </p:nvSpPr>
          <p:spPr>
            <a:xfrm>
              <a:off x="409710" y="1022350"/>
              <a:ext cx="709612" cy="2095501"/>
            </a:xfrm>
            <a:custGeom>
              <a:rect b="b" l="l" r="r" t="t"/>
              <a:pathLst>
                <a:path extrusionOk="0" h="1363" w="447">
                  <a:moveTo>
                    <a:pt x="447" y="1363"/>
                  </a:moveTo>
                  <a:lnTo>
                    <a:pt x="0" y="987"/>
                  </a:lnTo>
                  <a:lnTo>
                    <a:pt x="0" y="0"/>
                  </a:lnTo>
                  <a:lnTo>
                    <a:pt x="447" y="376"/>
                  </a:lnTo>
                  <a:lnTo>
                    <a:pt x="447" y="1363"/>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4"/>
            <p:cNvSpPr/>
            <p:nvPr/>
          </p:nvSpPr>
          <p:spPr>
            <a:xfrm>
              <a:off x="409710" y="837744"/>
              <a:ext cx="403225" cy="1705431"/>
            </a:xfrm>
            <a:custGeom>
              <a:rect b="b" l="l" r="r" t="t"/>
              <a:pathLst>
                <a:path extrusionOk="0" h="1109" w="254">
                  <a:moveTo>
                    <a:pt x="254" y="987"/>
                  </a:moveTo>
                  <a:lnTo>
                    <a:pt x="0" y="1109"/>
                  </a:lnTo>
                  <a:lnTo>
                    <a:pt x="0" y="119"/>
                  </a:lnTo>
                  <a:lnTo>
                    <a:pt x="254" y="0"/>
                  </a:lnTo>
                  <a:lnTo>
                    <a:pt x="254" y="98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4"/>
            <p:cNvSpPr/>
            <p:nvPr/>
          </p:nvSpPr>
          <p:spPr>
            <a:xfrm>
              <a:off x="644660" y="640894"/>
              <a:ext cx="168275" cy="1713195"/>
            </a:xfrm>
            <a:custGeom>
              <a:rect b="b" l="l" r="r" t="t"/>
              <a:pathLst>
                <a:path extrusionOk="0" h="1114" w="106">
                  <a:moveTo>
                    <a:pt x="106" y="1114"/>
                  </a:moveTo>
                  <a:lnTo>
                    <a:pt x="0" y="1005"/>
                  </a:lnTo>
                  <a:lnTo>
                    <a:pt x="0" y="0"/>
                  </a:lnTo>
                  <a:lnTo>
                    <a:pt x="106" y="110"/>
                  </a:lnTo>
                  <a:lnTo>
                    <a:pt x="106" y="1114"/>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4"/>
            <p:cNvSpPr/>
            <p:nvPr/>
          </p:nvSpPr>
          <p:spPr>
            <a:xfrm>
              <a:off x="644055" y="635715"/>
              <a:ext cx="10907863" cy="154145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3" name="Google Shape;133;p4"/>
          <p:cNvSpPr txBox="1"/>
          <p:nvPr>
            <p:ph type="title"/>
          </p:nvPr>
        </p:nvSpPr>
        <p:spPr>
          <a:xfrm>
            <a:off x="1047280" y="759805"/>
            <a:ext cx="103065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b="1" lang="en-US" sz="4000">
                <a:solidFill>
                  <a:srgbClr val="FFFFFF"/>
                </a:solidFill>
              </a:rPr>
              <a:t>Development</a:t>
            </a:r>
            <a:endParaRPr b="1" sz="4000">
              <a:solidFill>
                <a:srgbClr val="FFFFFF"/>
              </a:solidFill>
            </a:endParaRPr>
          </a:p>
        </p:txBody>
      </p:sp>
      <p:sp>
        <p:nvSpPr>
          <p:cNvPr id="134" name="Google Shape;134;p4"/>
          <p:cNvSpPr txBox="1"/>
          <p:nvPr>
            <p:ph idx="1" type="body"/>
          </p:nvPr>
        </p:nvSpPr>
        <p:spPr>
          <a:xfrm>
            <a:off x="1119321" y="2177172"/>
            <a:ext cx="4559583" cy="356315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refers to systematic changes in the individual that occur between conception (when the father’s sperm penetrates the mother’s ovum, creating a new organism) and death. </a:t>
            </a:r>
            <a:endParaRPr u="sng"/>
          </a:p>
        </p:txBody>
      </p:sp>
      <p:sp>
        <p:nvSpPr>
          <p:cNvPr id="135" name="Google Shape;135;p4"/>
          <p:cNvSpPr txBox="1"/>
          <p:nvPr/>
        </p:nvSpPr>
        <p:spPr>
          <a:xfrm>
            <a:off x="6398658" y="640894"/>
            <a:ext cx="1030652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4000"/>
              <a:buFont typeface="Calibri"/>
              <a:buNone/>
            </a:pPr>
            <a:r>
              <a:rPr b="1" lang="en-US" sz="4000" u="none">
                <a:solidFill>
                  <a:srgbClr val="FFFFFF"/>
                </a:solidFill>
                <a:latin typeface="Calibri"/>
                <a:ea typeface="Calibri"/>
                <a:cs typeface="Calibri"/>
                <a:sym typeface="Calibri"/>
              </a:rPr>
              <a:t>Continuity</a:t>
            </a:r>
            <a:endParaRPr b="1" sz="4000" u="none">
              <a:solidFill>
                <a:srgbClr val="FFFFFF"/>
              </a:solidFill>
              <a:latin typeface="Calibri"/>
              <a:ea typeface="Calibri"/>
              <a:cs typeface="Calibri"/>
              <a:sym typeface="Calibri"/>
            </a:endParaRPr>
          </a:p>
        </p:txBody>
      </p:sp>
      <p:sp>
        <p:nvSpPr>
          <p:cNvPr id="136" name="Google Shape;136;p4"/>
          <p:cNvSpPr txBox="1"/>
          <p:nvPr/>
        </p:nvSpPr>
        <p:spPr>
          <a:xfrm>
            <a:off x="6398658" y="2177172"/>
            <a:ext cx="4559583" cy="3563159"/>
          </a:xfrm>
          <a:prstGeom prst="rect">
            <a:avLst/>
          </a:prstGeom>
          <a:noFill/>
          <a:ln>
            <a:noFill/>
          </a:ln>
        </p:spPr>
        <p:txBody>
          <a:bodyPr anchorCtr="0" anchor="t" bIns="45700" lIns="91425" spcFirstLastPara="1" rIns="91425" wrap="square" tIns="45700">
            <a:normAutofit/>
          </a:bodyPr>
          <a:lstStyle/>
          <a:p>
            <a:pPr indent="-228600" lvl="0" marL="228600" marR="0" rtl="0" algn="just">
              <a:lnSpc>
                <a:spcPct val="90000"/>
              </a:lnSpc>
              <a:spcBef>
                <a:spcPts val="0"/>
              </a:spcBef>
              <a:spcAft>
                <a:spcPts val="0"/>
              </a:spcAft>
              <a:buClr>
                <a:schemeClr val="dk1"/>
              </a:buClr>
              <a:buSzPts val="2800"/>
              <a:buFont typeface="Arial"/>
              <a:buChar char="•"/>
            </a:pPr>
            <a:r>
              <a:rPr b="0" lang="en-US" sz="2800" u="none">
                <a:solidFill>
                  <a:schemeClr val="dk1"/>
                </a:solidFill>
                <a:latin typeface="Calibri"/>
                <a:ea typeface="Calibri"/>
                <a:cs typeface="Calibri"/>
                <a:sym typeface="Calibri"/>
              </a:rPr>
              <a:t>ways in which we remain stable over time or continue to reflect our past</a:t>
            </a:r>
            <a:endParaRPr b="0" sz="2800" u="sng">
              <a:solidFill>
                <a:schemeClr val="dk1"/>
              </a:solidFill>
              <a:latin typeface="Calibri"/>
              <a:ea typeface="Calibri"/>
              <a:cs typeface="Calibri"/>
              <a:sym typeface="Calibri"/>
            </a:endParaRPr>
          </a:p>
        </p:txBody>
      </p:sp>
    </p:spTree>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p:nvPr/>
        </p:nvSpPr>
        <p:spPr>
          <a:xfrm>
            <a:off x="321564" y="320040"/>
            <a:ext cx="11548872" cy="6217920"/>
          </a:xfrm>
          <a:prstGeom prst="rect">
            <a:avLst/>
          </a:prstGeom>
          <a:solidFill>
            <a:schemeClr val="dk1">
              <a:alpha val="13725"/>
            </a:schemeClr>
          </a:solidFill>
          <a:ln cap="sq" cmpd="thinThick" w="127000">
            <a:solidFill>
              <a:srgbClr val="262626">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5"/>
          <p:cNvSpPr txBox="1"/>
          <p:nvPr>
            <p:ph idx="1" type="body"/>
          </p:nvPr>
        </p:nvSpPr>
        <p:spPr>
          <a:xfrm>
            <a:off x="753979" y="721894"/>
            <a:ext cx="10515600" cy="4168775"/>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b="1" lang="en-US">
                <a:latin typeface="Arial Rounded"/>
                <a:ea typeface="Arial Rounded"/>
                <a:cs typeface="Arial Rounded"/>
                <a:sym typeface="Arial Rounded"/>
              </a:rPr>
              <a:t>Developmental sciences refers to the study of these phenomena and is a multidisciplinary enterprise. </a:t>
            </a:r>
            <a:endParaRPr b="1">
              <a:latin typeface="Arial Rounded"/>
              <a:ea typeface="Arial Rounded"/>
              <a:cs typeface="Arial Rounded"/>
              <a:sym typeface="Arial Rounded"/>
            </a:endParaRPr>
          </a:p>
          <a:p>
            <a:pPr indent="-50800" lvl="0" marL="228600" rtl="0" algn="just">
              <a:lnSpc>
                <a:spcPct val="90000"/>
              </a:lnSpc>
              <a:spcBef>
                <a:spcPts val="1000"/>
              </a:spcBef>
              <a:spcAft>
                <a:spcPts val="0"/>
              </a:spcAft>
              <a:buClr>
                <a:schemeClr val="dk1"/>
              </a:buClr>
              <a:buSzPts val="2800"/>
              <a:buNone/>
            </a:pPr>
            <a:r>
              <a:t/>
            </a:r>
            <a:endParaRPr b="1">
              <a:latin typeface="Arial Rounded"/>
              <a:ea typeface="Arial Rounded"/>
              <a:cs typeface="Arial Rounded"/>
              <a:sym typeface="Arial Rounded"/>
            </a:endParaRPr>
          </a:p>
          <a:p>
            <a:pPr indent="-228600" lvl="0" marL="228600" rtl="0" algn="just">
              <a:lnSpc>
                <a:spcPct val="90000"/>
              </a:lnSpc>
              <a:spcBef>
                <a:spcPts val="1000"/>
              </a:spcBef>
              <a:spcAft>
                <a:spcPts val="0"/>
              </a:spcAft>
              <a:buClr>
                <a:schemeClr val="dk1"/>
              </a:buClr>
              <a:buSzPts val="2800"/>
              <a:buChar char="•"/>
            </a:pPr>
            <a:r>
              <a:rPr b="1" lang="en-US">
                <a:latin typeface="Arial Rounded"/>
                <a:ea typeface="Arial Rounded"/>
                <a:cs typeface="Arial Rounded"/>
                <a:sym typeface="Arial Rounded"/>
              </a:rPr>
              <a:t>Developmentalist to refer to any scholar—regardless of discipline—who seeks to understand the developmental process</a:t>
            </a:r>
            <a:endParaRPr/>
          </a:p>
          <a:p>
            <a:pPr indent="-50800" lvl="0" marL="228600" rtl="0" algn="just">
              <a:lnSpc>
                <a:spcPct val="90000"/>
              </a:lnSpc>
              <a:spcBef>
                <a:spcPts val="1000"/>
              </a:spcBef>
              <a:spcAft>
                <a:spcPts val="0"/>
              </a:spcAft>
              <a:buClr>
                <a:schemeClr val="dk1"/>
              </a:buClr>
              <a:buSzPts val="2800"/>
              <a:buNone/>
            </a:pPr>
            <a:r>
              <a:t/>
            </a:r>
            <a:endParaRPr b="1">
              <a:latin typeface="Arial Rounded"/>
              <a:ea typeface="Arial Rounded"/>
              <a:cs typeface="Arial Rounded"/>
              <a:sym typeface="Arial Rounded"/>
            </a:endParaRPr>
          </a:p>
          <a:p>
            <a:pPr indent="-228600" lvl="0" marL="228600" rtl="0" algn="just">
              <a:lnSpc>
                <a:spcPct val="90000"/>
              </a:lnSpc>
              <a:spcBef>
                <a:spcPts val="1000"/>
              </a:spcBef>
              <a:spcAft>
                <a:spcPts val="0"/>
              </a:spcAft>
              <a:buClr>
                <a:schemeClr val="dk1"/>
              </a:buClr>
              <a:buSzPts val="2800"/>
              <a:buChar char="•"/>
            </a:pPr>
            <a:r>
              <a:rPr b="1" lang="en-US">
                <a:latin typeface="Arial Rounded"/>
                <a:ea typeface="Arial Rounded"/>
                <a:cs typeface="Arial Rounded"/>
                <a:sym typeface="Arial Rounded"/>
              </a:rPr>
              <a:t>Aside from developmental Psychologists, many biologists, sociologists, anthropologists, educators, physicians, and even historians share an interest in developmental continuity and change, and have contributed in important ways to our understanding of both human and animal development. </a:t>
            </a:r>
            <a:endParaRP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8" name="Google Shape;148;p6"/>
          <p:cNvGrpSpPr/>
          <p:nvPr/>
        </p:nvGrpSpPr>
        <p:grpSpPr>
          <a:xfrm>
            <a:off x="409710" y="635715"/>
            <a:ext cx="11142208" cy="2482136"/>
            <a:chOff x="409710" y="635715"/>
            <a:chExt cx="11142208" cy="2482136"/>
          </a:xfrm>
        </p:grpSpPr>
        <p:sp>
          <p:nvSpPr>
            <p:cNvPr id="149" name="Google Shape;149;p6"/>
            <p:cNvSpPr/>
            <p:nvPr/>
          </p:nvSpPr>
          <p:spPr>
            <a:xfrm>
              <a:off x="11223203" y="635716"/>
              <a:ext cx="328612" cy="1742360"/>
            </a:xfrm>
            <a:custGeom>
              <a:rect b="b" l="l" r="r" t="t"/>
              <a:pathLst>
                <a:path extrusionOk="0" h="1114" w="207">
                  <a:moveTo>
                    <a:pt x="207" y="987"/>
                  </a:moveTo>
                  <a:lnTo>
                    <a:pt x="0" y="1114"/>
                  </a:lnTo>
                  <a:lnTo>
                    <a:pt x="0" y="127"/>
                  </a:lnTo>
                  <a:lnTo>
                    <a:pt x="207" y="0"/>
                  </a:lnTo>
                  <a:lnTo>
                    <a:pt x="207" y="987"/>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6"/>
            <p:cNvSpPr/>
            <p:nvPr/>
          </p:nvSpPr>
          <p:spPr>
            <a:xfrm>
              <a:off x="409710" y="1022350"/>
              <a:ext cx="709612" cy="2095501"/>
            </a:xfrm>
            <a:custGeom>
              <a:rect b="b" l="l" r="r" t="t"/>
              <a:pathLst>
                <a:path extrusionOk="0" h="1363" w="447">
                  <a:moveTo>
                    <a:pt x="447" y="1363"/>
                  </a:moveTo>
                  <a:lnTo>
                    <a:pt x="0" y="987"/>
                  </a:lnTo>
                  <a:lnTo>
                    <a:pt x="0" y="0"/>
                  </a:lnTo>
                  <a:lnTo>
                    <a:pt x="447" y="376"/>
                  </a:lnTo>
                  <a:lnTo>
                    <a:pt x="447" y="1363"/>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6"/>
            <p:cNvSpPr/>
            <p:nvPr/>
          </p:nvSpPr>
          <p:spPr>
            <a:xfrm>
              <a:off x="409710" y="837744"/>
              <a:ext cx="403225" cy="1705431"/>
            </a:xfrm>
            <a:custGeom>
              <a:rect b="b" l="l" r="r" t="t"/>
              <a:pathLst>
                <a:path extrusionOk="0" h="1109" w="254">
                  <a:moveTo>
                    <a:pt x="254" y="987"/>
                  </a:moveTo>
                  <a:lnTo>
                    <a:pt x="0" y="1109"/>
                  </a:lnTo>
                  <a:lnTo>
                    <a:pt x="0" y="119"/>
                  </a:lnTo>
                  <a:lnTo>
                    <a:pt x="254" y="0"/>
                  </a:lnTo>
                  <a:lnTo>
                    <a:pt x="254" y="98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6"/>
            <p:cNvSpPr/>
            <p:nvPr/>
          </p:nvSpPr>
          <p:spPr>
            <a:xfrm>
              <a:off x="644660" y="640894"/>
              <a:ext cx="168275" cy="1713195"/>
            </a:xfrm>
            <a:custGeom>
              <a:rect b="b" l="l" r="r" t="t"/>
              <a:pathLst>
                <a:path extrusionOk="0" h="1114" w="106">
                  <a:moveTo>
                    <a:pt x="106" y="1114"/>
                  </a:moveTo>
                  <a:lnTo>
                    <a:pt x="0" y="1005"/>
                  </a:lnTo>
                  <a:lnTo>
                    <a:pt x="0" y="0"/>
                  </a:lnTo>
                  <a:lnTo>
                    <a:pt x="106" y="110"/>
                  </a:lnTo>
                  <a:lnTo>
                    <a:pt x="106" y="1114"/>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6"/>
            <p:cNvSpPr/>
            <p:nvPr/>
          </p:nvSpPr>
          <p:spPr>
            <a:xfrm>
              <a:off x="644055" y="635715"/>
              <a:ext cx="10907863" cy="154145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4" name="Google Shape;154;p6"/>
          <p:cNvSpPr txBox="1"/>
          <p:nvPr>
            <p:ph type="title"/>
          </p:nvPr>
        </p:nvSpPr>
        <p:spPr>
          <a:xfrm>
            <a:off x="1047280" y="759805"/>
            <a:ext cx="103065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b="1" lang="en-US" sz="4000">
                <a:solidFill>
                  <a:srgbClr val="FFFFFF"/>
                </a:solidFill>
              </a:rPr>
              <a:t>DEVELOPMENTAL PSYCHOLOGY</a:t>
            </a:r>
            <a:endParaRPr b="1" sz="4000">
              <a:solidFill>
                <a:srgbClr val="FFFFFF"/>
              </a:solidFill>
            </a:endParaRPr>
          </a:p>
        </p:txBody>
      </p:sp>
      <p:sp>
        <p:nvSpPr>
          <p:cNvPr id="155" name="Google Shape;155;p6"/>
          <p:cNvSpPr txBox="1"/>
          <p:nvPr>
            <p:ph idx="1" type="body"/>
          </p:nvPr>
        </p:nvSpPr>
        <p:spPr>
          <a:xfrm>
            <a:off x="1460999" y="2354089"/>
            <a:ext cx="6426005" cy="356315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lang="en-US" sz="3200"/>
              <a:t>branch of psychology devoted to identifying and explaining the continuities and changes that individuals display over time.</a:t>
            </a:r>
            <a:endParaRPr/>
          </a:p>
          <a:p>
            <a:pPr indent="-228600" lvl="0" marL="228600" rtl="0" algn="just">
              <a:lnSpc>
                <a:spcPct val="90000"/>
              </a:lnSpc>
              <a:spcBef>
                <a:spcPts val="1000"/>
              </a:spcBef>
              <a:spcAft>
                <a:spcPts val="0"/>
              </a:spcAft>
              <a:buClr>
                <a:schemeClr val="dk1"/>
              </a:buClr>
              <a:buSzPts val="3200"/>
              <a:buChar char="•"/>
            </a:pPr>
            <a:r>
              <a:rPr lang="en-US" sz="3200"/>
              <a:t>It is multidimensional, multicontextual, multidisciplinal and multicultural</a:t>
            </a:r>
            <a:endParaRPr sz="3600"/>
          </a:p>
        </p:txBody>
      </p:sp>
      <p:pic>
        <p:nvPicPr>
          <p:cNvPr descr="Children" id="156" name="Google Shape;156;p6"/>
          <p:cNvPicPr preferRelativeResize="0"/>
          <p:nvPr/>
        </p:nvPicPr>
        <p:blipFill rotWithShape="1">
          <a:blip r:embed="rId3">
            <a:alphaModFix/>
          </a:blip>
          <a:srcRect b="0" l="0" r="0" t="0"/>
          <a:stretch/>
        </p:blipFill>
        <p:spPr>
          <a:xfrm>
            <a:off x="8307062" y="2494237"/>
            <a:ext cx="3563372" cy="3563372"/>
          </a:xfrm>
          <a:prstGeom prst="rect">
            <a:avLst/>
          </a:prstGeom>
          <a:noFill/>
          <a:ln>
            <a:noFill/>
          </a:ln>
        </p:spPr>
      </p:pic>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p:nvPr/>
        </p:nvSpPr>
        <p:spPr>
          <a:xfrm>
            <a:off x="327547" y="321731"/>
            <a:ext cx="4142096" cy="6213425"/>
          </a:xfrm>
          <a:prstGeom prst="rect">
            <a:avLst/>
          </a:pr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 name="Google Shape;162;p7"/>
          <p:cNvSpPr txBox="1"/>
          <p:nvPr>
            <p:ph type="title"/>
          </p:nvPr>
        </p:nvSpPr>
        <p:spPr>
          <a:xfrm>
            <a:off x="524256" y="583616"/>
            <a:ext cx="3722141" cy="552057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WHY DO WE DEVELOP?</a:t>
            </a:r>
            <a:endParaRPr>
              <a:solidFill>
                <a:srgbClr val="FFFFFF"/>
              </a:solidFill>
            </a:endParaRPr>
          </a:p>
        </p:txBody>
      </p:sp>
      <p:sp>
        <p:nvSpPr>
          <p:cNvPr id="163" name="Google Shape;163;p7"/>
          <p:cNvSpPr/>
          <p:nvPr/>
        </p:nvSpPr>
        <p:spPr>
          <a:xfrm>
            <a:off x="4629503" y="321732"/>
            <a:ext cx="7240765" cy="6214534"/>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64" name="Google Shape;164;p7"/>
          <p:cNvGrpSpPr/>
          <p:nvPr/>
        </p:nvGrpSpPr>
        <p:grpSpPr>
          <a:xfrm>
            <a:off x="4933950" y="584927"/>
            <a:ext cx="6594475" cy="5518283"/>
            <a:chOff x="0" y="727"/>
            <a:chExt cx="6594475" cy="5518283"/>
          </a:xfrm>
        </p:grpSpPr>
        <p:sp>
          <p:nvSpPr>
            <p:cNvPr id="165" name="Google Shape;165;p7"/>
            <p:cNvSpPr/>
            <p:nvPr/>
          </p:nvSpPr>
          <p:spPr>
            <a:xfrm>
              <a:off x="0" y="727"/>
              <a:ext cx="6594475" cy="2720935"/>
            </a:xfrm>
            <a:prstGeom prst="roundRect">
              <a:avLst>
                <a:gd fmla="val 16667" name="adj"/>
              </a:avLst>
            </a:prstGeom>
            <a:solidFill>
              <a:srgbClr val="A1957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txBox="1"/>
            <p:nvPr/>
          </p:nvSpPr>
          <p:spPr>
            <a:xfrm>
              <a:off x="132825" y="133552"/>
              <a:ext cx="6328825" cy="2455285"/>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None/>
              </a:pPr>
              <a:r>
                <a:rPr b="1" lang="en-US" sz="4000" u="sng">
                  <a:solidFill>
                    <a:schemeClr val="lt1"/>
                  </a:solidFill>
                  <a:latin typeface="Calibri"/>
                  <a:ea typeface="Calibri"/>
                  <a:cs typeface="Calibri"/>
                  <a:sym typeface="Calibri"/>
                </a:rPr>
                <a:t>Maturation</a:t>
              </a:r>
              <a:r>
                <a:rPr b="1" lang="en-US" sz="2100">
                  <a:solidFill>
                    <a:schemeClr val="lt1"/>
                  </a:solidFill>
                  <a:latin typeface="Calibri"/>
                  <a:ea typeface="Calibri"/>
                  <a:cs typeface="Calibri"/>
                  <a:sym typeface="Calibri"/>
                </a:rPr>
                <a:t> </a:t>
              </a:r>
              <a:endParaRPr/>
            </a:p>
            <a:p>
              <a:pPr indent="0" lvl="0" marL="0" marR="0" rtl="0" algn="ctr">
                <a:lnSpc>
                  <a:spcPct val="90000"/>
                </a:lnSpc>
                <a:spcBef>
                  <a:spcPts val="1400"/>
                </a:spcBef>
                <a:spcAft>
                  <a:spcPts val="0"/>
                </a:spcAft>
                <a:buNone/>
              </a:pPr>
              <a:r>
                <a:rPr b="1" lang="en-US" sz="2800">
                  <a:solidFill>
                    <a:schemeClr val="lt1"/>
                  </a:solidFill>
                  <a:latin typeface="Calibri"/>
                  <a:ea typeface="Calibri"/>
                  <a:cs typeface="Calibri"/>
                  <a:sym typeface="Calibri"/>
                </a:rPr>
                <a:t>refers to the biological unfolding of the individual according to species-typical biological inheritance and an individual person’s biological inheritance. </a:t>
              </a:r>
              <a:endParaRPr sz="2800">
                <a:solidFill>
                  <a:schemeClr val="lt1"/>
                </a:solidFill>
                <a:latin typeface="Calibri"/>
                <a:ea typeface="Calibri"/>
                <a:cs typeface="Calibri"/>
                <a:sym typeface="Calibri"/>
              </a:endParaRPr>
            </a:p>
          </p:txBody>
        </p:sp>
        <p:sp>
          <p:nvSpPr>
            <p:cNvPr id="167" name="Google Shape;167;p7"/>
            <p:cNvSpPr/>
            <p:nvPr/>
          </p:nvSpPr>
          <p:spPr>
            <a:xfrm>
              <a:off x="0" y="2721662"/>
              <a:ext cx="6594475" cy="764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txBox="1"/>
            <p:nvPr/>
          </p:nvSpPr>
          <p:spPr>
            <a:xfrm>
              <a:off x="0" y="2721662"/>
              <a:ext cx="6594475" cy="76412"/>
            </a:xfrm>
            <a:prstGeom prst="rect">
              <a:avLst/>
            </a:prstGeom>
            <a:noFill/>
            <a:ln>
              <a:noFill/>
            </a:ln>
          </p:spPr>
          <p:txBody>
            <a:bodyPr anchorCtr="0" anchor="t" bIns="6350" lIns="209375" spcFirstLastPara="1" rIns="35550" wrap="square" tIns="6350">
              <a:noAutofit/>
            </a:bodyPr>
            <a:lstStyle/>
            <a:p>
              <a:pPr indent="-31750" lvl="1" marL="57150" marR="0" rtl="0" algn="l">
                <a:lnSpc>
                  <a:spcPct val="90000"/>
                </a:lnSpc>
                <a:spcBef>
                  <a:spcPts val="0"/>
                </a:spcBef>
                <a:spcAft>
                  <a:spcPts val="0"/>
                </a:spcAft>
                <a:buClr>
                  <a:schemeClr val="dk1"/>
                </a:buClr>
                <a:buSzPts val="400"/>
                <a:buFont typeface="Calibri"/>
                <a:buNone/>
              </a:pPr>
              <a:r>
                <a:t/>
              </a:r>
              <a:endParaRPr b="0" i="0" sz="400" u="none" cap="none" strike="noStrike">
                <a:solidFill>
                  <a:schemeClr val="dk1"/>
                </a:solidFill>
                <a:latin typeface="Calibri"/>
                <a:ea typeface="Calibri"/>
                <a:cs typeface="Calibri"/>
                <a:sym typeface="Calibri"/>
              </a:endParaRPr>
            </a:p>
          </p:txBody>
        </p:sp>
        <p:sp>
          <p:nvSpPr>
            <p:cNvPr id="169" name="Google Shape;169;p7"/>
            <p:cNvSpPr/>
            <p:nvPr/>
          </p:nvSpPr>
          <p:spPr>
            <a:xfrm>
              <a:off x="0" y="2798075"/>
              <a:ext cx="6594475" cy="2720935"/>
            </a:xfrm>
            <a:prstGeom prst="roundRect">
              <a:avLst>
                <a:gd fmla="val 16667" name="adj"/>
              </a:avLst>
            </a:prstGeom>
            <a:solidFill>
              <a:srgbClr val="BF742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txBox="1"/>
            <p:nvPr/>
          </p:nvSpPr>
          <p:spPr>
            <a:xfrm>
              <a:off x="132825" y="2930900"/>
              <a:ext cx="6328825" cy="2455285"/>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None/>
              </a:pPr>
              <a:r>
                <a:rPr b="1" lang="en-US" sz="4000" u="sng">
                  <a:solidFill>
                    <a:schemeClr val="lt1"/>
                  </a:solidFill>
                  <a:latin typeface="Calibri"/>
                  <a:ea typeface="Calibri"/>
                  <a:cs typeface="Calibri"/>
                  <a:sym typeface="Calibri"/>
                </a:rPr>
                <a:t>Learning</a:t>
              </a:r>
              <a:r>
                <a:rPr b="1" lang="en-US" sz="3600">
                  <a:solidFill>
                    <a:schemeClr val="lt1"/>
                  </a:solidFill>
                  <a:latin typeface="Calibri"/>
                  <a:ea typeface="Calibri"/>
                  <a:cs typeface="Calibri"/>
                  <a:sym typeface="Calibri"/>
                </a:rPr>
                <a:t> </a:t>
              </a:r>
              <a:endParaRPr/>
            </a:p>
            <a:p>
              <a:pPr indent="0" lvl="0" marL="0" marR="0" rtl="0" algn="ctr">
                <a:lnSpc>
                  <a:spcPct val="90000"/>
                </a:lnSpc>
                <a:spcBef>
                  <a:spcPts val="1400"/>
                </a:spcBef>
                <a:spcAft>
                  <a:spcPts val="0"/>
                </a:spcAft>
                <a:buNone/>
              </a:pPr>
              <a:r>
                <a:rPr b="1" lang="en-US" sz="2800">
                  <a:solidFill>
                    <a:schemeClr val="lt1"/>
                  </a:solidFill>
                  <a:latin typeface="Calibri"/>
                  <a:ea typeface="Calibri"/>
                  <a:cs typeface="Calibri"/>
                  <a:sym typeface="Calibri"/>
                </a:rPr>
                <a:t>is the process through which our experiences produce relatively permanent changes in our feelings, thoughts, and behaviours</a:t>
              </a:r>
              <a:endParaRPr sz="2800">
                <a:solidFill>
                  <a:schemeClr val="lt1"/>
                </a:solidFill>
                <a:latin typeface="Calibri"/>
                <a:ea typeface="Calibri"/>
                <a:cs typeface="Calibri"/>
                <a:sym typeface="Calibri"/>
              </a:endParaRPr>
            </a:p>
          </p:txBody>
        </p:sp>
      </p:gr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p:nvPr/>
        </p:nvSpPr>
        <p:spPr>
          <a:xfrm>
            <a:off x="327547" y="321731"/>
            <a:ext cx="4142096" cy="6213425"/>
          </a:xfrm>
          <a:prstGeom prst="rect">
            <a:avLst/>
          </a:pr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6" name="Google Shape;176;p8"/>
          <p:cNvSpPr txBox="1"/>
          <p:nvPr>
            <p:ph type="title"/>
          </p:nvPr>
        </p:nvSpPr>
        <p:spPr>
          <a:xfrm>
            <a:off x="524256" y="583616"/>
            <a:ext cx="3722141" cy="55205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Calibri"/>
              <a:buNone/>
            </a:pPr>
            <a:r>
              <a:rPr b="1" lang="en-US">
                <a:solidFill>
                  <a:srgbClr val="FFFFFF"/>
                </a:solidFill>
              </a:rPr>
              <a:t>WHAT IS THE GOAL?</a:t>
            </a:r>
            <a:br>
              <a:rPr b="1" lang="en-US">
                <a:solidFill>
                  <a:srgbClr val="FFFFFF"/>
                </a:solidFill>
              </a:rPr>
            </a:br>
            <a:r>
              <a:rPr b="1" lang="en-US">
                <a:solidFill>
                  <a:srgbClr val="FFFFFF"/>
                </a:solidFill>
              </a:rPr>
              <a:t>*describe</a:t>
            </a:r>
            <a:br>
              <a:rPr b="1" lang="en-US">
                <a:solidFill>
                  <a:srgbClr val="FFFFFF"/>
                </a:solidFill>
              </a:rPr>
            </a:br>
            <a:r>
              <a:rPr b="1" lang="en-US">
                <a:solidFill>
                  <a:srgbClr val="FFFFFF"/>
                </a:solidFill>
              </a:rPr>
              <a:t>*explain</a:t>
            </a:r>
            <a:br>
              <a:rPr b="1" lang="en-US">
                <a:solidFill>
                  <a:srgbClr val="FFFFFF"/>
                </a:solidFill>
              </a:rPr>
            </a:br>
            <a:r>
              <a:rPr b="1" lang="en-US">
                <a:solidFill>
                  <a:srgbClr val="FFFFFF"/>
                </a:solidFill>
              </a:rPr>
              <a:t>*optimize</a:t>
            </a:r>
            <a:br>
              <a:rPr b="1" lang="en-US">
                <a:solidFill>
                  <a:srgbClr val="FFFFFF"/>
                </a:solidFill>
              </a:rPr>
            </a:br>
            <a:br>
              <a:rPr b="1" lang="en-US">
                <a:solidFill>
                  <a:srgbClr val="FFFFFF"/>
                </a:solidFill>
              </a:rPr>
            </a:br>
            <a:r>
              <a:rPr b="1" i="1" lang="en-US" u="sng">
                <a:solidFill>
                  <a:srgbClr val="FFFFFF"/>
                </a:solidFill>
              </a:rPr>
              <a:t>PATTERNS OF CHANGE</a:t>
            </a:r>
            <a:endParaRPr i="1" u="sng">
              <a:solidFill>
                <a:srgbClr val="FFFFFF"/>
              </a:solidFill>
            </a:endParaRPr>
          </a:p>
        </p:txBody>
      </p:sp>
      <p:sp>
        <p:nvSpPr>
          <p:cNvPr id="177" name="Google Shape;177;p8"/>
          <p:cNvSpPr/>
          <p:nvPr/>
        </p:nvSpPr>
        <p:spPr>
          <a:xfrm>
            <a:off x="4629503" y="321732"/>
            <a:ext cx="7240765" cy="6214534"/>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8" name="Google Shape;178;p8"/>
          <p:cNvGrpSpPr/>
          <p:nvPr/>
        </p:nvGrpSpPr>
        <p:grpSpPr>
          <a:xfrm>
            <a:off x="4933950" y="1159094"/>
            <a:ext cx="6594475" cy="4360724"/>
            <a:chOff x="0" y="574894"/>
            <a:chExt cx="6594475" cy="4360724"/>
          </a:xfrm>
        </p:grpSpPr>
        <p:sp>
          <p:nvSpPr>
            <p:cNvPr id="179" name="Google Shape;179;p8"/>
            <p:cNvSpPr/>
            <p:nvPr/>
          </p:nvSpPr>
          <p:spPr>
            <a:xfrm>
              <a:off x="0" y="574894"/>
              <a:ext cx="6594475" cy="2091375"/>
            </a:xfrm>
            <a:prstGeom prst="roundRect">
              <a:avLst>
                <a:gd fmla="val 16667" name="adj"/>
              </a:avLst>
            </a:prstGeom>
            <a:gradFill>
              <a:gsLst>
                <a:gs pos="0">
                  <a:srgbClr val="CCC6B7"/>
                </a:gs>
                <a:gs pos="50000">
                  <a:srgbClr val="C3BCAB"/>
                </a:gs>
                <a:gs pos="100000">
                  <a:srgbClr val="BCB39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102093" y="676987"/>
              <a:ext cx="6390289" cy="1887189"/>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None/>
              </a:pPr>
              <a:r>
                <a:rPr b="1" lang="en-US" sz="3200">
                  <a:solidFill>
                    <a:schemeClr val="dk1"/>
                  </a:solidFill>
                  <a:latin typeface="Calibri"/>
                  <a:ea typeface="Calibri"/>
                  <a:cs typeface="Calibri"/>
                  <a:sym typeface="Calibri"/>
                </a:rPr>
                <a:t>NORMATIVE DEVELOPMENT </a:t>
              </a:r>
              <a:r>
                <a:rPr lang="en-US" sz="2800">
                  <a:solidFill>
                    <a:schemeClr val="dk1"/>
                  </a:solidFill>
                  <a:latin typeface="Calibri"/>
                  <a:ea typeface="Calibri"/>
                  <a:cs typeface="Calibri"/>
                  <a:sym typeface="Calibri"/>
                </a:rPr>
                <a:t>developmental changes that characterize most or all members of a species; typical patterns of development</a:t>
              </a:r>
              <a:endParaRPr sz="2800">
                <a:solidFill>
                  <a:schemeClr val="dk1"/>
                </a:solidFill>
                <a:latin typeface="Calibri"/>
                <a:ea typeface="Calibri"/>
                <a:cs typeface="Calibri"/>
                <a:sym typeface="Calibri"/>
              </a:endParaRPr>
            </a:p>
          </p:txBody>
        </p:sp>
        <p:sp>
          <p:nvSpPr>
            <p:cNvPr id="181" name="Google Shape;181;p8"/>
            <p:cNvSpPr/>
            <p:nvPr/>
          </p:nvSpPr>
          <p:spPr>
            <a:xfrm>
              <a:off x="0" y="2844243"/>
              <a:ext cx="6594475" cy="2091375"/>
            </a:xfrm>
            <a:prstGeom prst="roundRect">
              <a:avLst>
                <a:gd fmla="val 16667" name="adj"/>
              </a:avLst>
            </a:prstGeom>
            <a:gradFill>
              <a:gsLst>
                <a:gs pos="0">
                  <a:srgbClr val="E5B59C"/>
                </a:gs>
                <a:gs pos="50000">
                  <a:srgbClr val="DAAA8F"/>
                </a:gs>
                <a:gs pos="100000">
                  <a:srgbClr val="D99E7A"/>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txBox="1"/>
            <p:nvPr/>
          </p:nvSpPr>
          <p:spPr>
            <a:xfrm>
              <a:off x="102093" y="2946336"/>
              <a:ext cx="6390289" cy="1887189"/>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None/>
              </a:pPr>
              <a:r>
                <a:rPr b="1" lang="en-US" sz="3200">
                  <a:solidFill>
                    <a:schemeClr val="dk1"/>
                  </a:solidFill>
                  <a:latin typeface="Calibri"/>
                  <a:ea typeface="Calibri"/>
                  <a:cs typeface="Calibri"/>
                  <a:sym typeface="Calibri"/>
                </a:rPr>
                <a:t>IDEOGRAPHIC DEVELOPMENT </a:t>
              </a:r>
              <a:r>
                <a:rPr lang="en-US" sz="2800">
                  <a:solidFill>
                    <a:schemeClr val="dk1"/>
                  </a:solidFill>
                  <a:latin typeface="Calibri"/>
                  <a:ea typeface="Calibri"/>
                  <a:cs typeface="Calibri"/>
                  <a:sym typeface="Calibri"/>
                </a:rPr>
                <a:t>individual variations in the rate, extent, or direction of development.</a:t>
              </a:r>
              <a:endParaRPr sz="2400">
                <a:solidFill>
                  <a:schemeClr val="dk1"/>
                </a:solidFill>
                <a:latin typeface="Calibri"/>
                <a:ea typeface="Calibri"/>
                <a:cs typeface="Calibri"/>
                <a:sym typeface="Calibri"/>
              </a:endParaRPr>
            </a:p>
          </p:txBody>
        </p:sp>
      </p:gr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9"/>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9"/>
          <p:cNvSpPr txBox="1"/>
          <p:nvPr>
            <p:ph type="title"/>
          </p:nvPr>
        </p:nvSpPr>
        <p:spPr>
          <a:xfrm>
            <a:off x="785091" y="982271"/>
            <a:ext cx="3620653"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NATURE OF DEVELOPMENT</a:t>
            </a:r>
            <a:endParaRPr sz="4000">
              <a:solidFill>
                <a:srgbClr val="FFFFFF"/>
              </a:solidFill>
            </a:endParaRPr>
          </a:p>
        </p:txBody>
      </p:sp>
      <p:sp>
        <p:nvSpPr>
          <p:cNvPr id="192" name="Google Shape;192;p9"/>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9"/>
          <p:cNvSpPr txBox="1"/>
          <p:nvPr>
            <p:ph idx="1" type="body"/>
          </p:nvPr>
        </p:nvSpPr>
        <p:spPr>
          <a:xfrm>
            <a:off x="5077483" y="1588981"/>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A CONTINUAL AND LIFELONG PROCESS</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A HOLISTIC PROCESS</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PLASTICITY</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HISTORICAL/CULTURAL CONTEXT</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0"/>
          <p:cNvSpPr/>
          <p:nvPr/>
        </p:nvSpPr>
        <p:spPr>
          <a:xfrm>
            <a:off x="3048" y="1084747"/>
            <a:ext cx="12188952" cy="3294207"/>
          </a:xfrm>
          <a:prstGeom prst="rect">
            <a:avLst/>
          </a:prstGeom>
          <a:gradFill>
            <a:gsLst>
              <a:gs pos="0">
                <a:srgbClr val="EE9613"/>
              </a:gs>
              <a:gs pos="25000">
                <a:srgbClr val="EE9613"/>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00" name="Google Shape;200;p10"/>
          <p:cNvPicPr preferRelativeResize="0"/>
          <p:nvPr/>
        </p:nvPicPr>
        <p:blipFill rotWithShape="1">
          <a:blip r:embed="rId3">
            <a:alphaModFix/>
          </a:blip>
          <a:srcRect b="45501" l="8235" r="8213" t="0"/>
          <a:stretch/>
        </p:blipFill>
        <p:spPr>
          <a:xfrm flipH="1" rot="10800000">
            <a:off x="0" y="0"/>
            <a:ext cx="12191999" cy="4473360"/>
          </a:xfrm>
          <a:custGeom>
            <a:rect b="b" l="l" r="r" t="t"/>
            <a:pathLst>
              <a:path extrusionOk="0" h="4473360" w="12191999">
                <a:moveTo>
                  <a:pt x="0" y="4473360"/>
                </a:moveTo>
                <a:lnTo>
                  <a:pt x="12191999" y="4473360"/>
                </a:lnTo>
                <a:lnTo>
                  <a:pt x="12191999" y="0"/>
                </a:lnTo>
                <a:lnTo>
                  <a:pt x="0" y="0"/>
                </a:lnTo>
                <a:close/>
              </a:path>
            </a:pathLst>
          </a:custGeom>
          <a:noFill/>
          <a:ln>
            <a:noFill/>
          </a:ln>
        </p:spPr>
      </p:pic>
      <p:sp>
        <p:nvSpPr>
          <p:cNvPr id="201" name="Google Shape;201;p10"/>
          <p:cNvSpPr txBox="1"/>
          <p:nvPr>
            <p:ph type="ctrTitle"/>
          </p:nvPr>
        </p:nvSpPr>
        <p:spPr>
          <a:xfrm>
            <a:off x="753925" y="2076450"/>
            <a:ext cx="10684151" cy="13451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300"/>
              <a:buFont typeface="Arial Rounded"/>
              <a:buNone/>
            </a:pPr>
            <a:r>
              <a:rPr b="1" lang="en-US" sz="4300">
                <a:solidFill>
                  <a:srgbClr val="FFFFFF"/>
                </a:solidFill>
                <a:latin typeface="Arial Rounded"/>
                <a:ea typeface="Arial Rounded"/>
                <a:cs typeface="Arial Rounded"/>
                <a:sym typeface="Arial Rounded"/>
              </a:rPr>
              <a:t>SCIENTIFIC STUDY OF DEVELOPMENT AND ITS ORIGINS</a:t>
            </a:r>
            <a:endParaRPr b="1" sz="4300">
              <a:solidFill>
                <a:srgbClr val="FF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11"/>
          <p:cNvSpPr/>
          <p:nvPr/>
        </p:nvSpPr>
        <p:spPr>
          <a:xfrm>
            <a:off x="3048" y="4293"/>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1"/>
          <p:cNvSpPr/>
          <p:nvPr/>
        </p:nvSpPr>
        <p:spPr>
          <a:xfrm>
            <a:off x="0" y="-4"/>
            <a:ext cx="4167268" cy="685800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1"/>
          <p:cNvSpPr txBox="1"/>
          <p:nvPr>
            <p:ph type="title"/>
          </p:nvPr>
        </p:nvSpPr>
        <p:spPr>
          <a:xfrm>
            <a:off x="3048" y="591344"/>
            <a:ext cx="3884186" cy="558561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Calibri"/>
              <a:buNone/>
            </a:pPr>
            <a:r>
              <a:rPr b="1" lang="en-US">
                <a:solidFill>
                  <a:srgbClr val="FFFFFF"/>
                </a:solidFill>
              </a:rPr>
              <a:t>EARLY PERSPECTIVES ON CHILDHOOD</a:t>
            </a:r>
            <a:endParaRPr b="1">
              <a:solidFill>
                <a:srgbClr val="FFFFFF"/>
              </a:solidFill>
            </a:endParaRPr>
          </a:p>
        </p:txBody>
      </p:sp>
      <p:sp>
        <p:nvSpPr>
          <p:cNvPr id="209" name="Google Shape;209;p11"/>
          <p:cNvSpPr txBox="1"/>
          <p:nvPr>
            <p:ph idx="1" type="body"/>
          </p:nvPr>
        </p:nvSpPr>
        <p:spPr>
          <a:xfrm>
            <a:off x="4459340" y="458997"/>
            <a:ext cx="6906491" cy="5585619"/>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According to Hermann Ebbinghaus (1908), one of the founders of experimental psychology in the late 19th century, psychology is a scientific discipline with “a long past but short history.” </a:t>
            </a:r>
            <a:endParaRPr/>
          </a:p>
          <a:p>
            <a:pPr indent="-228600" lvl="0" marL="228600" rtl="0" algn="just">
              <a:lnSpc>
                <a:spcPct val="90000"/>
              </a:lnSpc>
              <a:spcBef>
                <a:spcPts val="1000"/>
              </a:spcBef>
              <a:spcAft>
                <a:spcPts val="0"/>
              </a:spcAft>
              <a:buClr>
                <a:schemeClr val="dk1"/>
              </a:buClr>
              <a:buSzPts val="2800"/>
              <a:buChar char="•"/>
            </a:pPr>
            <a:r>
              <a:rPr lang="en-US"/>
              <a:t>With the advent of developmental psychology as an independent field of inquiry in the late 19th century, a new way of approaching these questions was established that relied more on empirical observation than philosophical speculation. </a:t>
            </a:r>
            <a:endParaRPr/>
          </a:p>
          <a:p>
            <a:pPr indent="-76200" lvl="1" marL="685800" rtl="0" algn="just">
              <a:lnSpc>
                <a:spcPct val="90000"/>
              </a:lnSpc>
              <a:spcBef>
                <a:spcPts val="500"/>
              </a:spcBef>
              <a:spcAft>
                <a:spcPts val="0"/>
              </a:spcAft>
              <a:buClr>
                <a:schemeClr val="dk1"/>
              </a:buClr>
              <a:buSzPts val="2400"/>
              <a:buNone/>
            </a:pPr>
            <a:r>
              <a:t/>
            </a:r>
            <a:endParaRPr/>
          </a:p>
        </p:txBody>
      </p:sp>
      <p:sp>
        <p:nvSpPr>
          <p:cNvPr id="210" name="Google Shape;210;p11"/>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12"/>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5400"/>
              <a:buFont typeface="Calibri"/>
              <a:buNone/>
            </a:pPr>
            <a:r>
              <a:rPr b="1" lang="en-US" sz="5400">
                <a:solidFill>
                  <a:srgbClr val="C00000"/>
                </a:solidFill>
              </a:rPr>
              <a:t>THOMAS HOBBES</a:t>
            </a:r>
            <a:endParaRPr b="1" sz="5400">
              <a:solidFill>
                <a:srgbClr val="C00000"/>
              </a:solidFill>
            </a:endParaRPr>
          </a:p>
        </p:txBody>
      </p:sp>
      <p:cxnSp>
        <p:nvCxnSpPr>
          <p:cNvPr id="217" name="Google Shape;217;p12"/>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218" name="Google Shape;218;p12"/>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doctrine of </a:t>
            </a:r>
            <a:r>
              <a:rPr b="1" lang="en-US" sz="3200"/>
              <a:t>original sin </a:t>
            </a:r>
            <a:r>
              <a:rPr lang="en-US" sz="3200"/>
              <a:t>held that children are inherently selfish egoists who must be restrained by society</a:t>
            </a:r>
            <a:endParaRPr sz="3200"/>
          </a:p>
          <a:p>
            <a:pPr indent="0" lvl="0" marL="0" rtl="0" algn="just">
              <a:lnSpc>
                <a:spcPct val="90000"/>
              </a:lnSpc>
              <a:spcBef>
                <a:spcPts val="1000"/>
              </a:spcBef>
              <a:spcAft>
                <a:spcPts val="0"/>
              </a:spcAft>
              <a:buClr>
                <a:schemeClr val="dk1"/>
              </a:buClr>
              <a:buSzPts val="3200"/>
              <a:buNone/>
            </a:pPr>
            <a:r>
              <a:t/>
            </a:r>
            <a:endParaRPr sz="3200"/>
          </a:p>
          <a:p>
            <a:pPr indent="-228600" lvl="0" marL="228600" rtl="0" algn="just">
              <a:lnSpc>
                <a:spcPct val="90000"/>
              </a:lnSpc>
              <a:spcBef>
                <a:spcPts val="1000"/>
              </a:spcBef>
              <a:spcAft>
                <a:spcPts val="0"/>
              </a:spcAft>
              <a:buClr>
                <a:schemeClr val="dk1"/>
              </a:buClr>
              <a:buSzPts val="3200"/>
              <a:buChar char="•"/>
            </a:pPr>
            <a:r>
              <a:rPr lang="en-US" sz="3200"/>
              <a:t>He maintained that children must learn to rechannel their naturally selfish interests into socially acceptable outlets; in this sense, they are passive subjects to be moulded by parents. </a:t>
            </a:r>
            <a:endParaRPr/>
          </a:p>
          <a:p>
            <a:pPr indent="-25400" lvl="0" marL="228600" rtl="0" algn="just">
              <a:lnSpc>
                <a:spcPct val="90000"/>
              </a:lnSpc>
              <a:spcBef>
                <a:spcPts val="1000"/>
              </a:spcBef>
              <a:spcAft>
                <a:spcPts val="0"/>
              </a:spcAft>
              <a:buClr>
                <a:schemeClr val="dk1"/>
              </a:buClr>
              <a:buSzPts val="3200"/>
              <a:buNone/>
            </a:pPr>
            <a:r>
              <a:t/>
            </a:r>
            <a:endParaRPr sz="3200"/>
          </a:p>
        </p:txBody>
      </p:sp>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3"/>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5400"/>
              <a:buFont typeface="Calibri"/>
              <a:buNone/>
            </a:pPr>
            <a:r>
              <a:rPr b="1" lang="en-US" sz="5400">
                <a:solidFill>
                  <a:srgbClr val="C00000"/>
                </a:solidFill>
              </a:rPr>
              <a:t>JEAN JACQUES ROUSSEAU</a:t>
            </a:r>
            <a:endParaRPr b="1" sz="5400">
              <a:solidFill>
                <a:srgbClr val="C00000"/>
              </a:solidFill>
            </a:endParaRPr>
          </a:p>
        </p:txBody>
      </p:sp>
      <p:cxnSp>
        <p:nvCxnSpPr>
          <p:cNvPr id="225" name="Google Shape;225;p13"/>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226" name="Google Shape;226;p13"/>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doctrine of </a:t>
            </a:r>
            <a:r>
              <a:rPr b="1" lang="en-US" sz="3200"/>
              <a:t>innate purity </a:t>
            </a:r>
            <a:r>
              <a:rPr lang="en-US" sz="3200"/>
              <a:t>maintained that children are born with an intuitive sense of right and wrong that society often corrupts. </a:t>
            </a:r>
            <a:endParaRPr/>
          </a:p>
          <a:p>
            <a:pPr indent="-228600" lvl="0" marL="228600" rtl="0" algn="just">
              <a:lnSpc>
                <a:spcPct val="90000"/>
              </a:lnSpc>
              <a:spcBef>
                <a:spcPts val="1000"/>
              </a:spcBef>
              <a:spcAft>
                <a:spcPts val="0"/>
              </a:spcAft>
              <a:buClr>
                <a:schemeClr val="dk1"/>
              </a:buClr>
              <a:buSzPts val="3200"/>
              <a:buChar char="•"/>
            </a:pPr>
            <a:r>
              <a:rPr lang="en-US" sz="3200"/>
              <a:t>Children are actively involved in the shaping of their own intellects and personalities. The child is not a “passive recipient of the tutor’s instruction” but a “busy, testing, motivated explorer. The active searching child, setting his own problems, stands in marked contrast to the receptive one . . . on whom society fixes its stamp”</a:t>
            </a:r>
            <a:endParaRPr sz="3200"/>
          </a:p>
        </p:txBody>
      </p:sp>
    </p:spTree>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4"/>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5400"/>
              <a:buFont typeface="Calibri"/>
              <a:buNone/>
            </a:pPr>
            <a:r>
              <a:rPr b="1" lang="en-US" sz="5400">
                <a:solidFill>
                  <a:srgbClr val="C00000"/>
                </a:solidFill>
              </a:rPr>
              <a:t>JOHN LOCKE</a:t>
            </a:r>
            <a:endParaRPr b="1" sz="5400">
              <a:solidFill>
                <a:srgbClr val="C00000"/>
              </a:solidFill>
            </a:endParaRPr>
          </a:p>
        </p:txBody>
      </p:sp>
      <p:cxnSp>
        <p:nvCxnSpPr>
          <p:cNvPr id="233" name="Google Shape;233;p14"/>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234" name="Google Shape;234;p14"/>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believed that the mind of an infant is a </a:t>
            </a:r>
            <a:r>
              <a:rPr b="1" lang="en-US" sz="3200"/>
              <a:t>tabula rasa</a:t>
            </a:r>
            <a:r>
              <a:rPr lang="en-US" sz="3200"/>
              <a:t>, or “blank slate,” and that children have no inborn tendencies. In other words, children are neither inherently good nor inherently bad, and how they turn out depends entirely on their worldly experiences. </a:t>
            </a:r>
            <a:endParaRPr sz="3200"/>
          </a:p>
          <a:p>
            <a:pPr indent="-228600" lvl="0" marL="228600" rtl="0" algn="just">
              <a:lnSpc>
                <a:spcPct val="90000"/>
              </a:lnSpc>
              <a:spcBef>
                <a:spcPts val="1000"/>
              </a:spcBef>
              <a:spcAft>
                <a:spcPts val="0"/>
              </a:spcAft>
              <a:buClr>
                <a:schemeClr val="dk1"/>
              </a:buClr>
              <a:buSzPts val="3200"/>
              <a:buChar char="•"/>
            </a:pPr>
            <a:r>
              <a:rPr lang="en-US" sz="3200"/>
              <a:t>He believed that the child’s role is passive because the mind of an infant is a blank slate on which experience writes its lessons. </a:t>
            </a:r>
            <a:endParaRPr/>
          </a:p>
        </p:txBody>
      </p:sp>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0" name="Google Shape;24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1" name="Google Shape;241;p15"/>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Children as Subjects of Study: Baby Biographies and Diaries</a:t>
            </a:r>
            <a:endParaRPr b="1">
              <a:solidFill>
                <a:schemeClr val="lt1"/>
              </a:solidFill>
            </a:endParaRPr>
          </a:p>
        </p:txBody>
      </p:sp>
      <p:sp>
        <p:nvSpPr>
          <p:cNvPr id="242" name="Google Shape;242;p15"/>
          <p:cNvSpPr txBox="1"/>
          <p:nvPr>
            <p:ph idx="1" type="body"/>
          </p:nvPr>
        </p:nvSpPr>
        <p:spPr>
          <a:xfrm>
            <a:off x="5859379" y="1"/>
            <a:ext cx="5537279" cy="6593304"/>
          </a:xfrm>
          <a:prstGeom prst="rect">
            <a:avLst/>
          </a:prstGeom>
          <a:noFill/>
          <a:ln>
            <a:noFill/>
          </a:ln>
        </p:spPr>
        <p:txBody>
          <a:bodyPr anchorCtr="0" anchor="ctr"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400"/>
              <a:buChar char="•"/>
            </a:pPr>
            <a:r>
              <a:rPr lang="en-US" sz="2400"/>
              <a:t>An early and influential baby biographer was </a:t>
            </a:r>
            <a:r>
              <a:rPr b="1" lang="en-US" sz="2400"/>
              <a:t>Charles Darwin</a:t>
            </a:r>
            <a:r>
              <a:rPr lang="en-US" sz="2400"/>
              <a:t>, who made daily records of the early development of his son (Darwin, 1877; and see Charlesworth, 1992). Darwin’s curiosity about child development stemmed from his theory of evolution. </a:t>
            </a:r>
            <a:endParaRPr sz="2400"/>
          </a:p>
          <a:p>
            <a:pPr indent="-228600" lvl="0" marL="228600" rtl="0" algn="just">
              <a:lnSpc>
                <a:spcPct val="90000"/>
              </a:lnSpc>
              <a:spcBef>
                <a:spcPts val="1000"/>
              </a:spcBef>
              <a:spcAft>
                <a:spcPts val="0"/>
              </a:spcAft>
              <a:buClr>
                <a:schemeClr val="dk1"/>
              </a:buClr>
              <a:buSzPts val="2400"/>
              <a:buChar char="•"/>
            </a:pPr>
            <a:r>
              <a:rPr lang="en-US" sz="2400"/>
              <a:t>He believed that young, untrained infants share many characteristics with their nonhuman ancestors, and he advanced the (now discredited) idea that the development of the individual child retraces the entire evolutionary history of the species, thereby illustrating the “descent of man.” </a:t>
            </a:r>
            <a:endParaRPr sz="2400"/>
          </a:p>
          <a:p>
            <a:pPr indent="-228600" lvl="0" marL="228600" rtl="0" algn="just">
              <a:lnSpc>
                <a:spcPct val="90000"/>
              </a:lnSpc>
              <a:spcBef>
                <a:spcPts val="1000"/>
              </a:spcBef>
              <a:spcAft>
                <a:spcPts val="0"/>
              </a:spcAft>
              <a:buClr>
                <a:schemeClr val="dk1"/>
              </a:buClr>
              <a:buSzPts val="2400"/>
              <a:buChar char="•"/>
            </a:pPr>
            <a:r>
              <a:rPr lang="en-US" sz="2400"/>
              <a:t>So Darwin and many of his contemporaries viewed the baby biography as a means of answering questions about our evolutionary past. </a:t>
            </a:r>
            <a:endParaRPr/>
          </a:p>
        </p:txBody>
      </p:sp>
    </p:spTree>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6"/>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8" name="Google Shape;248;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9" name="Google Shape;249;p16"/>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Children as Subjects of Study: Baby Biographies and Diaries</a:t>
            </a:r>
            <a:endParaRPr b="1">
              <a:solidFill>
                <a:schemeClr val="lt1"/>
              </a:solidFill>
            </a:endParaRPr>
          </a:p>
        </p:txBody>
      </p:sp>
      <p:sp>
        <p:nvSpPr>
          <p:cNvPr id="250" name="Google Shape;250;p16"/>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A few decades after </a:t>
            </a:r>
            <a:r>
              <a:rPr b="1" lang="en-US" sz="2400"/>
              <a:t>Clara and William Stern </a:t>
            </a:r>
            <a:r>
              <a:rPr lang="en-US" sz="2400"/>
              <a:t>kept one of the first systematic diaries on the psychological development of their three children, Hilde, Günther, and Eva, born in 1900, 1902, and 1904, respectively. A major publication based on these diaries was Clara and William Stern’s book Die Kindersprache [Children’s talk], which became a classic in the language acquisition literature (Stern &amp; Stern, 1907). </a:t>
            </a:r>
            <a:endParaRPr/>
          </a:p>
        </p:txBody>
      </p: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6" name="Google Shape;256;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7" name="Google Shape;257;p17"/>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Children as Subjects of Study: Baby Biographies and Diaries</a:t>
            </a:r>
            <a:endParaRPr b="1">
              <a:solidFill>
                <a:schemeClr val="lt1"/>
              </a:solidFill>
            </a:endParaRPr>
          </a:p>
        </p:txBody>
      </p:sp>
      <p:sp>
        <p:nvSpPr>
          <p:cNvPr id="258" name="Google Shape;258;p17"/>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Two to three decades later, </a:t>
            </a:r>
            <a:r>
              <a:rPr b="1" lang="en-US" sz="2400"/>
              <a:t>Jean Piaget</a:t>
            </a:r>
            <a:r>
              <a:rPr lang="en-US" sz="2400"/>
              <a:t>, a famous Swiss psychologist, observed and recorded the development of his three children, Jacqueline, Lucienne, and Laurent. He used these observations to develop more fine-grained methods for studying the development of logical thinking in children. His theories revolutionized our understanding of children’s cognitive development.</a:t>
            </a:r>
            <a:endParaRPr/>
          </a:p>
        </p:txBody>
      </p:sp>
    </p:spTree>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8"/>
          <p:cNvSpPr/>
          <p:nvPr/>
        </p:nvSpPr>
        <p:spPr>
          <a:xfrm>
            <a:off x="-1" y="0"/>
            <a:ext cx="12191695" cy="6858000"/>
          </a:xfrm>
          <a:prstGeom prst="rect">
            <a:avLst/>
          </a:prstGeom>
          <a:gradFill>
            <a:gsLst>
              <a:gs pos="0">
                <a:srgbClr val="FFFAF2"/>
              </a:gs>
              <a:gs pos="74000">
                <a:srgbClr val="F8D49F"/>
              </a:gs>
              <a:gs pos="83000">
                <a:srgbClr val="F8D49F"/>
              </a:gs>
              <a:gs pos="100000">
                <a:srgbClr val="FBE3BF"/>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18"/>
          <p:cNvSpPr/>
          <p:nvPr/>
        </p:nvSpPr>
        <p:spPr>
          <a:xfrm>
            <a:off x="0" y="891540"/>
            <a:ext cx="722376" cy="5071110"/>
          </a:xfrm>
          <a:prstGeom prst="rect">
            <a:avLst/>
          </a:prstGeom>
          <a:solidFill>
            <a:srgbClr val="4C52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18"/>
          <p:cNvSpPr/>
          <p:nvPr/>
        </p:nvSpPr>
        <p:spPr>
          <a:xfrm>
            <a:off x="1202435" y="891540"/>
            <a:ext cx="10989565" cy="5071110"/>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8"/>
          <p:cNvSpPr txBox="1"/>
          <p:nvPr>
            <p:ph type="ctrTitle"/>
          </p:nvPr>
        </p:nvSpPr>
        <p:spPr>
          <a:xfrm>
            <a:off x="1366160" y="1660121"/>
            <a:ext cx="9623404" cy="330549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Arial Black"/>
              <a:buNone/>
            </a:pPr>
            <a:r>
              <a:rPr lang="en-US" sz="5500">
                <a:latin typeface="Arial Black"/>
                <a:ea typeface="Arial Black"/>
                <a:cs typeface="Arial Black"/>
                <a:sym typeface="Arial Black"/>
              </a:rPr>
              <a:t>I. RESEARCH METHODS IN DEVELOPMENTAL PSYCHOLOGY</a:t>
            </a:r>
            <a:endParaRPr sz="5500">
              <a:latin typeface="Arial Black"/>
              <a:ea typeface="Arial Black"/>
              <a:cs typeface="Arial Black"/>
              <a:sym typeface="Arial Black"/>
            </a:endParaRPr>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9"/>
          <p:cNvSpPr/>
          <p:nvPr/>
        </p:nvSpPr>
        <p:spPr>
          <a:xfrm>
            <a:off x="321564" y="320040"/>
            <a:ext cx="11548872" cy="6217920"/>
          </a:xfrm>
          <a:prstGeom prst="rect">
            <a:avLst/>
          </a:prstGeom>
          <a:solidFill>
            <a:schemeClr val="dk1">
              <a:alpha val="13725"/>
            </a:schemeClr>
          </a:solidFill>
          <a:ln cap="sq" cmpd="thinThick" w="127000">
            <a:solidFill>
              <a:srgbClr val="262626">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19"/>
          <p:cNvSpPr txBox="1"/>
          <p:nvPr>
            <p:ph idx="1" type="body"/>
          </p:nvPr>
        </p:nvSpPr>
        <p:spPr>
          <a:xfrm>
            <a:off x="669757" y="517357"/>
            <a:ext cx="10916653" cy="416877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b="1" lang="en-US">
                <a:latin typeface="Arial Rounded"/>
                <a:ea typeface="Arial Rounded"/>
                <a:cs typeface="Arial Rounded"/>
                <a:sym typeface="Arial Rounded"/>
              </a:rPr>
              <a:t>scientific method the use of objective and replicable methods to gather data for the purpose of testing a theory or hypothesis. It dictates that, above all, investigators must be objective and must allow their data to decide the merits of their thinking</a:t>
            </a:r>
            <a:endParaRPr b="1">
              <a:latin typeface="Arial Rounded"/>
              <a:ea typeface="Arial Rounded"/>
              <a:cs typeface="Arial Rounded"/>
              <a:sym typeface="Arial Rounded"/>
            </a:endParaRPr>
          </a:p>
          <a:p>
            <a:pPr indent="0" lvl="0" marL="0" rtl="0" algn="just">
              <a:lnSpc>
                <a:spcPct val="90000"/>
              </a:lnSpc>
              <a:spcBef>
                <a:spcPts val="1000"/>
              </a:spcBef>
              <a:spcAft>
                <a:spcPts val="0"/>
              </a:spcAft>
              <a:buClr>
                <a:schemeClr val="dk1"/>
              </a:buClr>
              <a:buSzPts val="2800"/>
              <a:buNone/>
            </a:pPr>
            <a:r>
              <a:t/>
            </a:r>
            <a:endParaRPr b="1">
              <a:latin typeface="Arial Rounded"/>
              <a:ea typeface="Arial Rounded"/>
              <a:cs typeface="Arial Rounded"/>
              <a:sym typeface="Arial Rounded"/>
            </a:endParaRPr>
          </a:p>
          <a:p>
            <a:pPr indent="0" lvl="0" marL="0" rtl="0" algn="just">
              <a:lnSpc>
                <a:spcPct val="90000"/>
              </a:lnSpc>
              <a:spcBef>
                <a:spcPts val="1000"/>
              </a:spcBef>
              <a:spcAft>
                <a:spcPts val="0"/>
              </a:spcAft>
              <a:buClr>
                <a:schemeClr val="dk1"/>
              </a:buClr>
              <a:buSzPts val="2800"/>
              <a:buNone/>
            </a:pPr>
            <a:r>
              <a:rPr b="1" lang="en-US">
                <a:latin typeface="Arial Rounded"/>
                <a:ea typeface="Arial Rounded"/>
                <a:cs typeface="Arial Rounded"/>
                <a:sym typeface="Arial Rounded"/>
              </a:rPr>
              <a:t>theory a set of concepts and propositions designed to organize, describe, and explain an existing set of observations.</a:t>
            </a:r>
            <a:endParaRPr b="1">
              <a:latin typeface="Arial Rounded"/>
              <a:ea typeface="Arial Rounded"/>
              <a:cs typeface="Arial Rounded"/>
              <a:sym typeface="Arial Rounded"/>
            </a:endParaRPr>
          </a:p>
          <a:p>
            <a:pPr indent="0" lvl="0" marL="0" rtl="0" algn="just">
              <a:lnSpc>
                <a:spcPct val="90000"/>
              </a:lnSpc>
              <a:spcBef>
                <a:spcPts val="1000"/>
              </a:spcBef>
              <a:spcAft>
                <a:spcPts val="0"/>
              </a:spcAft>
              <a:buClr>
                <a:schemeClr val="dk1"/>
              </a:buClr>
              <a:buSzPts val="2800"/>
              <a:buNone/>
            </a:pPr>
            <a:r>
              <a:t/>
            </a:r>
            <a:endParaRPr b="1">
              <a:latin typeface="Arial Rounded"/>
              <a:ea typeface="Arial Rounded"/>
              <a:cs typeface="Arial Rounded"/>
              <a:sym typeface="Arial Rounded"/>
            </a:endParaRPr>
          </a:p>
          <a:p>
            <a:pPr indent="0" lvl="0" marL="0" rtl="0" algn="just">
              <a:lnSpc>
                <a:spcPct val="90000"/>
              </a:lnSpc>
              <a:spcBef>
                <a:spcPts val="1000"/>
              </a:spcBef>
              <a:spcAft>
                <a:spcPts val="0"/>
              </a:spcAft>
              <a:buClr>
                <a:schemeClr val="dk1"/>
              </a:buClr>
              <a:buSzPts val="2800"/>
              <a:buNone/>
            </a:pPr>
            <a:r>
              <a:rPr b="1" lang="en-US">
                <a:latin typeface="Arial Rounded"/>
                <a:ea typeface="Arial Rounded"/>
                <a:cs typeface="Arial Rounded"/>
                <a:sym typeface="Arial Rounded"/>
              </a:rPr>
              <a:t>hypothesis a theoretical prediction about some aspect of experience</a:t>
            </a:r>
            <a:endParaRPr b="1">
              <a:latin typeface="Arial Rounded"/>
              <a:ea typeface="Arial Rounded"/>
              <a:cs typeface="Arial Rounded"/>
              <a:sym typeface="Arial Rounded"/>
            </a:endParaRPr>
          </a:p>
        </p:txBody>
      </p:sp>
    </p:spTree>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0"/>
          <p:cNvSpPr/>
          <p:nvPr/>
        </p:nvSpPr>
        <p:spPr>
          <a:xfrm>
            <a:off x="327547" y="321731"/>
            <a:ext cx="4142096" cy="6213425"/>
          </a:xfrm>
          <a:prstGeom prst="rect">
            <a:avLst/>
          </a:pr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20"/>
          <p:cNvSpPr txBox="1"/>
          <p:nvPr>
            <p:ph type="title"/>
          </p:nvPr>
        </p:nvSpPr>
        <p:spPr>
          <a:xfrm>
            <a:off x="524256" y="583616"/>
            <a:ext cx="3722141" cy="552057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BASIC FACT FINDING STRATEGIES</a:t>
            </a:r>
            <a:endParaRPr>
              <a:solidFill>
                <a:srgbClr val="FFFFFF"/>
              </a:solidFill>
            </a:endParaRPr>
          </a:p>
        </p:txBody>
      </p:sp>
      <p:sp>
        <p:nvSpPr>
          <p:cNvPr id="279" name="Google Shape;279;p20"/>
          <p:cNvSpPr/>
          <p:nvPr/>
        </p:nvSpPr>
        <p:spPr>
          <a:xfrm>
            <a:off x="4629503" y="321732"/>
            <a:ext cx="7240765" cy="6214534"/>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80" name="Google Shape;280;p20"/>
          <p:cNvGrpSpPr/>
          <p:nvPr/>
        </p:nvGrpSpPr>
        <p:grpSpPr>
          <a:xfrm>
            <a:off x="4933950" y="584927"/>
            <a:ext cx="6594475" cy="5519010"/>
            <a:chOff x="0" y="727"/>
            <a:chExt cx="6594475" cy="5519010"/>
          </a:xfrm>
        </p:grpSpPr>
        <p:sp>
          <p:nvSpPr>
            <p:cNvPr id="281" name="Google Shape;281;p20"/>
            <p:cNvSpPr/>
            <p:nvPr/>
          </p:nvSpPr>
          <p:spPr>
            <a:xfrm>
              <a:off x="0" y="727"/>
              <a:ext cx="6594475" cy="2720935"/>
            </a:xfrm>
            <a:prstGeom prst="roundRect">
              <a:avLst>
                <a:gd fmla="val 16667" name="adj"/>
              </a:avLst>
            </a:prstGeom>
            <a:solidFill>
              <a:srgbClr val="A1957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txBox="1"/>
            <p:nvPr/>
          </p:nvSpPr>
          <p:spPr>
            <a:xfrm>
              <a:off x="132825" y="133552"/>
              <a:ext cx="6328825" cy="2455285"/>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None/>
              </a:pPr>
              <a:r>
                <a:rPr b="1" lang="en-US" sz="4000" u="sng">
                  <a:solidFill>
                    <a:schemeClr val="lt1"/>
                  </a:solidFill>
                  <a:latin typeface="Calibri"/>
                  <a:ea typeface="Calibri"/>
                  <a:cs typeface="Calibri"/>
                  <a:sym typeface="Calibri"/>
                </a:rPr>
                <a:t>Validity</a:t>
              </a:r>
              <a:endParaRPr/>
            </a:p>
            <a:p>
              <a:pPr indent="0" lvl="0" marL="0" marR="0" rtl="0" algn="ctr">
                <a:lnSpc>
                  <a:spcPct val="90000"/>
                </a:lnSpc>
                <a:spcBef>
                  <a:spcPts val="1400"/>
                </a:spcBef>
                <a:spcAft>
                  <a:spcPts val="0"/>
                </a:spcAft>
                <a:buNone/>
              </a:pPr>
              <a:r>
                <a:rPr b="1" lang="en-US" sz="2800">
                  <a:solidFill>
                    <a:schemeClr val="lt1"/>
                  </a:solidFill>
                  <a:latin typeface="Calibri"/>
                  <a:ea typeface="Calibri"/>
                  <a:cs typeface="Calibri"/>
                  <a:sym typeface="Calibri"/>
                </a:rPr>
                <a:t>the extent to which a measuring instrument accurately reflects what the researchers intended to measure is supposed to measure</a:t>
              </a:r>
              <a:endParaRPr sz="3600">
                <a:solidFill>
                  <a:schemeClr val="lt1"/>
                </a:solidFill>
                <a:latin typeface="Calibri"/>
                <a:ea typeface="Calibri"/>
                <a:cs typeface="Calibri"/>
                <a:sym typeface="Calibri"/>
              </a:endParaRPr>
            </a:p>
          </p:txBody>
        </p:sp>
        <p:sp>
          <p:nvSpPr>
            <p:cNvPr id="283" name="Google Shape;283;p20"/>
            <p:cNvSpPr/>
            <p:nvPr/>
          </p:nvSpPr>
          <p:spPr>
            <a:xfrm>
              <a:off x="0" y="2721662"/>
              <a:ext cx="6594475" cy="764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
            <p:cNvSpPr txBox="1"/>
            <p:nvPr/>
          </p:nvSpPr>
          <p:spPr>
            <a:xfrm>
              <a:off x="0" y="2721662"/>
              <a:ext cx="6594475" cy="76412"/>
            </a:xfrm>
            <a:prstGeom prst="rect">
              <a:avLst/>
            </a:prstGeom>
            <a:noFill/>
            <a:ln>
              <a:noFill/>
            </a:ln>
          </p:spPr>
          <p:txBody>
            <a:bodyPr anchorCtr="0" anchor="t" bIns="6350" lIns="209375" spcFirstLastPara="1" rIns="35550" wrap="square" tIns="6350">
              <a:noAutofit/>
            </a:bodyPr>
            <a:lstStyle/>
            <a:p>
              <a:pPr indent="-31750" lvl="1" marL="57150" marR="0" rtl="0" algn="l">
                <a:lnSpc>
                  <a:spcPct val="90000"/>
                </a:lnSpc>
                <a:spcBef>
                  <a:spcPts val="0"/>
                </a:spcBef>
                <a:spcAft>
                  <a:spcPts val="0"/>
                </a:spcAft>
                <a:buClr>
                  <a:schemeClr val="dk1"/>
                </a:buClr>
                <a:buSzPts val="400"/>
                <a:buFont typeface="Calibri"/>
                <a:buNone/>
              </a:pPr>
              <a:r>
                <a:t/>
              </a:r>
              <a:endParaRPr b="0" i="0" sz="400" u="none" cap="none" strike="noStrike">
                <a:solidFill>
                  <a:schemeClr val="dk1"/>
                </a:solidFill>
                <a:latin typeface="Calibri"/>
                <a:ea typeface="Calibri"/>
                <a:cs typeface="Calibri"/>
                <a:sym typeface="Calibri"/>
              </a:endParaRPr>
            </a:p>
          </p:txBody>
        </p:sp>
        <p:sp>
          <p:nvSpPr>
            <p:cNvPr id="285" name="Google Shape;285;p20"/>
            <p:cNvSpPr/>
            <p:nvPr/>
          </p:nvSpPr>
          <p:spPr>
            <a:xfrm>
              <a:off x="0" y="2798802"/>
              <a:ext cx="6594475" cy="2720935"/>
            </a:xfrm>
            <a:prstGeom prst="roundRect">
              <a:avLst>
                <a:gd fmla="val 16667" name="adj"/>
              </a:avLst>
            </a:prstGeom>
            <a:solidFill>
              <a:srgbClr val="BF742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txBox="1"/>
            <p:nvPr/>
          </p:nvSpPr>
          <p:spPr>
            <a:xfrm>
              <a:off x="132825" y="2931627"/>
              <a:ext cx="6328825" cy="2455285"/>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None/>
              </a:pPr>
              <a:r>
                <a:rPr b="1" lang="en-US" sz="4000" u="sng">
                  <a:solidFill>
                    <a:schemeClr val="lt1"/>
                  </a:solidFill>
                  <a:latin typeface="Calibri"/>
                  <a:ea typeface="Calibri"/>
                  <a:cs typeface="Calibri"/>
                  <a:sym typeface="Calibri"/>
                </a:rPr>
                <a:t>Reliability</a:t>
              </a:r>
              <a:endParaRPr/>
            </a:p>
            <a:p>
              <a:pPr indent="0" lvl="0" marL="0" marR="0" rtl="0" algn="ctr">
                <a:lnSpc>
                  <a:spcPct val="90000"/>
                </a:lnSpc>
                <a:spcBef>
                  <a:spcPts val="1400"/>
                </a:spcBef>
                <a:spcAft>
                  <a:spcPts val="0"/>
                </a:spcAft>
                <a:buNone/>
              </a:pPr>
              <a:r>
                <a:rPr b="1" lang="en-US" sz="2800" u="none">
                  <a:solidFill>
                    <a:schemeClr val="lt1"/>
                  </a:solidFill>
                  <a:latin typeface="Calibri"/>
                  <a:ea typeface="Calibri"/>
                  <a:cs typeface="Calibri"/>
                  <a:sym typeface="Calibri"/>
                </a:rPr>
                <a:t>the extent to which a measuring </a:t>
              </a:r>
              <a:endParaRPr b="1" sz="2800" u="none">
                <a:solidFill>
                  <a:schemeClr val="lt1"/>
                </a:solidFill>
                <a:latin typeface="Calibri"/>
                <a:ea typeface="Calibri"/>
                <a:cs typeface="Calibri"/>
                <a:sym typeface="Calibri"/>
              </a:endParaRPr>
            </a:p>
            <a:p>
              <a:pPr indent="0" lvl="0" marL="0" marR="0" rtl="0" algn="ctr">
                <a:lnSpc>
                  <a:spcPct val="90000"/>
                </a:lnSpc>
                <a:spcBef>
                  <a:spcPts val="980"/>
                </a:spcBef>
                <a:spcAft>
                  <a:spcPts val="0"/>
                </a:spcAft>
                <a:buNone/>
              </a:pPr>
              <a:r>
                <a:rPr b="1" lang="en-US" sz="2800" u="none">
                  <a:solidFill>
                    <a:schemeClr val="lt1"/>
                  </a:solidFill>
                  <a:latin typeface="Calibri"/>
                  <a:ea typeface="Calibri"/>
                  <a:cs typeface="Calibri"/>
                  <a:sym typeface="Calibri"/>
                </a:rPr>
                <a:t>instrument yields consistent results, </a:t>
              </a:r>
              <a:endParaRPr/>
            </a:p>
            <a:p>
              <a:pPr indent="0" lvl="0" marL="0" marR="0" rtl="0" algn="ctr">
                <a:lnSpc>
                  <a:spcPct val="90000"/>
                </a:lnSpc>
                <a:spcBef>
                  <a:spcPts val="980"/>
                </a:spcBef>
                <a:spcAft>
                  <a:spcPts val="0"/>
                </a:spcAft>
                <a:buNone/>
              </a:pPr>
              <a:r>
                <a:rPr b="1" lang="en-US" sz="2800" u="none">
                  <a:solidFill>
                    <a:schemeClr val="lt1"/>
                  </a:solidFill>
                  <a:latin typeface="Calibri"/>
                  <a:ea typeface="Calibri"/>
                  <a:cs typeface="Calibri"/>
                  <a:sym typeface="Calibri"/>
                </a:rPr>
                <a:t>both over time and across observers.</a:t>
              </a:r>
              <a:endParaRPr b="1" sz="2400" u="none">
                <a:solidFill>
                  <a:schemeClr val="lt1"/>
                </a:solidFill>
                <a:latin typeface="Calibri"/>
                <a:ea typeface="Calibri"/>
                <a:cs typeface="Calibri"/>
                <a:sym typeface="Calibri"/>
              </a:endParaRPr>
            </a:p>
          </p:txBody>
        </p:sp>
      </p:grpSp>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21"/>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21"/>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21"/>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21"/>
          <p:cNvSpPr txBox="1"/>
          <p:nvPr>
            <p:ph type="title"/>
          </p:nvPr>
        </p:nvSpPr>
        <p:spPr>
          <a:xfrm>
            <a:off x="785091" y="982271"/>
            <a:ext cx="3620653"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b="1" lang="en-US" sz="4000">
                <a:solidFill>
                  <a:srgbClr val="FFFFFF"/>
                </a:solidFill>
              </a:rPr>
              <a:t>Methods of Data Collection</a:t>
            </a:r>
            <a:endParaRPr b="1" sz="4000">
              <a:solidFill>
                <a:srgbClr val="FFFFFF"/>
              </a:solidFill>
            </a:endParaRPr>
          </a:p>
        </p:txBody>
      </p:sp>
      <p:sp>
        <p:nvSpPr>
          <p:cNvPr id="296" name="Google Shape;296;p21"/>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21"/>
          <p:cNvSpPr txBox="1"/>
          <p:nvPr>
            <p:ph idx="1" type="body"/>
          </p:nvPr>
        </p:nvSpPr>
        <p:spPr>
          <a:xfrm>
            <a:off x="5077483" y="1588981"/>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Self Report Methods</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Observational Methods</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Case Studies</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Ethnography</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Psychophysiological Methods</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303" name="Google Shape;303;p22"/>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5400"/>
              <a:buFont typeface="Calibri"/>
              <a:buNone/>
            </a:pPr>
            <a:r>
              <a:rPr b="1" lang="en-US" sz="5400">
                <a:solidFill>
                  <a:srgbClr val="C00000"/>
                </a:solidFill>
              </a:rPr>
              <a:t>SELF REPORT METHODS</a:t>
            </a:r>
            <a:endParaRPr b="1" sz="5400">
              <a:solidFill>
                <a:srgbClr val="C00000"/>
              </a:solidFill>
            </a:endParaRPr>
          </a:p>
        </p:txBody>
      </p:sp>
      <p:cxnSp>
        <p:nvCxnSpPr>
          <p:cNvPr id="304" name="Google Shape;304;p22"/>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05" name="Google Shape;305;p22"/>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structured interview or structured questionnaire a technique in which all participants are asked the same questions in precisely the same order so that the responses of different participants can be compared.</a:t>
            </a:r>
            <a:endParaRPr/>
          </a:p>
          <a:p>
            <a:pPr indent="-228600" lvl="0" marL="228600" rtl="0" algn="just">
              <a:lnSpc>
                <a:spcPct val="90000"/>
              </a:lnSpc>
              <a:spcBef>
                <a:spcPts val="1000"/>
              </a:spcBef>
              <a:spcAft>
                <a:spcPts val="0"/>
              </a:spcAft>
              <a:buClr>
                <a:schemeClr val="dk1"/>
              </a:buClr>
              <a:buSzPts val="2800"/>
              <a:buChar char="•"/>
            </a:pPr>
            <a:r>
              <a:rPr lang="en-US"/>
              <a:t>Clinical method presents the research participant with a task or stimulus of some sort and then inviting a response. After the participant responds, the investigator typically asks a second question or introduces a new task to clarify the participant’s original answer. Although participants are often asked the same questions initially, each participant’s answer determines what he or she is asked next. </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3"/>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23"/>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400"/>
              <a:buFont typeface="Calibri"/>
              <a:buNone/>
            </a:pPr>
            <a:r>
              <a:rPr b="1" lang="en-US">
                <a:solidFill>
                  <a:srgbClr val="C00000"/>
                </a:solidFill>
              </a:rPr>
              <a:t>OBSERVATIONAL METHOD</a:t>
            </a:r>
            <a:endParaRPr b="1">
              <a:solidFill>
                <a:srgbClr val="C00000"/>
              </a:solidFill>
            </a:endParaRPr>
          </a:p>
        </p:txBody>
      </p:sp>
      <p:cxnSp>
        <p:nvCxnSpPr>
          <p:cNvPr id="312" name="Google Shape;312;p23"/>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13" name="Google Shape;313;p23"/>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takes place in either a laboratory (</a:t>
            </a:r>
            <a:r>
              <a:rPr b="1" lang="en-US" sz="3200"/>
              <a:t>laboratory observation</a:t>
            </a:r>
            <a:r>
              <a:rPr lang="en-US" sz="3200"/>
              <a:t>) or a natural setting (</a:t>
            </a:r>
            <a:r>
              <a:rPr b="1" lang="en-US" sz="3200"/>
              <a:t>naturalistic observation</a:t>
            </a:r>
            <a:r>
              <a:rPr lang="en-US" sz="3200"/>
              <a:t>). In either research method, observers record participants’ behavior within an environment. Observational research reduces the possibility of subjects giving misleading accounts of their experiences, not taking the study seriously, being unable to remember details, or feeling too embarrassed to disclose everything that happened</a:t>
            </a:r>
            <a:endParaRPr sz="3200"/>
          </a:p>
        </p:txBody>
      </p:sp>
    </p:spTree>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24"/>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CASE STUDIES</a:t>
            </a:r>
            <a:endParaRPr b="1" sz="4800">
              <a:solidFill>
                <a:srgbClr val="C00000"/>
              </a:solidFill>
            </a:endParaRPr>
          </a:p>
        </p:txBody>
      </p:sp>
      <p:cxnSp>
        <p:nvCxnSpPr>
          <p:cNvPr id="320" name="Google Shape;320;p24"/>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21" name="Google Shape;321;p24"/>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research method in which the investigator gathers extensive information about the life of an individual and then tests developmental hypotheses by analyzing the events of the person’s life history.</a:t>
            </a:r>
            <a:endParaRPr sz="3200"/>
          </a:p>
        </p:txBody>
      </p: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25"/>
          <p:cNvSpPr txBox="1"/>
          <p:nvPr>
            <p:ph type="title"/>
          </p:nvPr>
        </p:nvSpPr>
        <p:spPr>
          <a:xfrm>
            <a:off x="321564" y="963877"/>
            <a:ext cx="4010998"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ETHNOGRAPHY</a:t>
            </a:r>
            <a:endParaRPr b="1" sz="4800">
              <a:solidFill>
                <a:srgbClr val="C00000"/>
              </a:solidFill>
            </a:endParaRPr>
          </a:p>
        </p:txBody>
      </p:sp>
      <p:cxnSp>
        <p:nvCxnSpPr>
          <p:cNvPr id="328" name="Google Shape;328;p25"/>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29" name="Google Shape;329;p25"/>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method in which the researcher seeks to understand the unique values, traditions, and social processes of a culture or subculture by living with its members and making extensive observations and notes</a:t>
            </a:r>
            <a:endParaRPr sz="3200"/>
          </a:p>
        </p:txBody>
      </p:sp>
    </p:spTree>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6"/>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26"/>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PSYCHO-PHYSIOLOGICAL METHODS</a:t>
            </a:r>
            <a:endParaRPr b="1" sz="4800">
              <a:solidFill>
                <a:srgbClr val="C00000"/>
              </a:solidFill>
            </a:endParaRPr>
          </a:p>
        </p:txBody>
      </p:sp>
      <p:cxnSp>
        <p:nvCxnSpPr>
          <p:cNvPr id="336" name="Google Shape;336;p26"/>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37" name="Google Shape;337;p26"/>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methods that measure the relationships between physiological processes and aspects of children’s physical, cognitive, social, or emotional behaviour/development.</a:t>
            </a:r>
            <a:endParaRPr sz="3200"/>
          </a:p>
        </p:txBody>
      </p:sp>
    </p:spTree>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27"/>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27"/>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7"/>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27"/>
          <p:cNvSpPr txBox="1"/>
          <p:nvPr>
            <p:ph type="title"/>
          </p:nvPr>
        </p:nvSpPr>
        <p:spPr>
          <a:xfrm>
            <a:off x="785091" y="982271"/>
            <a:ext cx="3620653"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Detecting Relationships:</a:t>
            </a:r>
            <a:endParaRPr/>
          </a:p>
        </p:txBody>
      </p:sp>
      <p:sp>
        <p:nvSpPr>
          <p:cNvPr id="347" name="Google Shape;347;p27"/>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7"/>
          <p:cNvSpPr txBox="1"/>
          <p:nvPr>
            <p:ph idx="1" type="body"/>
          </p:nvPr>
        </p:nvSpPr>
        <p:spPr>
          <a:xfrm>
            <a:off x="5077483" y="1588981"/>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Correlational Design</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Experimental Design</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8"/>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28"/>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CORRELATIONAL DESIGN</a:t>
            </a:r>
            <a:endParaRPr b="1" sz="4800">
              <a:solidFill>
                <a:srgbClr val="C00000"/>
              </a:solidFill>
            </a:endParaRPr>
          </a:p>
        </p:txBody>
      </p:sp>
      <p:cxnSp>
        <p:nvCxnSpPr>
          <p:cNvPr id="355" name="Google Shape;355;p28"/>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56" name="Google Shape;356;p28"/>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type of research design that indicates the strength of associations among variables; though correlated variables are systematically related, these relationships are not necessarily causal</a:t>
            </a:r>
            <a:endParaRPr sz="3200"/>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9"/>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29"/>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EXPERIMENTAL DESIGN</a:t>
            </a:r>
            <a:endParaRPr b="1" sz="4800">
              <a:solidFill>
                <a:srgbClr val="C00000"/>
              </a:solidFill>
            </a:endParaRPr>
          </a:p>
        </p:txBody>
      </p:sp>
      <p:cxnSp>
        <p:nvCxnSpPr>
          <p:cNvPr id="363" name="Google Shape;363;p29"/>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64" name="Google Shape;364;p29"/>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research design in which the investigator introduces some change in the participant’s environment and then measures the effect of that change on the participant’s behaviour</a:t>
            </a:r>
            <a:endParaRPr sz="3200"/>
          </a:p>
          <a:p>
            <a:pPr indent="-228600" lvl="0" marL="228600" rtl="0" algn="just">
              <a:lnSpc>
                <a:spcPct val="90000"/>
              </a:lnSpc>
              <a:spcBef>
                <a:spcPts val="1000"/>
              </a:spcBef>
              <a:spcAft>
                <a:spcPts val="0"/>
              </a:spcAft>
              <a:buClr>
                <a:schemeClr val="dk1"/>
              </a:buClr>
              <a:buSzPts val="3200"/>
              <a:buChar char="•"/>
            </a:pPr>
            <a:r>
              <a:rPr lang="en-US" sz="3200"/>
              <a:t>is concerned with how and why something happens. The goal is to test the effect that an independent variable, which the scientist manipulates, has on a dependent variable, which the scientist observes. In other words, experimental research leads to conclusions regarding causation.</a:t>
            </a:r>
            <a:endParaRPr sz="3200"/>
          </a:p>
        </p:txBody>
      </p:sp>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30"/>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30"/>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30"/>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p30"/>
          <p:cNvSpPr txBox="1"/>
          <p:nvPr>
            <p:ph type="title"/>
          </p:nvPr>
        </p:nvSpPr>
        <p:spPr>
          <a:xfrm>
            <a:off x="785091" y="982271"/>
            <a:ext cx="3620653"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Research Designs for studying development</a:t>
            </a:r>
            <a:endParaRPr b="1">
              <a:solidFill>
                <a:schemeClr val="lt1"/>
              </a:solidFill>
            </a:endParaRPr>
          </a:p>
        </p:txBody>
      </p:sp>
      <p:sp>
        <p:nvSpPr>
          <p:cNvPr id="374" name="Google Shape;374;p30"/>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30"/>
          <p:cNvSpPr txBox="1"/>
          <p:nvPr>
            <p:ph idx="1" type="body"/>
          </p:nvPr>
        </p:nvSpPr>
        <p:spPr>
          <a:xfrm>
            <a:off x="5077483" y="1588981"/>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Correlational Design</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Experimental Design</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1"/>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31"/>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Cross Sectional Design</a:t>
            </a:r>
            <a:endParaRPr b="1" sz="4800">
              <a:solidFill>
                <a:srgbClr val="C00000"/>
              </a:solidFill>
            </a:endParaRPr>
          </a:p>
        </p:txBody>
      </p:sp>
      <p:cxnSp>
        <p:nvCxnSpPr>
          <p:cNvPr id="382" name="Google Shape;382;p31"/>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83" name="Google Shape;383;p31"/>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research design in which one group of subjects is studied repeatedly over a period of months or years</a:t>
            </a:r>
            <a:endParaRPr sz="3200"/>
          </a:p>
        </p:txBody>
      </p:sp>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2"/>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32"/>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Longitudinal Design</a:t>
            </a:r>
            <a:endParaRPr b="1" sz="4800">
              <a:solidFill>
                <a:srgbClr val="C00000"/>
              </a:solidFill>
            </a:endParaRPr>
          </a:p>
        </p:txBody>
      </p:sp>
      <p:cxnSp>
        <p:nvCxnSpPr>
          <p:cNvPr id="390" name="Google Shape;390;p32"/>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91" name="Google Shape;391;p32"/>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type of research design that indicates the strength of associations among variables; though correlated variables are systematically related, these relationships are not necessarily causal</a:t>
            </a:r>
            <a:endParaRPr sz="3200"/>
          </a:p>
        </p:txBody>
      </p:sp>
    </p:spTree>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3"/>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 name="Google Shape;397;p33"/>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Sequential Design</a:t>
            </a:r>
            <a:endParaRPr b="1" sz="4800">
              <a:solidFill>
                <a:srgbClr val="C00000"/>
              </a:solidFill>
            </a:endParaRPr>
          </a:p>
        </p:txBody>
      </p:sp>
      <p:cxnSp>
        <p:nvCxnSpPr>
          <p:cNvPr id="398" name="Google Shape;398;p33"/>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399" name="Google Shape;399;p33"/>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research design in which subjects from different age groups are studied repeatedly over a period of months or years</a:t>
            </a:r>
            <a:endParaRPr sz="3200"/>
          </a:p>
        </p:txBody>
      </p:sp>
    </p:spTree>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4"/>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 name="Google Shape;405;p34"/>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Microgenetic Studies</a:t>
            </a:r>
            <a:endParaRPr b="1" sz="4800">
              <a:solidFill>
                <a:srgbClr val="C00000"/>
              </a:solidFill>
            </a:endParaRPr>
          </a:p>
        </p:txBody>
      </p:sp>
      <p:cxnSp>
        <p:nvCxnSpPr>
          <p:cNvPr id="406" name="Google Shape;406;p34"/>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407" name="Google Shape;407;p34"/>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research design in which participants are studied intensively over a short period of time as developmental changes occur; attempts to specify how or why those changes occur</a:t>
            </a:r>
            <a:endParaRPr sz="3200"/>
          </a:p>
        </p:txBody>
      </p:sp>
    </p:spTree>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5"/>
          <p:cNvSpPr/>
          <p:nvPr/>
        </p:nvSpPr>
        <p:spPr>
          <a:xfrm>
            <a:off x="321564" y="320040"/>
            <a:ext cx="11548872" cy="621792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p35"/>
          <p:cNvSpPr txBox="1"/>
          <p:nvPr>
            <p:ph type="title"/>
          </p:nvPr>
        </p:nvSpPr>
        <p:spPr>
          <a:xfrm>
            <a:off x="321564" y="963877"/>
            <a:ext cx="4332732" cy="49302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800"/>
              <a:buFont typeface="Calibri"/>
              <a:buNone/>
            </a:pPr>
            <a:r>
              <a:rPr b="1" lang="en-US" sz="4800">
                <a:solidFill>
                  <a:srgbClr val="C00000"/>
                </a:solidFill>
              </a:rPr>
              <a:t>Cross-cultural Studies</a:t>
            </a:r>
            <a:endParaRPr b="1" sz="4800">
              <a:solidFill>
                <a:srgbClr val="C00000"/>
              </a:solidFill>
            </a:endParaRPr>
          </a:p>
        </p:txBody>
      </p:sp>
      <p:cxnSp>
        <p:nvCxnSpPr>
          <p:cNvPr id="414" name="Google Shape;414;p35"/>
          <p:cNvCxnSpPr/>
          <p:nvPr/>
        </p:nvCxnSpPr>
        <p:spPr>
          <a:xfrm>
            <a:off x="4654296" y="2057400"/>
            <a:ext cx="0" cy="2743200"/>
          </a:xfrm>
          <a:prstGeom prst="straightConnector1">
            <a:avLst/>
          </a:prstGeom>
          <a:noFill/>
          <a:ln cap="flat" cmpd="sng" w="19050">
            <a:solidFill>
              <a:srgbClr val="262626"/>
            </a:solidFill>
            <a:prstDash val="solid"/>
            <a:miter lim="800000"/>
            <a:headEnd len="sm" w="sm" type="none"/>
            <a:tailEnd len="sm" w="sm" type="none"/>
          </a:ln>
        </p:spPr>
      </p:cxnSp>
      <p:sp>
        <p:nvSpPr>
          <p:cNvPr id="415" name="Google Shape;415;p35"/>
          <p:cNvSpPr txBox="1"/>
          <p:nvPr>
            <p:ph idx="1" type="body"/>
          </p:nvPr>
        </p:nvSpPr>
        <p:spPr>
          <a:xfrm>
            <a:off x="4654297" y="721048"/>
            <a:ext cx="6970144" cy="5543118"/>
          </a:xfrm>
          <a:prstGeom prst="rect">
            <a:avLst/>
          </a:prstGeom>
          <a:noFill/>
          <a:ln>
            <a:noFill/>
          </a:ln>
        </p:spPr>
        <p:txBody>
          <a:bodyPr anchorCtr="0" anchor="ctr"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3200"/>
              <a:buChar char="•"/>
            </a:pPr>
            <a:r>
              <a:rPr lang="en-US" sz="3200"/>
              <a:t>a study that compares the behaviour and/or development of people from different cultural or subcultural backgrounds.</a:t>
            </a:r>
            <a:endParaRPr sz="3200"/>
          </a:p>
        </p:txBody>
      </p:sp>
    </p:spTree>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36"/>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36"/>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36"/>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36"/>
          <p:cNvSpPr txBox="1"/>
          <p:nvPr>
            <p:ph type="title"/>
          </p:nvPr>
        </p:nvSpPr>
        <p:spPr>
          <a:xfrm>
            <a:off x="785091" y="982271"/>
            <a:ext cx="3620653"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ETHICALITY OF RESEARCH PROJECT</a:t>
            </a:r>
            <a:endParaRPr sz="4000">
              <a:solidFill>
                <a:srgbClr val="FFFFFF"/>
              </a:solidFill>
            </a:endParaRPr>
          </a:p>
        </p:txBody>
      </p:sp>
      <p:sp>
        <p:nvSpPr>
          <p:cNvPr id="425" name="Google Shape;425;p36"/>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36"/>
          <p:cNvSpPr txBox="1"/>
          <p:nvPr>
            <p:ph idx="1" type="body"/>
          </p:nvPr>
        </p:nvSpPr>
        <p:spPr>
          <a:xfrm>
            <a:off x="5077483" y="1588981"/>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AUTONOMY</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NON-MALEFICENCE</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BENEFICENCE</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37"/>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37"/>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37"/>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37"/>
          <p:cNvSpPr txBox="1"/>
          <p:nvPr>
            <p:ph type="title"/>
          </p:nvPr>
        </p:nvSpPr>
        <p:spPr>
          <a:xfrm>
            <a:off x="785091" y="982271"/>
            <a:ext cx="3842000"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OTHER ETHICAL CONSIDERATIONS</a:t>
            </a:r>
            <a:endParaRPr sz="4000">
              <a:solidFill>
                <a:srgbClr val="FFFFFF"/>
              </a:solidFill>
            </a:endParaRPr>
          </a:p>
        </p:txBody>
      </p:sp>
      <p:sp>
        <p:nvSpPr>
          <p:cNvPr id="436" name="Google Shape;436;p37"/>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37"/>
          <p:cNvSpPr txBox="1"/>
          <p:nvPr>
            <p:ph idx="1" type="body"/>
          </p:nvPr>
        </p:nvSpPr>
        <p:spPr>
          <a:xfrm>
            <a:off x="5125511" y="1819950"/>
            <a:ext cx="6208138"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INFORMED CONSENT</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PROTECTION FROM HARM</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MINIMAL RISK</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PRIVACY</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CONFIDENTIALITY</a:t>
            </a:r>
            <a:endParaRPr/>
          </a:p>
          <a:p>
            <a:pPr indent="-228600" lvl="0" marL="228600" rtl="0" algn="l">
              <a:lnSpc>
                <a:spcPct val="90000"/>
              </a:lnSpc>
              <a:spcBef>
                <a:spcPts val="1000"/>
              </a:spcBef>
              <a:spcAft>
                <a:spcPts val="0"/>
              </a:spcAft>
              <a:buClr>
                <a:srgbClr val="FEFFFF"/>
              </a:buClr>
              <a:buSzPts val="3600"/>
              <a:buChar char="•"/>
            </a:pPr>
            <a:r>
              <a:rPr b="1" lang="en-US" sz="3600">
                <a:solidFill>
                  <a:srgbClr val="FEFFFF"/>
                </a:solidFill>
                <a:latin typeface="Arial Rounded"/>
                <a:ea typeface="Arial Rounded"/>
                <a:cs typeface="Arial Rounded"/>
                <a:sym typeface="Arial Rounded"/>
              </a:rPr>
              <a:t>DEBRIEFING</a:t>
            </a:r>
            <a:endParaRPr/>
          </a:p>
          <a:p>
            <a:pPr indent="0" lvl="0" marL="228600" rtl="0" algn="l">
              <a:lnSpc>
                <a:spcPct val="90000"/>
              </a:lnSpc>
              <a:spcBef>
                <a:spcPts val="1000"/>
              </a:spcBef>
              <a:spcAft>
                <a:spcPts val="0"/>
              </a:spcAft>
              <a:buClr>
                <a:schemeClr val="dk1"/>
              </a:buClr>
              <a:buSzPts val="3600"/>
              <a:buNone/>
            </a:pPr>
            <a:r>
              <a:t/>
            </a:r>
            <a:endParaRPr b="1" sz="36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8"/>
          <p:cNvSpPr/>
          <p:nvPr/>
        </p:nvSpPr>
        <p:spPr>
          <a:xfrm>
            <a:off x="-1" y="0"/>
            <a:ext cx="12191695" cy="6858000"/>
          </a:xfrm>
          <a:prstGeom prst="rect">
            <a:avLst/>
          </a:prstGeom>
          <a:gradFill>
            <a:gsLst>
              <a:gs pos="0">
                <a:srgbClr val="FFFAF2"/>
              </a:gs>
              <a:gs pos="74000">
                <a:srgbClr val="F8D49F"/>
              </a:gs>
              <a:gs pos="83000">
                <a:srgbClr val="F8D49F"/>
              </a:gs>
              <a:gs pos="100000">
                <a:srgbClr val="FBE3BF"/>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38"/>
          <p:cNvSpPr/>
          <p:nvPr/>
        </p:nvSpPr>
        <p:spPr>
          <a:xfrm>
            <a:off x="0" y="891540"/>
            <a:ext cx="722376" cy="5071110"/>
          </a:xfrm>
          <a:prstGeom prst="rect">
            <a:avLst/>
          </a:prstGeom>
          <a:solidFill>
            <a:srgbClr val="4C52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38"/>
          <p:cNvSpPr/>
          <p:nvPr/>
        </p:nvSpPr>
        <p:spPr>
          <a:xfrm>
            <a:off x="1202435" y="891540"/>
            <a:ext cx="10989565" cy="5071110"/>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38"/>
          <p:cNvSpPr txBox="1"/>
          <p:nvPr>
            <p:ph type="ctrTitle"/>
          </p:nvPr>
        </p:nvSpPr>
        <p:spPr>
          <a:xfrm>
            <a:off x="1366160" y="1660121"/>
            <a:ext cx="9623404" cy="330549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Arial Black"/>
              <a:buNone/>
            </a:pPr>
            <a:r>
              <a:rPr lang="en-US" sz="5500">
                <a:latin typeface="Arial Black"/>
                <a:ea typeface="Arial Black"/>
                <a:cs typeface="Arial Black"/>
                <a:sym typeface="Arial Black"/>
              </a:rPr>
              <a:t>III. THEORIES OF HUMAN DEVELOPMENT</a:t>
            </a:r>
            <a:endParaRPr sz="5500">
              <a:latin typeface="Arial Black"/>
              <a:ea typeface="Arial Black"/>
              <a:cs typeface="Arial Black"/>
              <a:sym typeface="Arial Black"/>
            </a:endParaRPr>
          </a:p>
        </p:txBody>
      </p:sp>
    </p:spTree>
  </p:cSld>
  <p:clrMapOvr>
    <a:masterClrMapping/>
  </p:clrMapOvr>
  <p:transition spd="slow">
    <p:randomBar dir="ver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39"/>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C87D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39"/>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8553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39"/>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85530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 name="Google Shape;454;p39"/>
          <p:cNvSpPr txBox="1"/>
          <p:nvPr>
            <p:ph type="title"/>
          </p:nvPr>
        </p:nvSpPr>
        <p:spPr>
          <a:xfrm>
            <a:off x="785091" y="982271"/>
            <a:ext cx="3842000" cy="45780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Overview of developmental theories</a:t>
            </a:r>
            <a:endParaRPr sz="4000">
              <a:solidFill>
                <a:srgbClr val="FFFFFF"/>
              </a:solidFill>
            </a:endParaRPr>
          </a:p>
        </p:txBody>
      </p:sp>
      <p:sp>
        <p:nvSpPr>
          <p:cNvPr id="455" name="Google Shape;455;p39"/>
          <p:cNvSpPr/>
          <p:nvPr/>
        </p:nvSpPr>
        <p:spPr>
          <a:xfrm>
            <a:off x="4901782" y="1352302"/>
            <a:ext cx="6655500" cy="52515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39"/>
          <p:cNvSpPr txBox="1"/>
          <p:nvPr>
            <p:ph idx="1" type="body"/>
          </p:nvPr>
        </p:nvSpPr>
        <p:spPr>
          <a:xfrm>
            <a:off x="5125511" y="2382253"/>
            <a:ext cx="6208138" cy="4475747"/>
          </a:xfrm>
          <a:prstGeom prst="rect">
            <a:avLst/>
          </a:prstGeom>
          <a:noFill/>
          <a:ln>
            <a:noFill/>
          </a:ln>
        </p:spPr>
        <p:txBody>
          <a:bodyPr anchorCtr="0" anchor="ctr"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Psychosexual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Psychosocial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Learning Theories</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Cognitive-Developmental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Sociocultural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Information Processing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Ethology &amp; Evolutionary Theory</a:t>
            </a:r>
            <a:endParaRPr/>
          </a:p>
          <a:p>
            <a:pPr indent="-228600" lvl="0" marL="228600" rtl="0" algn="l">
              <a:lnSpc>
                <a:spcPct val="90000"/>
              </a:lnSpc>
              <a:spcBef>
                <a:spcPts val="1000"/>
              </a:spcBef>
              <a:spcAft>
                <a:spcPts val="0"/>
              </a:spcAft>
              <a:buClr>
                <a:srgbClr val="FEFFFF"/>
              </a:buClr>
              <a:buSzPct val="100000"/>
              <a:buChar char="•"/>
            </a:pPr>
            <a:r>
              <a:rPr b="1" lang="en-US" sz="3200">
                <a:solidFill>
                  <a:srgbClr val="FEFFFF"/>
                </a:solidFill>
                <a:latin typeface="Arial Rounded"/>
                <a:ea typeface="Arial Rounded"/>
                <a:cs typeface="Arial Rounded"/>
                <a:sym typeface="Arial Rounded"/>
              </a:rPr>
              <a:t>Ecological Systems Theory</a:t>
            </a:r>
            <a:endParaRPr/>
          </a:p>
          <a:p>
            <a:pPr indent="-40639" lvl="0" marL="228600" rtl="0" algn="l">
              <a:lnSpc>
                <a:spcPct val="90000"/>
              </a:lnSpc>
              <a:spcBef>
                <a:spcPts val="1000"/>
              </a:spcBef>
              <a:spcAft>
                <a:spcPts val="0"/>
              </a:spcAft>
              <a:buClr>
                <a:schemeClr val="dk1"/>
              </a:buClr>
              <a:buSzPct val="100000"/>
              <a:buNone/>
            </a:pPr>
            <a:r>
              <a:t/>
            </a:r>
            <a:endParaRPr b="1" sz="3200">
              <a:solidFill>
                <a:srgbClr val="FEFFFF"/>
              </a:solidFill>
              <a:latin typeface="Arial Rounded"/>
              <a:ea typeface="Arial Rounded"/>
              <a:cs typeface="Arial Rounded"/>
              <a:sym typeface="Arial Rounded"/>
            </a:endParaRPr>
          </a:p>
          <a:p>
            <a:pPr indent="-40639" lvl="0" marL="228600" rtl="0" algn="l">
              <a:lnSpc>
                <a:spcPct val="90000"/>
              </a:lnSpc>
              <a:spcBef>
                <a:spcPts val="1000"/>
              </a:spcBef>
              <a:spcAft>
                <a:spcPts val="0"/>
              </a:spcAft>
              <a:buClr>
                <a:schemeClr val="dk1"/>
              </a:buClr>
              <a:buSzPct val="100000"/>
              <a:buNone/>
            </a:pPr>
            <a:r>
              <a:t/>
            </a:r>
            <a:endParaRPr b="1" sz="3200">
              <a:solidFill>
                <a:srgbClr val="FEFFFF"/>
              </a:solidFill>
              <a:latin typeface="Arial Rounded"/>
              <a:ea typeface="Arial Rounded"/>
              <a:cs typeface="Arial Rounded"/>
              <a:sym typeface="Arial Rounded"/>
            </a:endParaRPr>
          </a:p>
          <a:p>
            <a:pPr indent="-40639" lvl="0" marL="228600" rtl="0" algn="l">
              <a:lnSpc>
                <a:spcPct val="90000"/>
              </a:lnSpc>
              <a:spcBef>
                <a:spcPts val="1000"/>
              </a:spcBef>
              <a:spcAft>
                <a:spcPts val="0"/>
              </a:spcAft>
              <a:buClr>
                <a:schemeClr val="dk1"/>
              </a:buClr>
              <a:buSzPct val="100000"/>
              <a:buNone/>
            </a:pPr>
            <a:r>
              <a:t/>
            </a:r>
            <a:endParaRPr b="1" sz="3200">
              <a:solidFill>
                <a:srgbClr val="FEFFFF"/>
              </a:solidFill>
              <a:latin typeface="Arial Rounded"/>
              <a:ea typeface="Arial Rounded"/>
              <a:cs typeface="Arial Rounded"/>
              <a:sym typeface="Arial Rounded"/>
            </a:endParaRPr>
          </a:p>
          <a:p>
            <a:pPr indent="-40639" lvl="0" marL="228600" rtl="0" algn="l">
              <a:lnSpc>
                <a:spcPct val="90000"/>
              </a:lnSpc>
              <a:spcBef>
                <a:spcPts val="1000"/>
              </a:spcBef>
              <a:spcAft>
                <a:spcPts val="0"/>
              </a:spcAft>
              <a:buClr>
                <a:schemeClr val="dk1"/>
              </a:buClr>
              <a:buSzPct val="100000"/>
              <a:buNone/>
            </a:pPr>
            <a:r>
              <a:t/>
            </a:r>
            <a:endParaRPr b="1" sz="3200">
              <a:solidFill>
                <a:srgbClr val="FE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0"/>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62" name="Google Shape;462;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63" name="Google Shape;463;p40"/>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Psychosexual Theory</a:t>
            </a:r>
            <a:endParaRPr b="1">
              <a:solidFill>
                <a:schemeClr val="lt1"/>
              </a:solidFill>
            </a:endParaRPr>
          </a:p>
        </p:txBody>
      </p:sp>
      <p:sp>
        <p:nvSpPr>
          <p:cNvPr id="464" name="Google Shape;464;p40"/>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Freud’s theory states maturation of the sex instinct underlies stages of personality development, and that the manner in which parents manage children’s instinctual impulses determines the traits that children display</a:t>
            </a:r>
            <a:endParaRPr sz="2400"/>
          </a:p>
        </p:txBody>
      </p:sp>
    </p:spTree>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1"/>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70" name="Google Shape;470;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1" name="Google Shape;471;p41"/>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Psychosocial Theory</a:t>
            </a:r>
            <a:endParaRPr b="1">
              <a:solidFill>
                <a:schemeClr val="lt1"/>
              </a:solidFill>
            </a:endParaRPr>
          </a:p>
        </p:txBody>
      </p:sp>
      <p:sp>
        <p:nvSpPr>
          <p:cNvPr id="472" name="Google Shape;472;p41"/>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Erikson’s revision of Freud’s theory, which emphasizes sociocultural (rather than sexual) determinants of development and posits a series of eight psychosocial conflicts that people must resolve successfully to display healthy psychological adjustments</a:t>
            </a:r>
            <a:endParaRPr sz="2400"/>
          </a:p>
        </p:txBody>
      </p:sp>
    </p:spTree>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2"/>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78" name="Google Shape;478;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9" name="Google Shape;479;p42"/>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Learning Theories</a:t>
            </a:r>
            <a:endParaRPr b="1">
              <a:solidFill>
                <a:schemeClr val="lt1"/>
              </a:solidFill>
            </a:endParaRPr>
          </a:p>
        </p:txBody>
      </p:sp>
      <p:sp>
        <p:nvSpPr>
          <p:cNvPr id="480" name="Google Shape;480;p42"/>
          <p:cNvSpPr txBox="1"/>
          <p:nvPr>
            <p:ph idx="1" type="body"/>
          </p:nvPr>
        </p:nvSpPr>
        <p:spPr>
          <a:xfrm>
            <a:off x="5474369" y="801865"/>
            <a:ext cx="5922290"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Watson believed that well-learned associations between external stimuli and observable responses (called habits) are the building blocks of human development. </a:t>
            </a:r>
            <a:endParaRPr sz="2400"/>
          </a:p>
          <a:p>
            <a:pPr indent="-228600" lvl="0" marL="228600" rtl="0" algn="just">
              <a:lnSpc>
                <a:spcPct val="90000"/>
              </a:lnSpc>
              <a:spcBef>
                <a:spcPts val="1000"/>
              </a:spcBef>
              <a:spcAft>
                <a:spcPts val="0"/>
              </a:spcAft>
              <a:buClr>
                <a:schemeClr val="dk1"/>
              </a:buClr>
              <a:buSzPts val="2400"/>
              <a:buChar char="•"/>
            </a:pPr>
            <a:r>
              <a:rPr lang="en-US" sz="2400"/>
              <a:t>Skinner argued that both animals and humans repeat acts that lead to favourable outcomes and suppress those that lead to unfavourable outcomes</a:t>
            </a:r>
            <a:endParaRPr/>
          </a:p>
          <a:p>
            <a:pPr indent="-228600" lvl="0" marL="228600" rtl="0" algn="just">
              <a:lnSpc>
                <a:spcPct val="90000"/>
              </a:lnSpc>
              <a:spcBef>
                <a:spcPts val="1000"/>
              </a:spcBef>
              <a:spcAft>
                <a:spcPts val="0"/>
              </a:spcAft>
              <a:buClr>
                <a:schemeClr val="dk1"/>
              </a:buClr>
              <a:buSzPts val="2400"/>
              <a:buChar char="•"/>
            </a:pPr>
            <a:r>
              <a:rPr lang="en-US" sz="2400"/>
              <a:t>Observational learning is simply learning that results from observing the behaviour of other people (called models)</a:t>
            </a:r>
            <a:endParaRPr/>
          </a:p>
          <a:p>
            <a:pPr indent="0" lvl="0" marL="0" rtl="0" algn="just">
              <a:lnSpc>
                <a:spcPct val="90000"/>
              </a:lnSpc>
              <a:spcBef>
                <a:spcPts val="1000"/>
              </a:spcBef>
              <a:spcAft>
                <a:spcPts val="0"/>
              </a:spcAft>
              <a:buClr>
                <a:schemeClr val="dk1"/>
              </a:buClr>
              <a:buSzPts val="2400"/>
              <a:buNone/>
            </a:pPr>
            <a:r>
              <a:t/>
            </a:r>
            <a:endParaRPr sz="2400"/>
          </a:p>
        </p:txBody>
      </p:sp>
    </p:spTree>
  </p:cSld>
  <p:clrMapOvr>
    <a:masterClrMapping/>
  </p:clrMapOvr>
  <p:transition spd="slow">
    <p:randomBar dir="vert"/>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3"/>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86" name="Google Shape;486;p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87" name="Google Shape;487;p43"/>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Cognitive Developmental Theory</a:t>
            </a:r>
            <a:endParaRPr b="1">
              <a:solidFill>
                <a:schemeClr val="lt1"/>
              </a:solidFill>
            </a:endParaRPr>
          </a:p>
        </p:txBody>
      </p:sp>
      <p:sp>
        <p:nvSpPr>
          <p:cNvPr id="488" name="Google Shape;488;p43"/>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sz="2400"/>
              <a:t>Piaget believed that children actively construct new understandings of the world based on their own experiences. Children watch what goes on around them; they experiment with objects they encounter; they make connections or associations between events; and they are puzzled when their current understandings (or schemes) fail to explain what they have experienced. </a:t>
            </a:r>
            <a:endParaRPr/>
          </a:p>
          <a:p>
            <a:pPr indent="-228600" lvl="0" marL="228600" rtl="0" algn="just">
              <a:lnSpc>
                <a:spcPct val="90000"/>
              </a:lnSpc>
              <a:spcBef>
                <a:spcPts val="1000"/>
              </a:spcBef>
              <a:spcAft>
                <a:spcPts val="0"/>
              </a:spcAft>
              <a:buClr>
                <a:schemeClr val="dk1"/>
              </a:buClr>
              <a:buSzPct val="100000"/>
              <a:buChar char="•"/>
            </a:pPr>
            <a:r>
              <a:rPr lang="en-US" sz="2400"/>
              <a:t>People continually rely on the complementary processes of assimilation and accommodation to adapt to our environments. Initially, we attempt to understand new experiences or solve problems using our current cognitive schemes (assimilation). But we often find that our existing schemes are inadequate for these tasks, which then prompts us to revise them (through accommodation) so that they provide a better “fit” with reality</a:t>
            </a:r>
            <a:endParaRPr sz="2400"/>
          </a:p>
        </p:txBody>
      </p:sp>
    </p:spTree>
  </p:cSld>
  <p:clrMapOvr>
    <a:masterClrMapping/>
  </p:clrMapOvr>
  <p:transition spd="slow">
    <p:randomBar dir="vert"/>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4"/>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4" name="Google Shape;494;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5" name="Google Shape;495;p44"/>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Sociocultural Theory</a:t>
            </a:r>
            <a:endParaRPr b="1">
              <a:solidFill>
                <a:schemeClr val="lt1"/>
              </a:solidFill>
            </a:endParaRPr>
          </a:p>
        </p:txBody>
      </p:sp>
      <p:sp>
        <p:nvSpPr>
          <p:cNvPr id="496" name="Google Shape;496;p44"/>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Vygotsky’s perspective on development, in which children acquire their culture’s values, beliefs, and problem-solving strategies through collaborative dialogues with more knowledgeable members of society</a:t>
            </a:r>
            <a:endParaRPr sz="2400"/>
          </a:p>
        </p:txBody>
      </p:sp>
    </p:spTree>
  </p:cSld>
  <p:clrMapOvr>
    <a:masterClrMapping/>
  </p:clrMapOvr>
  <p:transition spd="slow">
    <p:randomBar dir="vert"/>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02" name="Google Shape;502;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03" name="Google Shape;503;p45"/>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Information Processing Theory</a:t>
            </a:r>
            <a:endParaRPr b="1">
              <a:solidFill>
                <a:schemeClr val="lt1"/>
              </a:solidFill>
            </a:endParaRPr>
          </a:p>
        </p:txBody>
      </p:sp>
      <p:sp>
        <p:nvSpPr>
          <p:cNvPr id="504" name="Google Shape;504;p45"/>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a perspective that views the human mind as a continuously developing symbol-manipulating system, similar to a computer, into which information flows, is operated on, and is converted into output (answers, inferences, or solutions to problems).</a:t>
            </a:r>
            <a:endParaRPr sz="2400"/>
          </a:p>
        </p:txBody>
      </p:sp>
    </p:spTree>
  </p:cSld>
  <p:clrMapOvr>
    <a:masterClrMapping/>
  </p:clrMapOvr>
  <p:transition spd="slow">
    <p:randomBar dir="vert"/>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6"/>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10" name="Google Shape;510;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11" name="Google Shape;511;p46"/>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Ethology and Evolutionary Theory</a:t>
            </a:r>
            <a:endParaRPr b="1">
              <a:solidFill>
                <a:schemeClr val="lt1"/>
              </a:solidFill>
            </a:endParaRPr>
          </a:p>
        </p:txBody>
      </p:sp>
      <p:sp>
        <p:nvSpPr>
          <p:cNvPr id="512" name="Google Shape;512;p46"/>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the study of the bioevolutionary basis of behaviour and development, with a focus on survival of the genes</a:t>
            </a:r>
            <a:endParaRPr sz="2400"/>
          </a:p>
        </p:txBody>
      </p:sp>
    </p:spTree>
  </p:cSld>
  <p:clrMapOvr>
    <a:masterClrMapping/>
  </p:clrMapOvr>
  <p:transition spd="slow">
    <p:randomBar dir="vert"/>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7"/>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18" name="Google Shape;518;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19" name="Google Shape;519;p47"/>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Ecological Systems Theory</a:t>
            </a:r>
            <a:endParaRPr b="1">
              <a:solidFill>
                <a:schemeClr val="lt1"/>
              </a:solidFill>
            </a:endParaRPr>
          </a:p>
        </p:txBody>
      </p:sp>
      <p:sp>
        <p:nvSpPr>
          <p:cNvPr id="520" name="Google Shape;520;p47"/>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Bronfenbrenner’s model emphasizing that the developing person is embedded in a series of environmental systems that interact with one another and with the person to influence development</a:t>
            </a:r>
            <a:endParaRPr sz="2400"/>
          </a:p>
        </p:txBody>
      </p:sp>
    </p:spTree>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8"/>
          <p:cNvSpPr/>
          <p:nvPr/>
        </p:nvSpPr>
        <p:spPr>
          <a:xfrm>
            <a:off x="1" y="0"/>
            <a:ext cx="6090572" cy="6858000"/>
          </a:xfrm>
          <a:prstGeom prst="rect">
            <a:avLst/>
          </a:prstGeom>
          <a:gradFill>
            <a:gsLst>
              <a:gs pos="0">
                <a:srgbClr val="AD6924"/>
              </a:gs>
              <a:gs pos="25000">
                <a:srgbClr val="AD6924"/>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26" name="Google Shape;526;p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27" name="Google Shape;527;p48"/>
          <p:cNvSpPr txBox="1"/>
          <p:nvPr>
            <p:ph type="title"/>
          </p:nvPr>
        </p:nvSpPr>
        <p:spPr>
          <a:xfrm>
            <a:off x="640079" y="2053641"/>
            <a:ext cx="4112395"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Psychosexual Theory</a:t>
            </a:r>
            <a:endParaRPr b="1">
              <a:solidFill>
                <a:schemeClr val="lt1"/>
              </a:solidFill>
            </a:endParaRPr>
          </a:p>
        </p:txBody>
      </p:sp>
      <p:sp>
        <p:nvSpPr>
          <p:cNvPr id="528" name="Google Shape;528;p48"/>
          <p:cNvSpPr txBox="1"/>
          <p:nvPr>
            <p:ph idx="1" type="body"/>
          </p:nvPr>
        </p:nvSpPr>
        <p:spPr>
          <a:xfrm>
            <a:off x="5859379" y="801865"/>
            <a:ext cx="5537279" cy="579143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Freud’s theory states maturation of the sex instinct underlies stages of personality development, and that the manner in which parents manage children’s instinctual impulses determines the traits that children display</a:t>
            </a:r>
            <a:endParaRPr sz="2400"/>
          </a:p>
        </p:txBody>
      </p:sp>
    </p:spTree>
  </p:cSld>
  <p:clrMapOvr>
    <a:masterClrMapping/>
  </p:clrMapOvr>
  <p:transition spd="slow">
    <p:randomBar dir="vert"/>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9"/>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4" name="Google Shape;534;p49"/>
          <p:cNvSpPr/>
          <p:nvPr/>
        </p:nvSpPr>
        <p:spPr>
          <a:xfrm>
            <a:off x="3048" y="1084747"/>
            <a:ext cx="12188952" cy="3294207"/>
          </a:xfrm>
          <a:prstGeom prst="rect">
            <a:avLst/>
          </a:prstGeom>
          <a:gradFill>
            <a:gsLst>
              <a:gs pos="0">
                <a:srgbClr val="EE9613"/>
              </a:gs>
              <a:gs pos="25000">
                <a:srgbClr val="EE9613"/>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35" name="Google Shape;535;p49"/>
          <p:cNvPicPr preferRelativeResize="0"/>
          <p:nvPr/>
        </p:nvPicPr>
        <p:blipFill rotWithShape="1">
          <a:blip r:embed="rId3">
            <a:alphaModFix/>
          </a:blip>
          <a:srcRect b="45501" l="8235" r="8213" t="0"/>
          <a:stretch/>
        </p:blipFill>
        <p:spPr>
          <a:xfrm flipH="1" rot="10800000">
            <a:off x="0" y="0"/>
            <a:ext cx="12191999" cy="4473360"/>
          </a:xfrm>
          <a:custGeom>
            <a:rect b="b" l="l" r="r" t="t"/>
            <a:pathLst>
              <a:path extrusionOk="0" h="4473360" w="12191999">
                <a:moveTo>
                  <a:pt x="0" y="4473360"/>
                </a:moveTo>
                <a:lnTo>
                  <a:pt x="12191999" y="4473360"/>
                </a:lnTo>
                <a:lnTo>
                  <a:pt x="12191999" y="0"/>
                </a:lnTo>
                <a:lnTo>
                  <a:pt x="0" y="0"/>
                </a:lnTo>
                <a:close/>
              </a:path>
            </a:pathLst>
          </a:custGeom>
          <a:noFill/>
          <a:ln>
            <a:noFill/>
          </a:ln>
        </p:spPr>
      </p:pic>
      <p:sp>
        <p:nvSpPr>
          <p:cNvPr id="536" name="Google Shape;536;p49"/>
          <p:cNvSpPr txBox="1"/>
          <p:nvPr>
            <p:ph type="ctrTitle"/>
          </p:nvPr>
        </p:nvSpPr>
        <p:spPr>
          <a:xfrm>
            <a:off x="753925" y="2076450"/>
            <a:ext cx="10684151" cy="13451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300"/>
              <a:buFont typeface="Arial Rounded"/>
              <a:buNone/>
            </a:pPr>
            <a:r>
              <a:rPr b="1" lang="en-US" sz="4300">
                <a:solidFill>
                  <a:srgbClr val="FFFFFF"/>
                </a:solidFill>
                <a:latin typeface="Arial Rounded"/>
                <a:ea typeface="Arial Rounded"/>
                <a:cs typeface="Arial Rounded"/>
                <a:sym typeface="Arial Rounded"/>
              </a:rPr>
              <a:t>THANK YOU!</a:t>
            </a:r>
            <a:endParaRPr b="1" sz="4300">
              <a:solidFill>
                <a:srgbClr val="FFFFFF"/>
              </a:solidFill>
              <a:latin typeface="Arial Rounded"/>
              <a:ea typeface="Arial Rounded"/>
              <a:cs typeface="Arial Rounded"/>
              <a:sym typeface="Arial Rounded"/>
            </a:endParaRPr>
          </a:p>
        </p:txBody>
      </p:sp>
    </p:spTree>
  </p:cSld>
  <p:clrMapOvr>
    <a:masterClrMapping/>
  </p:clrMapOvr>
  <p:transition spd="slow">
    <p:randomBar dir="vert"/>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50"/>
          <p:cNvSpPr/>
          <p:nvPr/>
        </p:nvSpPr>
        <p:spPr>
          <a:xfrm>
            <a:off x="3048" y="1084747"/>
            <a:ext cx="12188952" cy="3294207"/>
          </a:xfrm>
          <a:prstGeom prst="rect">
            <a:avLst/>
          </a:prstGeom>
          <a:gradFill>
            <a:gsLst>
              <a:gs pos="0">
                <a:srgbClr val="EE9613"/>
              </a:gs>
              <a:gs pos="25000">
                <a:srgbClr val="EE9613"/>
              </a:gs>
              <a:gs pos="94000">
                <a:srgbClr val="694F07"/>
              </a:gs>
              <a:gs pos="100000">
                <a:srgbClr val="694F07"/>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43" name="Google Shape;543;p50"/>
          <p:cNvPicPr preferRelativeResize="0"/>
          <p:nvPr/>
        </p:nvPicPr>
        <p:blipFill rotWithShape="1">
          <a:blip r:embed="rId3">
            <a:alphaModFix/>
          </a:blip>
          <a:srcRect b="45501" l="8235" r="8213" t="0"/>
          <a:stretch/>
        </p:blipFill>
        <p:spPr>
          <a:xfrm flipH="1" rot="10800000">
            <a:off x="0" y="0"/>
            <a:ext cx="12191999" cy="4473360"/>
          </a:xfrm>
          <a:custGeom>
            <a:rect b="b" l="l" r="r" t="t"/>
            <a:pathLst>
              <a:path extrusionOk="0" h="4473360" w="12191999">
                <a:moveTo>
                  <a:pt x="0" y="4473360"/>
                </a:moveTo>
                <a:lnTo>
                  <a:pt x="12191999" y="4473360"/>
                </a:lnTo>
                <a:lnTo>
                  <a:pt x="12191999" y="0"/>
                </a:lnTo>
                <a:lnTo>
                  <a:pt x="0" y="0"/>
                </a:lnTo>
                <a:close/>
              </a:path>
            </a:pathLst>
          </a:custGeom>
          <a:noFill/>
          <a:ln>
            <a:noFill/>
          </a:ln>
        </p:spPr>
      </p:pic>
      <p:sp>
        <p:nvSpPr>
          <p:cNvPr id="544" name="Google Shape;544;p50"/>
          <p:cNvSpPr txBox="1"/>
          <p:nvPr>
            <p:ph type="ctrTitle"/>
          </p:nvPr>
        </p:nvSpPr>
        <p:spPr>
          <a:xfrm>
            <a:off x="753925" y="2076450"/>
            <a:ext cx="10684151" cy="13451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300"/>
              <a:buFont typeface="Arial Rounded"/>
              <a:buNone/>
            </a:pPr>
            <a:r>
              <a:rPr b="1" lang="en-US" sz="4300">
                <a:solidFill>
                  <a:srgbClr val="FFFFFF"/>
                </a:solidFill>
                <a:latin typeface="Arial Rounded"/>
                <a:ea typeface="Arial Rounded"/>
                <a:cs typeface="Arial Rounded"/>
                <a:sym typeface="Arial Rounded"/>
              </a:rPr>
              <a:t>QUESTIONS??????</a:t>
            </a:r>
            <a:endParaRPr b="1" sz="4300">
              <a:solidFill>
                <a:srgbClr val="FFFFFF"/>
              </a:solidFill>
              <a:latin typeface="Arial Rounded"/>
              <a:ea typeface="Arial Rounded"/>
              <a:cs typeface="Arial Rounded"/>
              <a:sym typeface="Arial Rounded"/>
            </a:endParaRPr>
          </a:p>
        </p:txBody>
      </p:sp>
    </p:spTree>
  </p:cSld>
  <p:clrMapOvr>
    <a:masterClrMapping/>
  </p:clrMapOvr>
  <p:transition spd="slow">
    <p:randomBar dir="vert"/>
  </p:transition>
</p:sld>
</file>

<file path=ppt/theme/theme1.xml><?xml version="1.0" encoding="utf-8"?>
<a:theme xmlns:a="http://schemas.openxmlformats.org/drawingml/2006/main" xmlns:r="http://schemas.openxmlformats.org/officeDocument/2006/relationships" name="Office Theme">
  <a:themeElements>
    <a:clrScheme name="Custom 6">
      <a:dk1>
        <a:srgbClr val="000000"/>
      </a:dk1>
      <a:lt1>
        <a:srgbClr val="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6">
      <a:dk1>
        <a:srgbClr val="000000"/>
      </a:dk1>
      <a:lt1>
        <a:srgbClr val="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2020-03-03T07:21:00Z</dcterms:created>
  <dc:creator>Daizelene C. Jabrica</dc:creator>
</cp:coreProperties>
</file>